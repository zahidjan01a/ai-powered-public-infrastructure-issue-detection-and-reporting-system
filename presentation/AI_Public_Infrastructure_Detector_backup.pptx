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4" d="100"/>
          <a:sy n="74" d="100"/>
        </p:scale>
        <p:origin x="822"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1"/>
  <c:style val="2"/>
  <c:chart>
    <c:title>
      <c:tx>
        <c:rich>
          <a:bodyPr/>
          <a:lstStyle/>
          <a:p>
            <a:pPr>
              <a:defRPr sz="1300" b="0" i="0" u="none" strike="noStrike">
                <a:solidFill>
                  <a:srgbClr val="1F2733"/>
                </a:solidFill>
                <a:latin typeface="Cambria"/>
              </a:defRPr>
            </a:pPr>
            <a:r>
              <a:rPr lang="en-US" sz="1300" b="0" i="0" u="none" strike="noStrike">
                <a:solidFill>
                  <a:srgbClr val="1F2733"/>
                </a:solidFill>
                <a:latin typeface="Cambria"/>
              </a:rPr>
              <a:t>Final Class Distribution</a:t>
            </a:r>
          </a:p>
        </c:rich>
      </c:tx>
      <c:layout/>
      <c:overlay val="0"/>
    </c:title>
    <c:autoTitleDeleted val="0"/>
    <c:plotArea>
      <c:layout/>
      <c:barChart>
        <c:barDir val="col"/>
        <c:grouping val="clustered"/>
        <c:varyColors val="0"/>
        <c:ser>
          <c:idx val="0"/>
          <c:order val="0"/>
          <c:tx>
            <c:strRef>
              <c:f>Sheet1!$B$1</c:f>
              <c:strCache>
                <c:ptCount val="1"/>
                <c:pt idx="0">
                  <c:v>Images</c:v>
                </c:pt>
              </c:strCache>
            </c:strRef>
          </c:tx>
          <c:spPr>
            <a:solidFill>
              <a:srgbClr val="00B4A6"/>
            </a:solidFill>
            <a:effectLst/>
          </c:spPr>
          <c:invertIfNegative val="0"/>
          <c:dLbls>
            <c:numFmt formatCode="#,##0" sourceLinked="0"/>
            <c:spPr>
              <a:noFill/>
              <a:ln>
                <a:noFill/>
              </a:ln>
              <a:effectLst/>
            </c:spPr>
            <c:txPr>
              <a:bodyPr/>
              <a:lstStyle/>
              <a:p>
                <a:pPr>
                  <a:defRPr sz="900" b="0" i="0" u="none" strike="noStrike">
                    <a:solidFill>
                      <a:srgbClr val="1F2733"/>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Sheet1!$A$2:$A$5</c:f>
              <c:strCache>
                <c:ptCount val="4"/>
                <c:pt idx="0">
                  <c:v>Garbage</c:v>
                </c:pt>
                <c:pt idx="1">
                  <c:v>Normal</c:v>
                </c:pt>
                <c:pt idx="2">
                  <c:v>Pothole</c:v>
                </c:pt>
                <c:pt idx="3">
                  <c:v>Road Crack</c:v>
                </c:pt>
              </c:strCache>
            </c:strRef>
          </c:cat>
          <c:val>
            <c:numRef>
              <c:f>Sheet1!$B$2:$B$5</c:f>
              <c:numCache>
                <c:formatCode>General</c:formatCode>
                <c:ptCount val="4"/>
                <c:pt idx="0">
                  <c:v>15515</c:v>
                </c:pt>
                <c:pt idx="1">
                  <c:v>20410</c:v>
                </c:pt>
                <c:pt idx="2">
                  <c:v>991</c:v>
                </c:pt>
                <c:pt idx="3">
                  <c:v>20000</c:v>
                </c:pt>
              </c:numCache>
            </c:numRef>
          </c:val>
        </c:ser>
        <c:dLbls>
          <c:showLegendKey val="0"/>
          <c:showVal val="1"/>
          <c:showCatName val="0"/>
          <c:showSerName val="0"/>
          <c:showPercent val="0"/>
          <c:showBubbleSize val="0"/>
        </c:dLbls>
        <c:gapWidth val="35"/>
        <c:axId val="272290016"/>
        <c:axId val="272293824"/>
      </c:barChart>
      <c:catAx>
        <c:axId val="272290016"/>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472"/>
                </a:solidFill>
                <a:latin typeface="Arial"/>
              </a:defRPr>
            </a:pPr>
            <a:endParaRPr lang="en-US"/>
          </a:p>
        </c:txPr>
        <c:crossAx val="272293824"/>
        <c:crosses val="autoZero"/>
        <c:auto val="1"/>
        <c:lblAlgn val="ctr"/>
        <c:lblOffset val="100"/>
        <c:noMultiLvlLbl val="1"/>
      </c:catAx>
      <c:valAx>
        <c:axId val="272293824"/>
        <c:scaling>
          <c:orientation val="minMax"/>
        </c:scaling>
        <c:delete val="0"/>
        <c:axPos val="l"/>
        <c:majorGridlines>
          <c:spPr>
            <a:ln w="9525" cap="flat">
              <a:solidFill>
                <a:srgbClr val="DCE2E9"/>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6472"/>
                </a:solidFill>
                <a:latin typeface="Arial"/>
              </a:defRPr>
            </a:pPr>
            <a:endParaRPr lang="en-US"/>
          </a:p>
        </c:txPr>
        <c:crossAx val="272290016"/>
        <c:crosses val="autoZero"/>
        <c:crossBetween val="between"/>
      </c:valAx>
      <c:spPr>
        <a:noFill/>
        <a:ln>
          <a:noFill/>
        </a:ln>
        <a:effectLst/>
      </c:spPr>
    </c:plotArea>
    <c:plotVisOnly val="1"/>
    <c:dispBlanksAs val="span"/>
    <c:showDLblsOverMax val="1"/>
  </c:chart>
  <c:spPr>
    <a:solidFill>
      <a:srgbClr val="F4F6F9"/>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751903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infrastructure needs regular checking. Garbage buildup, potholes, and road cracks are three common problems that inspectors look for. Doing this by hand, walking or driving around a city, is slow and takes a lot of people and time. This project explores whether a simple AI image classifier can help support that inspection process — it's a support tool, not a full replacement for human inspectors.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five goals of the project: build an image classifier, bring together several public datasets into one, detect four categories, use MobileNetV2 through transfer learning instead of training from scratch, and finally wrap everything in a Streamlit app so it's actually usable.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public datasets were combined. The garbage dataset had about fifteen and a half thousand images across twelve waste sub-classes, all grouped into one 'garbage' category. The pothole dataset had around fourteen hundred images labeled normal or pothole. The road-crack dataset had forty thousand images, negative and positive, mapped to normal and road-crack. After combining and splitting, the final dataset has almost fifty-seven thousand images. You can see on the chart that pothole is much smaller than the other three classes — that imbalance matters later when we talk about limitations.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training, the three datasets had to be unified. The zip files were extracted, their folder structures inspected, and each dataset's own labels were mapped onto our four shared classes. Everything was then combined into one dataframe, verified, and split into training, validation, and test sets. The end result is four consistent classes: garbage, normal, pothole, and road crack.</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uses transfer learning with MobileNetV2, pretrained on ImageNet. Images are resized to 224 by 224 and passed through the frozen MobileNetV2 base, which acts as a feature extractor — its weights are not updated during training. On top of that we added Global Average Pooling, a dropout layer, a dense layer of 128 units with ReLU, another dropout layer, and finally a dense softmax layer with 4 outputs. In total the model has about 2.42 million parameters, but only about 164 thousand of them — the layers we added — are actually trainable.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of time and CPU-only training, the model was trained for just 1 epoch, using TensorFlow 2.21.0 on native Windows without GPU support. Even so, validation accuracy reached 99 percent and test accuracy reached 98.33 percent, with a test loss of about 0.04. The per-class report shows strong precision and recall across all four categories, with pothole recall reaching 1.00 despite having the fewest images. I want to be clear that one epoch is not an ideal training setup — it was a practical choice given the constraints, not a claim that this is the best way to train the model.</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confusion matrix comes from evaluating 599 test samples. Each row is the true class and each column is what the model predicted. The teal diagonal cells are correct predictions — for example, 149 out of 149 pothole test images were correctly classified. The orange cells show the few mistakes: for instance, 4 garbage images were predicted as pothole, and 2 normal images were predicted as pothole. Overall, the vast majority of predictions land on the diagonal, meaning most predictions were correct.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Streamlit web application was built around the trained model. The user uploads an image, the app preprocesses it, sends it to the saved MobileNetV2 model — best_model.keras — and displays the predicted category, a confidence score, and a recommended action. The layout on this slide is illustrative rather than an actual screenshot, just to show how the pieces fit together.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I'd show four example predictions, one for each class — garbage, normal, pothole, and road crack — using real screenshots from the application, clearly labeled as example predictions. I'm not going to state specific confidence numbers unless they come directly from an actual run of the app.</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be upfront about the limitations. The pothole class has far fewer images than the others, which is a real imbalance. Training happened for a limited time on CPU only. And even though overall accuracy is high, individual images can still be misclassified — for example, one known pothole image was predicted as road crack with high confidence during manual testing. Looking forward, the plan is to grow and balance the pothole dataset, use data augmentation, train for more epochs, fine-tune MobileNetV2 further, try other architectures, collect more real-world images, and eventually move toward a deployable monitoring tool.</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summarize: this project built an end-to-end AI computer vision pipeline, combining several public datasets, using MobileNetV2 transfer learning, and reaching 98.33 percent test accuracy, wrapped in a working Streamlit application. It shows real potential for supporting automated infrastructure inspection, while leaving clear room for future improvement. Thank you — I'm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9692640" y="-1463040"/>
            <a:ext cx="4754880" cy="4754880"/>
          </a:xfrm>
          <a:prstGeom prst="ellipse">
            <a:avLst/>
          </a:prstGeom>
          <a:solidFill>
            <a:srgbClr val="121D33"/>
          </a:solidFill>
          <a:ln/>
        </p:spPr>
      </p:sp>
      <p:sp>
        <p:nvSpPr>
          <p:cNvPr id="3" name="Shape 1"/>
          <p:cNvSpPr/>
          <p:nvPr/>
        </p:nvSpPr>
        <p:spPr>
          <a:xfrm>
            <a:off x="10607040" y="-548640"/>
            <a:ext cx="2926080" cy="2926080"/>
          </a:xfrm>
          <a:prstGeom prst="ellipse">
            <a:avLst/>
          </a:prstGeom>
          <a:solidFill>
            <a:srgbClr val="00B4A6"/>
          </a:solidFill>
          <a:ln/>
        </p:spPr>
      </p:sp>
      <p:sp>
        <p:nvSpPr>
          <p:cNvPr id="4" name="Text 2"/>
          <p:cNvSpPr/>
          <p:nvPr/>
        </p:nvSpPr>
        <p:spPr>
          <a:xfrm>
            <a:off x="822960" y="1554480"/>
            <a:ext cx="7315200" cy="320040"/>
          </a:xfrm>
          <a:prstGeom prst="rect">
            <a:avLst/>
          </a:prstGeom>
          <a:noFill/>
          <a:ln/>
        </p:spPr>
        <p:txBody>
          <a:bodyPr wrap="square" rtlCol="0" anchor="ctr"/>
          <a:lstStyle/>
          <a:p>
            <a:pPr marL="0" indent="0">
              <a:buNone/>
            </a:pPr>
            <a:r>
              <a:rPr lang="en-US" sz="1300" b="1" kern="0" spc="200" dirty="0">
                <a:solidFill>
                  <a:srgbClr val="00B4A6"/>
                </a:solidFill>
                <a:latin typeface="Calibri" pitchFamily="34" charset="0"/>
                <a:ea typeface="Calibri" pitchFamily="34" charset="-122"/>
                <a:cs typeface="Calibri" pitchFamily="34" charset="-120"/>
              </a:rPr>
              <a:t>AI / COMPUTER VISION  </a:t>
            </a:r>
            <a:r>
              <a:rPr lang="en-US" sz="1300" b="1" kern="0" spc="200" dirty="0" smtClean="0">
                <a:solidFill>
                  <a:srgbClr val="00B4A6"/>
                </a:solidFill>
                <a:latin typeface="Calibri" pitchFamily="34" charset="0"/>
                <a:ea typeface="Calibri" pitchFamily="34" charset="-122"/>
                <a:cs typeface="Calibri" pitchFamily="34" charset="-120"/>
              </a:rPr>
              <a:t>·</a:t>
            </a:r>
            <a:endParaRPr lang="en-US" sz="1300" dirty="0"/>
          </a:p>
        </p:txBody>
      </p:sp>
      <p:sp>
        <p:nvSpPr>
          <p:cNvPr id="5" name="Text 3"/>
          <p:cNvSpPr/>
          <p:nvPr/>
        </p:nvSpPr>
        <p:spPr>
          <a:xfrm>
            <a:off x="777240" y="1965960"/>
            <a:ext cx="9601200" cy="1737360"/>
          </a:xfrm>
          <a:prstGeom prst="rect">
            <a:avLst/>
          </a:prstGeom>
          <a:noFill/>
          <a:ln/>
        </p:spPr>
        <p:txBody>
          <a:bodyPr wrap="square" rtlCol="0" anchor="ctr"/>
          <a:lstStyle/>
          <a:p>
            <a:pPr>
              <a:lnSpc>
                <a:spcPts val="5000"/>
              </a:lnSpc>
            </a:pPr>
            <a:r>
              <a:rPr lang="en-US" sz="4800" dirty="0">
                <a:solidFill>
                  <a:schemeClr val="bg1"/>
                </a:solidFill>
              </a:rPr>
              <a:t>AI-Powered Public Infrastructure Issue Detection and Reporting System</a:t>
            </a:r>
            <a:endParaRPr lang="en-US" sz="4600" dirty="0">
              <a:solidFill>
                <a:schemeClr val="bg1"/>
              </a:solidFill>
            </a:endParaRPr>
          </a:p>
        </p:txBody>
      </p:sp>
      <p:sp>
        <p:nvSpPr>
          <p:cNvPr id="6" name="Text 4"/>
          <p:cNvSpPr/>
          <p:nvPr/>
        </p:nvSpPr>
        <p:spPr>
          <a:xfrm>
            <a:off x="822960" y="3611880"/>
            <a:ext cx="8686800" cy="457200"/>
          </a:xfrm>
          <a:prstGeom prst="rect">
            <a:avLst/>
          </a:prstGeom>
          <a:noFill/>
          <a:ln/>
        </p:spPr>
        <p:txBody>
          <a:bodyPr wrap="square" rtlCol="0" anchor="ctr"/>
          <a:lstStyle/>
          <a:p>
            <a:pPr marL="0" indent="0">
              <a:buNone/>
            </a:pPr>
            <a:r>
              <a:rPr lang="en-US" sz="1700" i="1" dirty="0">
                <a:solidFill>
                  <a:srgbClr val="CADCFC"/>
                </a:solidFill>
                <a:latin typeface="Calibri" pitchFamily="34" charset="0"/>
                <a:ea typeface="Calibri" pitchFamily="34" charset="-122"/>
                <a:cs typeface="Calibri" pitchFamily="34" charset="-120"/>
              </a:rPr>
              <a:t>AI-Based Detection of Garbage, Potholes, and Road Cracks</a:t>
            </a:r>
            <a:endParaRPr lang="en-US" sz="1700" dirty="0"/>
          </a:p>
        </p:txBody>
      </p:sp>
      <p:sp>
        <p:nvSpPr>
          <p:cNvPr id="7" name="Shape 5"/>
          <p:cNvSpPr/>
          <p:nvPr/>
        </p:nvSpPr>
        <p:spPr>
          <a:xfrm>
            <a:off x="822960" y="4343400"/>
            <a:ext cx="1965960" cy="502920"/>
          </a:xfrm>
          <a:prstGeom prst="roundRect">
            <a:avLst>
              <a:gd name="adj" fmla="val 50909"/>
            </a:avLst>
          </a:prstGeom>
          <a:solidFill>
            <a:srgbClr val="121D33"/>
          </a:solidFill>
          <a:ln w="12700">
            <a:solidFill>
              <a:srgbClr val="00B4A6"/>
            </a:solidFill>
            <a:prstDash val="solid"/>
          </a:ln>
        </p:spPr>
      </p:sp>
      <p:sp>
        <p:nvSpPr>
          <p:cNvPr id="8" name="Text 6"/>
          <p:cNvSpPr/>
          <p:nvPr/>
        </p:nvSpPr>
        <p:spPr>
          <a:xfrm>
            <a:off x="822960" y="4343400"/>
            <a:ext cx="1965960" cy="50292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Garbage</a:t>
            </a:r>
            <a:endParaRPr lang="en-US" sz="1250" dirty="0"/>
          </a:p>
        </p:txBody>
      </p:sp>
      <p:sp>
        <p:nvSpPr>
          <p:cNvPr id="9" name="Shape 7"/>
          <p:cNvSpPr/>
          <p:nvPr/>
        </p:nvSpPr>
        <p:spPr>
          <a:xfrm>
            <a:off x="2971800" y="4343400"/>
            <a:ext cx="1965960" cy="502920"/>
          </a:xfrm>
          <a:prstGeom prst="roundRect">
            <a:avLst>
              <a:gd name="adj" fmla="val 50909"/>
            </a:avLst>
          </a:prstGeom>
          <a:solidFill>
            <a:srgbClr val="121D33"/>
          </a:solidFill>
          <a:ln w="12700">
            <a:solidFill>
              <a:srgbClr val="00B4A6"/>
            </a:solidFill>
            <a:prstDash val="solid"/>
          </a:ln>
        </p:spPr>
      </p:sp>
      <p:sp>
        <p:nvSpPr>
          <p:cNvPr id="10" name="Text 8"/>
          <p:cNvSpPr/>
          <p:nvPr/>
        </p:nvSpPr>
        <p:spPr>
          <a:xfrm>
            <a:off x="2971800" y="4343400"/>
            <a:ext cx="1965960" cy="50292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Normal</a:t>
            </a:r>
            <a:endParaRPr lang="en-US" sz="1250" dirty="0"/>
          </a:p>
        </p:txBody>
      </p:sp>
      <p:sp>
        <p:nvSpPr>
          <p:cNvPr id="11" name="Shape 9"/>
          <p:cNvSpPr/>
          <p:nvPr/>
        </p:nvSpPr>
        <p:spPr>
          <a:xfrm>
            <a:off x="5120640" y="4343400"/>
            <a:ext cx="1965960" cy="502920"/>
          </a:xfrm>
          <a:prstGeom prst="roundRect">
            <a:avLst>
              <a:gd name="adj" fmla="val 50909"/>
            </a:avLst>
          </a:prstGeom>
          <a:solidFill>
            <a:srgbClr val="121D33"/>
          </a:solidFill>
          <a:ln w="12700">
            <a:solidFill>
              <a:srgbClr val="00B4A6"/>
            </a:solidFill>
            <a:prstDash val="solid"/>
          </a:ln>
        </p:spPr>
      </p:sp>
      <p:sp>
        <p:nvSpPr>
          <p:cNvPr id="12" name="Text 10"/>
          <p:cNvSpPr/>
          <p:nvPr/>
        </p:nvSpPr>
        <p:spPr>
          <a:xfrm>
            <a:off x="5120640" y="4343400"/>
            <a:ext cx="1965960" cy="50292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Pothole</a:t>
            </a:r>
            <a:endParaRPr lang="en-US" sz="1250" dirty="0"/>
          </a:p>
        </p:txBody>
      </p:sp>
      <p:sp>
        <p:nvSpPr>
          <p:cNvPr id="13" name="Shape 11"/>
          <p:cNvSpPr/>
          <p:nvPr/>
        </p:nvSpPr>
        <p:spPr>
          <a:xfrm>
            <a:off x="7269480" y="4394916"/>
            <a:ext cx="1965960" cy="502920"/>
          </a:xfrm>
          <a:prstGeom prst="roundRect">
            <a:avLst>
              <a:gd name="adj" fmla="val 50909"/>
            </a:avLst>
          </a:prstGeom>
          <a:solidFill>
            <a:srgbClr val="121D33"/>
          </a:solidFill>
          <a:ln w="12700">
            <a:solidFill>
              <a:srgbClr val="00B4A6"/>
            </a:solidFill>
            <a:prstDash val="solid"/>
          </a:ln>
        </p:spPr>
      </p:sp>
      <p:sp>
        <p:nvSpPr>
          <p:cNvPr id="14" name="Text 12"/>
          <p:cNvSpPr/>
          <p:nvPr/>
        </p:nvSpPr>
        <p:spPr>
          <a:xfrm>
            <a:off x="7269480" y="4343400"/>
            <a:ext cx="1965960" cy="50292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Road Crack</a:t>
            </a:r>
            <a:endParaRPr lang="en-US" sz="1250" dirty="0"/>
          </a:p>
        </p:txBody>
      </p:sp>
      <p:sp>
        <p:nvSpPr>
          <p:cNvPr id="15" name="Shape 13"/>
          <p:cNvSpPr/>
          <p:nvPr/>
        </p:nvSpPr>
        <p:spPr>
          <a:xfrm>
            <a:off x="822960" y="5257800"/>
            <a:ext cx="4937760" cy="0"/>
          </a:xfrm>
          <a:prstGeom prst="line">
            <a:avLst/>
          </a:prstGeom>
          <a:noFill/>
          <a:ln w="12700">
            <a:solidFill>
              <a:srgbClr val="3A4A6B"/>
            </a:solidFill>
            <a:prstDash val="solid"/>
          </a:ln>
        </p:spPr>
      </p:sp>
      <p:sp>
        <p:nvSpPr>
          <p:cNvPr id="16" name="Text 14"/>
          <p:cNvSpPr/>
          <p:nvPr/>
        </p:nvSpPr>
        <p:spPr>
          <a:xfrm>
            <a:off x="822960" y="5440680"/>
            <a:ext cx="5486400" cy="365760"/>
          </a:xfrm>
          <a:prstGeom prst="rect">
            <a:avLst/>
          </a:prstGeom>
          <a:noFill/>
          <a:ln/>
        </p:spPr>
        <p:txBody>
          <a:bodyPr wrap="square"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Zahid Jan</a:t>
            </a:r>
            <a:endParaRPr lang="en-US" sz="1800" dirty="0"/>
          </a:p>
        </p:txBody>
      </p:sp>
      <p:sp>
        <p:nvSpPr>
          <p:cNvPr id="17" name="Text 15"/>
          <p:cNvSpPr/>
          <p:nvPr/>
        </p:nvSpPr>
        <p:spPr>
          <a:xfrm>
            <a:off x="822960" y="5806440"/>
            <a:ext cx="7772400" cy="365760"/>
          </a:xfrm>
          <a:prstGeom prst="rect">
            <a:avLst/>
          </a:prstGeom>
          <a:noFill/>
          <a:ln/>
        </p:spPr>
        <p:txBody>
          <a:bodyPr wrap="square" rtlCol="0" anchor="ctr"/>
          <a:lstStyle/>
          <a:p>
            <a:pPr marL="0" indent="0">
              <a:buNone/>
            </a:pPr>
            <a:r>
              <a:rPr lang="en-US" sz="1300" dirty="0">
                <a:solidFill>
                  <a:srgbClr val="AEB9CC"/>
                </a:solidFill>
                <a:latin typeface="Calibri" pitchFamily="34" charset="0"/>
                <a:ea typeface="Calibri" pitchFamily="34" charset="-122"/>
                <a:cs typeface="Calibri" pitchFamily="34" charset="-120"/>
              </a:rPr>
              <a:t>BS Computer Science  ·  University of Engineering and Technology, Mardan</a:t>
            </a:r>
            <a:endParaRPr lang="en-US" sz="1300" dirty="0"/>
          </a:p>
        </p:txBody>
      </p:sp>
      <p:sp>
        <p:nvSpPr>
          <p:cNvPr id="18" name="Text 16"/>
          <p:cNvSpPr/>
          <p:nvPr/>
        </p:nvSpPr>
        <p:spPr>
          <a:xfrm>
            <a:off x="457200" y="6537960"/>
            <a:ext cx="6400800" cy="274320"/>
          </a:xfrm>
          <a:prstGeom prst="rect">
            <a:avLst/>
          </a:prstGeom>
          <a:noFill/>
          <a:ln/>
        </p:spPr>
        <p:txBody>
          <a:bodyPr wrap="square" rtlCol="0" anchor="ctr"/>
          <a:lstStyle/>
          <a:p>
            <a:r>
              <a:rPr lang="en-US" sz="900" b="1" dirty="0">
                <a:solidFill>
                  <a:schemeClr val="bg1">
                    <a:lumMod val="85000"/>
                  </a:schemeClr>
                </a:solidFill>
              </a:rPr>
              <a:t>AI-Powered Public Infrastructure Issue Detection and Reporting System</a:t>
            </a:r>
          </a:p>
        </p:txBody>
      </p:sp>
      <p:sp>
        <p:nvSpPr>
          <p:cNvPr id="19" name="Text 17"/>
          <p:cNvSpPr/>
          <p:nvPr/>
        </p:nvSpPr>
        <p:spPr>
          <a:xfrm>
            <a:off x="11274552" y="6537960"/>
            <a:ext cx="457200" cy="274320"/>
          </a:xfrm>
          <a:prstGeom prst="rect">
            <a:avLst/>
          </a:prstGeom>
          <a:noFill/>
          <a:ln/>
        </p:spPr>
        <p:txBody>
          <a:bodyPr wrap="square" rtlCol="0" anchor="ctr"/>
          <a:lstStyle/>
          <a:p>
            <a:pPr marL="0" indent="0" algn="r">
              <a:buNone/>
            </a:pPr>
            <a:r>
              <a:rPr lang="en-US" sz="900" dirty="0">
                <a:solidFill>
                  <a:srgbClr val="8C97AA"/>
                </a:solidFill>
                <a:latin typeface="Calibri" pitchFamily="34" charset="0"/>
                <a:ea typeface="Calibri" pitchFamily="34" charset="-122"/>
                <a:cs typeface="Calibri" pitchFamily="34" charset="-120"/>
              </a:rPr>
              <a:t>1</a:t>
            </a:r>
            <a:endParaRPr lang="en-US" sz="9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9"/>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marL="0" indent="0">
              <a:buNone/>
            </a:pPr>
            <a:r>
              <a:rPr lang="en-US" sz="1200" b="1" kern="0" spc="200" dirty="0">
                <a:solidFill>
                  <a:srgbClr val="00867D"/>
                </a:solidFill>
                <a:latin typeface="Calibri" pitchFamily="34" charset="0"/>
                <a:ea typeface="Calibri" pitchFamily="34" charset="-122"/>
                <a:cs typeface="Calibri" pitchFamily="34" charset="-120"/>
              </a:rPr>
              <a:t>WHY THIS MATTERS</a:t>
            </a:r>
            <a:endParaRPr lang="en-US" sz="1200" dirty="0"/>
          </a:p>
        </p:txBody>
      </p:sp>
      <p:sp>
        <p:nvSpPr>
          <p:cNvPr id="3" name="Text 1"/>
          <p:cNvSpPr/>
          <p:nvPr/>
        </p:nvSpPr>
        <p:spPr>
          <a:xfrm>
            <a:off x="548640" y="621792"/>
            <a:ext cx="10515600" cy="685800"/>
          </a:xfrm>
          <a:prstGeom prst="rect">
            <a:avLst/>
          </a:prstGeom>
          <a:noFill/>
          <a:ln/>
        </p:spPr>
        <p:txBody>
          <a:bodyPr wrap="square" rtlCol="0" anchor="ctr"/>
          <a:lstStyle/>
          <a:p>
            <a:pPr marL="0" indent="0">
              <a:buNone/>
            </a:pPr>
            <a:r>
              <a:rPr lang="en-US" sz="3200" b="1" dirty="0">
                <a:solidFill>
                  <a:srgbClr val="1F2733"/>
                </a:solidFill>
                <a:latin typeface="Cambria" pitchFamily="34" charset="0"/>
                <a:ea typeface="Cambria" pitchFamily="34" charset="-122"/>
                <a:cs typeface="Cambria" pitchFamily="34" charset="-120"/>
              </a:rPr>
              <a:t>Problem Statement</a:t>
            </a:r>
            <a:endParaRPr lang="en-US" sz="3200" dirty="0"/>
          </a:p>
        </p:txBody>
      </p:sp>
      <p:sp>
        <p:nvSpPr>
          <p:cNvPr id="4" name="Shape 2"/>
          <p:cNvSpPr/>
          <p:nvPr/>
        </p:nvSpPr>
        <p:spPr>
          <a:xfrm>
            <a:off x="640080" y="1691640"/>
            <a:ext cx="5212080" cy="1691640"/>
          </a:xfrm>
          <a:prstGeom prst="roundRect">
            <a:avLst>
              <a:gd name="adj" fmla="val 4324"/>
            </a:avLst>
          </a:prstGeom>
          <a:solidFill>
            <a:srgbClr val="FFFFFF"/>
          </a:solidFill>
          <a:ln w="12700">
            <a:solidFill>
              <a:srgbClr val="DCE2E9"/>
            </a:solidFill>
            <a:prstDash val="solid"/>
          </a:ln>
          <a:effectLst>
            <a:outerShdw blurRad="76200" dist="25400" dir="5400000" algn="bl" rotWithShape="0">
              <a:srgbClr val="1B2A4A">
                <a:alpha val="12000"/>
              </a:srgbClr>
            </a:outerShdw>
          </a:effectLst>
        </p:spPr>
      </p:sp>
      <p:sp>
        <p:nvSpPr>
          <p:cNvPr id="5" name="Shape 3"/>
          <p:cNvSpPr/>
          <p:nvPr/>
        </p:nvSpPr>
        <p:spPr>
          <a:xfrm>
            <a:off x="960120" y="2075688"/>
            <a:ext cx="822960" cy="822960"/>
          </a:xfrm>
          <a:prstGeom prst="ellipse">
            <a:avLst/>
          </a:prstGeom>
          <a:solidFill>
            <a:srgbClr val="1B2A4A"/>
          </a:solidFill>
          <a:ln/>
        </p:spPr>
      </p:sp>
      <p:sp>
        <p:nvSpPr>
          <p:cNvPr id="6" name="Text 4"/>
          <p:cNvSpPr/>
          <p:nvPr/>
        </p:nvSpPr>
        <p:spPr>
          <a:xfrm>
            <a:off x="960120" y="2075688"/>
            <a:ext cx="822960" cy="822960"/>
          </a:xfrm>
          <a:prstGeom prst="rect">
            <a:avLst/>
          </a:prstGeom>
          <a:noFill/>
          <a:ln/>
        </p:spPr>
        <p:txBody>
          <a:bodyPr wrap="square" lIns="0" tIns="0" rIns="0" bIns="0"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G</a:t>
            </a:r>
            <a:endParaRPr lang="en-US" sz="2600" dirty="0"/>
          </a:p>
        </p:txBody>
      </p:sp>
      <p:sp>
        <p:nvSpPr>
          <p:cNvPr id="7" name="Text 5"/>
          <p:cNvSpPr/>
          <p:nvPr/>
        </p:nvSpPr>
        <p:spPr>
          <a:xfrm>
            <a:off x="2011680" y="1947672"/>
            <a:ext cx="3566160" cy="365760"/>
          </a:xfrm>
          <a:prstGeom prst="rect">
            <a:avLst/>
          </a:prstGeom>
          <a:noFill/>
          <a:ln/>
        </p:spPr>
        <p:txBody>
          <a:bodyPr wrap="square" rtlCol="0" anchor="ctr"/>
          <a:lstStyle/>
          <a:p>
            <a:pPr marL="0" indent="0">
              <a:buNone/>
            </a:pPr>
            <a:r>
              <a:rPr lang="en-US" sz="1550" b="1" dirty="0">
                <a:solidFill>
                  <a:srgbClr val="1F2733"/>
                </a:solidFill>
                <a:latin typeface="Cambria" pitchFamily="34" charset="0"/>
                <a:ea typeface="Cambria" pitchFamily="34" charset="-122"/>
                <a:cs typeface="Cambria" pitchFamily="34" charset="-120"/>
              </a:rPr>
              <a:t>Garbage Accumulation</a:t>
            </a:r>
            <a:endParaRPr lang="en-US" sz="1550" dirty="0"/>
          </a:p>
        </p:txBody>
      </p:sp>
      <p:sp>
        <p:nvSpPr>
          <p:cNvPr id="8" name="Text 6"/>
          <p:cNvSpPr/>
          <p:nvPr/>
        </p:nvSpPr>
        <p:spPr>
          <a:xfrm>
            <a:off x="2011680" y="2350008"/>
            <a:ext cx="3611880" cy="914400"/>
          </a:xfrm>
          <a:prstGeom prst="rect">
            <a:avLst/>
          </a:prstGeom>
          <a:noFill/>
          <a:ln/>
        </p:spPr>
        <p:txBody>
          <a:bodyPr wrap="square" rtlCol="0" anchor="ctr"/>
          <a:lstStyle/>
          <a:p>
            <a:pPr marL="0" indent="0">
              <a:lnSpc>
                <a:spcPct val="115000"/>
              </a:lnSpc>
              <a:buNone/>
            </a:pPr>
            <a:r>
              <a:rPr lang="en-US" sz="1150" dirty="0">
                <a:solidFill>
                  <a:srgbClr val="5B6472"/>
                </a:solidFill>
                <a:latin typeface="Calibri" pitchFamily="34" charset="0"/>
                <a:ea typeface="Calibri" pitchFamily="34" charset="-122"/>
                <a:cs typeface="Calibri" pitchFamily="34" charset="-120"/>
              </a:rPr>
              <a:t>Uncollected waste affects public spaces, hygiene, and city appearance.</a:t>
            </a:r>
            <a:endParaRPr lang="en-US" sz="1150" dirty="0"/>
          </a:p>
        </p:txBody>
      </p:sp>
      <p:sp>
        <p:nvSpPr>
          <p:cNvPr id="9" name="Shape 7"/>
          <p:cNvSpPr/>
          <p:nvPr/>
        </p:nvSpPr>
        <p:spPr>
          <a:xfrm>
            <a:off x="6126480" y="1691640"/>
            <a:ext cx="5212080" cy="1691640"/>
          </a:xfrm>
          <a:prstGeom prst="roundRect">
            <a:avLst>
              <a:gd name="adj" fmla="val 4324"/>
            </a:avLst>
          </a:prstGeom>
          <a:solidFill>
            <a:srgbClr val="FFFFFF"/>
          </a:solidFill>
          <a:ln w="12700">
            <a:solidFill>
              <a:srgbClr val="DCE2E9"/>
            </a:solidFill>
            <a:prstDash val="solid"/>
          </a:ln>
          <a:effectLst>
            <a:outerShdw blurRad="76200" dist="25400" dir="5400000" algn="bl" rotWithShape="0">
              <a:srgbClr val="1B2A4A">
                <a:alpha val="12000"/>
              </a:srgbClr>
            </a:outerShdw>
          </a:effectLst>
        </p:spPr>
      </p:sp>
      <p:sp>
        <p:nvSpPr>
          <p:cNvPr id="10" name="Shape 8"/>
          <p:cNvSpPr/>
          <p:nvPr/>
        </p:nvSpPr>
        <p:spPr>
          <a:xfrm>
            <a:off x="6446520" y="2075688"/>
            <a:ext cx="822960" cy="822960"/>
          </a:xfrm>
          <a:prstGeom prst="ellipse">
            <a:avLst/>
          </a:prstGeom>
          <a:solidFill>
            <a:srgbClr val="1B2A4A"/>
          </a:solidFill>
          <a:ln/>
        </p:spPr>
      </p:sp>
      <p:sp>
        <p:nvSpPr>
          <p:cNvPr id="11" name="Text 9"/>
          <p:cNvSpPr/>
          <p:nvPr/>
        </p:nvSpPr>
        <p:spPr>
          <a:xfrm>
            <a:off x="6446520" y="2075688"/>
            <a:ext cx="822960" cy="822960"/>
          </a:xfrm>
          <a:prstGeom prst="rect">
            <a:avLst/>
          </a:prstGeom>
          <a:noFill/>
          <a:ln/>
        </p:spPr>
        <p:txBody>
          <a:bodyPr wrap="square" lIns="0" tIns="0" rIns="0" bIns="0"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P</a:t>
            </a:r>
            <a:endParaRPr lang="en-US" sz="2600" dirty="0"/>
          </a:p>
        </p:txBody>
      </p:sp>
      <p:sp>
        <p:nvSpPr>
          <p:cNvPr id="12" name="Text 10"/>
          <p:cNvSpPr/>
          <p:nvPr/>
        </p:nvSpPr>
        <p:spPr>
          <a:xfrm>
            <a:off x="7498080" y="1947672"/>
            <a:ext cx="3566160" cy="365760"/>
          </a:xfrm>
          <a:prstGeom prst="rect">
            <a:avLst/>
          </a:prstGeom>
          <a:noFill/>
          <a:ln/>
        </p:spPr>
        <p:txBody>
          <a:bodyPr wrap="square" rtlCol="0" anchor="ctr"/>
          <a:lstStyle/>
          <a:p>
            <a:pPr marL="0" indent="0">
              <a:buNone/>
            </a:pPr>
            <a:r>
              <a:rPr lang="en-US" sz="1550" b="1" dirty="0">
                <a:solidFill>
                  <a:srgbClr val="1F2733"/>
                </a:solidFill>
                <a:latin typeface="Cambria" pitchFamily="34" charset="0"/>
                <a:ea typeface="Cambria" pitchFamily="34" charset="-122"/>
                <a:cs typeface="Cambria" pitchFamily="34" charset="-120"/>
              </a:rPr>
              <a:t>Potholes</a:t>
            </a:r>
            <a:endParaRPr lang="en-US" sz="1550" dirty="0"/>
          </a:p>
        </p:txBody>
      </p:sp>
      <p:sp>
        <p:nvSpPr>
          <p:cNvPr id="13" name="Text 11"/>
          <p:cNvSpPr/>
          <p:nvPr/>
        </p:nvSpPr>
        <p:spPr>
          <a:xfrm>
            <a:off x="7498080" y="2350008"/>
            <a:ext cx="3611880" cy="914400"/>
          </a:xfrm>
          <a:prstGeom prst="rect">
            <a:avLst/>
          </a:prstGeom>
          <a:noFill/>
          <a:ln/>
        </p:spPr>
        <p:txBody>
          <a:bodyPr wrap="square" rtlCol="0" anchor="ctr"/>
          <a:lstStyle/>
          <a:p>
            <a:pPr marL="0" indent="0">
              <a:lnSpc>
                <a:spcPct val="115000"/>
              </a:lnSpc>
              <a:buNone/>
            </a:pPr>
            <a:r>
              <a:rPr lang="en-US" sz="1150" dirty="0">
                <a:solidFill>
                  <a:srgbClr val="5B6472"/>
                </a:solidFill>
                <a:latin typeface="Calibri" pitchFamily="34" charset="0"/>
                <a:ea typeface="Calibri" pitchFamily="34" charset="-122"/>
                <a:cs typeface="Calibri" pitchFamily="34" charset="-120"/>
              </a:rPr>
              <a:t>Create road-safety hazards and add to vehicle and maintenance costs.</a:t>
            </a:r>
            <a:endParaRPr lang="en-US" sz="1150" dirty="0"/>
          </a:p>
        </p:txBody>
      </p:sp>
      <p:sp>
        <p:nvSpPr>
          <p:cNvPr id="14" name="Shape 12"/>
          <p:cNvSpPr/>
          <p:nvPr/>
        </p:nvSpPr>
        <p:spPr>
          <a:xfrm>
            <a:off x="640080" y="3657600"/>
            <a:ext cx="5212080" cy="1691640"/>
          </a:xfrm>
          <a:prstGeom prst="roundRect">
            <a:avLst>
              <a:gd name="adj" fmla="val 4324"/>
            </a:avLst>
          </a:prstGeom>
          <a:solidFill>
            <a:srgbClr val="FFFFFF"/>
          </a:solidFill>
          <a:ln w="12700">
            <a:solidFill>
              <a:srgbClr val="DCE2E9"/>
            </a:solidFill>
            <a:prstDash val="solid"/>
          </a:ln>
          <a:effectLst>
            <a:outerShdw blurRad="76200" dist="25400" dir="5400000" algn="bl" rotWithShape="0">
              <a:srgbClr val="1B2A4A">
                <a:alpha val="12000"/>
              </a:srgbClr>
            </a:outerShdw>
          </a:effectLst>
        </p:spPr>
      </p:sp>
      <p:sp>
        <p:nvSpPr>
          <p:cNvPr id="15" name="Shape 13"/>
          <p:cNvSpPr/>
          <p:nvPr/>
        </p:nvSpPr>
        <p:spPr>
          <a:xfrm>
            <a:off x="960120" y="4041648"/>
            <a:ext cx="822960" cy="822960"/>
          </a:xfrm>
          <a:prstGeom prst="ellipse">
            <a:avLst/>
          </a:prstGeom>
          <a:solidFill>
            <a:srgbClr val="1B2A4A"/>
          </a:solidFill>
          <a:ln/>
        </p:spPr>
      </p:sp>
      <p:sp>
        <p:nvSpPr>
          <p:cNvPr id="16" name="Text 14"/>
          <p:cNvSpPr/>
          <p:nvPr/>
        </p:nvSpPr>
        <p:spPr>
          <a:xfrm>
            <a:off x="960120" y="4041648"/>
            <a:ext cx="822960" cy="822960"/>
          </a:xfrm>
          <a:prstGeom prst="rect">
            <a:avLst/>
          </a:prstGeom>
          <a:noFill/>
          <a:ln/>
        </p:spPr>
        <p:txBody>
          <a:bodyPr wrap="square" lIns="0" tIns="0" rIns="0" bIns="0"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R</a:t>
            </a:r>
            <a:endParaRPr lang="en-US" sz="2600" dirty="0"/>
          </a:p>
        </p:txBody>
      </p:sp>
      <p:sp>
        <p:nvSpPr>
          <p:cNvPr id="17" name="Text 15"/>
          <p:cNvSpPr/>
          <p:nvPr/>
        </p:nvSpPr>
        <p:spPr>
          <a:xfrm>
            <a:off x="2011680" y="3913632"/>
            <a:ext cx="3566160" cy="365760"/>
          </a:xfrm>
          <a:prstGeom prst="rect">
            <a:avLst/>
          </a:prstGeom>
          <a:noFill/>
          <a:ln/>
        </p:spPr>
        <p:txBody>
          <a:bodyPr wrap="square" rtlCol="0" anchor="ctr"/>
          <a:lstStyle/>
          <a:p>
            <a:pPr marL="0" indent="0">
              <a:buNone/>
            </a:pPr>
            <a:r>
              <a:rPr lang="en-US" sz="1550" b="1" dirty="0">
                <a:solidFill>
                  <a:srgbClr val="1F2733"/>
                </a:solidFill>
                <a:latin typeface="Cambria" pitchFamily="34" charset="0"/>
                <a:ea typeface="Cambria" pitchFamily="34" charset="-122"/>
                <a:cs typeface="Cambria" pitchFamily="34" charset="-120"/>
              </a:rPr>
              <a:t>Road Cracks</a:t>
            </a:r>
            <a:endParaRPr lang="en-US" sz="1550" dirty="0"/>
          </a:p>
        </p:txBody>
      </p:sp>
      <p:sp>
        <p:nvSpPr>
          <p:cNvPr id="18" name="Text 16"/>
          <p:cNvSpPr/>
          <p:nvPr/>
        </p:nvSpPr>
        <p:spPr>
          <a:xfrm>
            <a:off x="2011680" y="4315968"/>
            <a:ext cx="3611880" cy="914400"/>
          </a:xfrm>
          <a:prstGeom prst="rect">
            <a:avLst/>
          </a:prstGeom>
          <a:noFill/>
          <a:ln/>
        </p:spPr>
        <p:txBody>
          <a:bodyPr wrap="square" rtlCol="0" anchor="ctr"/>
          <a:lstStyle/>
          <a:p>
            <a:pPr marL="0" indent="0">
              <a:lnSpc>
                <a:spcPct val="115000"/>
              </a:lnSpc>
              <a:buNone/>
            </a:pPr>
            <a:r>
              <a:rPr lang="en-US" sz="1150" dirty="0">
                <a:solidFill>
                  <a:srgbClr val="5B6472"/>
                </a:solidFill>
                <a:latin typeface="Calibri" pitchFamily="34" charset="0"/>
                <a:ea typeface="Calibri" pitchFamily="34" charset="-122"/>
                <a:cs typeface="Calibri" pitchFamily="34" charset="-120"/>
              </a:rPr>
              <a:t>Often an early sign of deeper infrastructure deterioration.</a:t>
            </a:r>
            <a:endParaRPr lang="en-US" sz="1150" dirty="0"/>
          </a:p>
        </p:txBody>
      </p:sp>
      <p:sp>
        <p:nvSpPr>
          <p:cNvPr id="19" name="Shape 17"/>
          <p:cNvSpPr/>
          <p:nvPr/>
        </p:nvSpPr>
        <p:spPr>
          <a:xfrm>
            <a:off x="6126480" y="3657600"/>
            <a:ext cx="5212080" cy="1691640"/>
          </a:xfrm>
          <a:prstGeom prst="roundRect">
            <a:avLst>
              <a:gd name="adj" fmla="val 4324"/>
            </a:avLst>
          </a:prstGeom>
          <a:solidFill>
            <a:srgbClr val="FFFFFF"/>
          </a:solidFill>
          <a:ln w="12700">
            <a:solidFill>
              <a:srgbClr val="DCE2E9"/>
            </a:solidFill>
            <a:prstDash val="solid"/>
          </a:ln>
          <a:effectLst>
            <a:outerShdw blurRad="76200" dist="25400" dir="5400000" algn="bl" rotWithShape="0">
              <a:srgbClr val="1B2A4A">
                <a:alpha val="12000"/>
              </a:srgbClr>
            </a:outerShdw>
          </a:effectLst>
        </p:spPr>
      </p:sp>
      <p:sp>
        <p:nvSpPr>
          <p:cNvPr id="20" name="Shape 18"/>
          <p:cNvSpPr/>
          <p:nvPr/>
        </p:nvSpPr>
        <p:spPr>
          <a:xfrm>
            <a:off x="6446520" y="4041648"/>
            <a:ext cx="822960" cy="822960"/>
          </a:xfrm>
          <a:prstGeom prst="ellipse">
            <a:avLst/>
          </a:prstGeom>
          <a:solidFill>
            <a:srgbClr val="1B2A4A"/>
          </a:solidFill>
          <a:ln/>
        </p:spPr>
      </p:sp>
      <p:sp>
        <p:nvSpPr>
          <p:cNvPr id="21" name="Text 19"/>
          <p:cNvSpPr/>
          <p:nvPr/>
        </p:nvSpPr>
        <p:spPr>
          <a:xfrm>
            <a:off x="6446520" y="4041648"/>
            <a:ext cx="822960" cy="822960"/>
          </a:xfrm>
          <a:prstGeom prst="rect">
            <a:avLst/>
          </a:prstGeom>
          <a:noFill/>
          <a:ln/>
        </p:spPr>
        <p:txBody>
          <a:bodyPr wrap="square" lIns="0" tIns="0" rIns="0" bIns="0"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M</a:t>
            </a:r>
            <a:endParaRPr lang="en-US" sz="2600" dirty="0"/>
          </a:p>
        </p:txBody>
      </p:sp>
      <p:sp>
        <p:nvSpPr>
          <p:cNvPr id="22" name="Text 20"/>
          <p:cNvSpPr/>
          <p:nvPr/>
        </p:nvSpPr>
        <p:spPr>
          <a:xfrm>
            <a:off x="7498080" y="3913632"/>
            <a:ext cx="3566160" cy="365760"/>
          </a:xfrm>
          <a:prstGeom prst="rect">
            <a:avLst/>
          </a:prstGeom>
          <a:noFill/>
          <a:ln/>
        </p:spPr>
        <p:txBody>
          <a:bodyPr wrap="square" rtlCol="0" anchor="ctr"/>
          <a:lstStyle/>
          <a:p>
            <a:pPr marL="0" indent="0">
              <a:buNone/>
            </a:pPr>
            <a:r>
              <a:rPr lang="en-US" sz="1550" b="1" dirty="0">
                <a:solidFill>
                  <a:srgbClr val="1F2733"/>
                </a:solidFill>
                <a:latin typeface="Cambria" pitchFamily="34" charset="0"/>
                <a:ea typeface="Cambria" pitchFamily="34" charset="-122"/>
                <a:cs typeface="Cambria" pitchFamily="34" charset="-120"/>
              </a:rPr>
              <a:t>Manual Inspection</a:t>
            </a:r>
            <a:endParaRPr lang="en-US" sz="1550" dirty="0"/>
          </a:p>
        </p:txBody>
      </p:sp>
      <p:sp>
        <p:nvSpPr>
          <p:cNvPr id="23" name="Text 21"/>
          <p:cNvSpPr/>
          <p:nvPr/>
        </p:nvSpPr>
        <p:spPr>
          <a:xfrm>
            <a:off x="7498080" y="4315968"/>
            <a:ext cx="3611880" cy="914400"/>
          </a:xfrm>
          <a:prstGeom prst="rect">
            <a:avLst/>
          </a:prstGeom>
          <a:noFill/>
          <a:ln/>
        </p:spPr>
        <p:txBody>
          <a:bodyPr wrap="square" rtlCol="0" anchor="ctr"/>
          <a:lstStyle/>
          <a:p>
            <a:pPr marL="0" indent="0">
              <a:lnSpc>
                <a:spcPct val="115000"/>
              </a:lnSpc>
              <a:buNone/>
            </a:pPr>
            <a:r>
              <a:rPr lang="en-US" sz="1150" dirty="0">
                <a:solidFill>
                  <a:srgbClr val="5B6472"/>
                </a:solidFill>
                <a:latin typeface="Calibri" pitchFamily="34" charset="0"/>
                <a:ea typeface="Calibri" pitchFamily="34" charset="-122"/>
                <a:cs typeface="Calibri" pitchFamily="34" charset="-120"/>
              </a:rPr>
              <a:t>Checking infrastructure by hand is slow and resource-intensive.</a:t>
            </a:r>
            <a:endParaRPr lang="en-US" sz="1150" dirty="0"/>
          </a:p>
        </p:txBody>
      </p:sp>
      <p:sp>
        <p:nvSpPr>
          <p:cNvPr id="24" name="Text 22"/>
          <p:cNvSpPr/>
          <p:nvPr/>
        </p:nvSpPr>
        <p:spPr>
          <a:xfrm>
            <a:off x="640080" y="5806440"/>
            <a:ext cx="10881360" cy="457200"/>
          </a:xfrm>
          <a:prstGeom prst="rect">
            <a:avLst/>
          </a:prstGeom>
          <a:noFill/>
          <a:ln/>
        </p:spPr>
        <p:txBody>
          <a:bodyPr wrap="square" rtlCol="0" anchor="ctr"/>
          <a:lstStyle/>
          <a:p>
            <a:pPr marL="0" indent="0">
              <a:buNone/>
            </a:pPr>
            <a:r>
              <a:rPr lang="en-US" sz="1200" i="1" dirty="0">
                <a:solidFill>
                  <a:srgbClr val="5B6472"/>
                </a:solidFill>
                <a:latin typeface="Calibri" pitchFamily="34" charset="0"/>
                <a:ea typeface="Calibri" pitchFamily="34" charset="-122"/>
                <a:cs typeface="Calibri" pitchFamily="34" charset="-120"/>
              </a:rPr>
              <a:t>This project focuses on classification support for inspection — not a replacement for engineering judgment.</a:t>
            </a:r>
            <a:endParaRPr lang="en-US" sz="1200" dirty="0"/>
          </a:p>
        </p:txBody>
      </p:sp>
      <p:sp>
        <p:nvSpPr>
          <p:cNvPr id="25" name="Text 23"/>
          <p:cNvSpPr/>
          <p:nvPr/>
        </p:nvSpPr>
        <p:spPr>
          <a:xfrm>
            <a:off x="457200" y="6537960"/>
            <a:ext cx="6400800" cy="274320"/>
          </a:xfrm>
          <a:prstGeom prst="rect">
            <a:avLst/>
          </a:prstGeom>
          <a:noFill/>
          <a:ln/>
        </p:spPr>
        <p:txBody>
          <a:bodyPr wrap="square" rtlCol="0" anchor="ctr"/>
          <a:lstStyle/>
          <a:p>
            <a:r>
              <a:rPr lang="en-US" sz="900" b="1" dirty="0"/>
              <a:t>AI-Powered Public Infrastructure Issue Detection and Reporting System</a:t>
            </a:r>
          </a:p>
        </p:txBody>
      </p:sp>
      <p:sp>
        <p:nvSpPr>
          <p:cNvPr id="26" name="Text 24"/>
          <p:cNvSpPr/>
          <p:nvPr/>
        </p:nvSpPr>
        <p:spPr>
          <a:xfrm>
            <a:off x="11274552" y="6537960"/>
            <a:ext cx="457200" cy="274320"/>
          </a:xfrm>
          <a:prstGeom prst="rect">
            <a:avLst/>
          </a:prstGeom>
          <a:noFill/>
          <a:ln/>
        </p:spPr>
        <p:txBody>
          <a:bodyPr wrap="square"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2</a:t>
            </a:r>
            <a:endParaRPr lang="en-US" sz="9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9"/>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marL="0" indent="0">
              <a:buNone/>
            </a:pPr>
            <a:r>
              <a:rPr lang="en-US" sz="1200" b="1" kern="0" spc="200" dirty="0">
                <a:solidFill>
                  <a:srgbClr val="00867D"/>
                </a:solidFill>
                <a:latin typeface="Calibri" pitchFamily="34" charset="0"/>
                <a:ea typeface="Calibri" pitchFamily="34" charset="-122"/>
                <a:cs typeface="Calibri" pitchFamily="34" charset="-120"/>
              </a:rPr>
              <a:t>GOALS</a:t>
            </a:r>
            <a:endParaRPr lang="en-US" sz="1200" dirty="0"/>
          </a:p>
        </p:txBody>
      </p:sp>
      <p:sp>
        <p:nvSpPr>
          <p:cNvPr id="3" name="Text 1"/>
          <p:cNvSpPr/>
          <p:nvPr/>
        </p:nvSpPr>
        <p:spPr>
          <a:xfrm>
            <a:off x="548640" y="621792"/>
            <a:ext cx="10515600" cy="685800"/>
          </a:xfrm>
          <a:prstGeom prst="rect">
            <a:avLst/>
          </a:prstGeom>
          <a:noFill/>
          <a:ln/>
        </p:spPr>
        <p:txBody>
          <a:bodyPr wrap="square" rtlCol="0" anchor="ctr"/>
          <a:lstStyle/>
          <a:p>
            <a:pPr marL="0" indent="0">
              <a:buNone/>
            </a:pPr>
            <a:r>
              <a:rPr lang="en-US" sz="3200" b="1" dirty="0">
                <a:solidFill>
                  <a:srgbClr val="1F2733"/>
                </a:solidFill>
                <a:latin typeface="Cambria" pitchFamily="34" charset="0"/>
                <a:ea typeface="Cambria" pitchFamily="34" charset="-122"/>
                <a:cs typeface="Cambria" pitchFamily="34" charset="-120"/>
              </a:rPr>
              <a:t>Project Objectives</a:t>
            </a:r>
            <a:endParaRPr lang="en-US" sz="3200" dirty="0"/>
          </a:p>
        </p:txBody>
      </p:sp>
      <p:sp>
        <p:nvSpPr>
          <p:cNvPr id="4" name="Shape 2"/>
          <p:cNvSpPr/>
          <p:nvPr/>
        </p:nvSpPr>
        <p:spPr>
          <a:xfrm>
            <a:off x="640080" y="1783080"/>
            <a:ext cx="10881360" cy="658368"/>
          </a:xfrm>
          <a:prstGeom prst="roundRect">
            <a:avLst>
              <a:gd name="adj" fmla="val 11111"/>
            </a:avLst>
          </a:prstGeom>
          <a:solidFill>
            <a:srgbClr val="FFFFFF"/>
          </a:solidFill>
          <a:ln w="12700">
            <a:solidFill>
              <a:srgbClr val="DCE2E9"/>
            </a:solidFill>
            <a:prstDash val="solid"/>
          </a:ln>
        </p:spPr>
      </p:sp>
      <p:sp>
        <p:nvSpPr>
          <p:cNvPr id="5" name="Shape 3"/>
          <p:cNvSpPr/>
          <p:nvPr/>
        </p:nvSpPr>
        <p:spPr>
          <a:xfrm>
            <a:off x="868680" y="1883664"/>
            <a:ext cx="457200" cy="457200"/>
          </a:xfrm>
          <a:prstGeom prst="ellipse">
            <a:avLst/>
          </a:prstGeom>
          <a:solidFill>
            <a:srgbClr val="00B4A6"/>
          </a:solidFill>
          <a:ln/>
        </p:spPr>
      </p:sp>
      <p:sp>
        <p:nvSpPr>
          <p:cNvPr id="6" name="Text 4"/>
          <p:cNvSpPr/>
          <p:nvPr/>
        </p:nvSpPr>
        <p:spPr>
          <a:xfrm>
            <a:off x="868680" y="1883664"/>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5"/>
          <p:cNvSpPr/>
          <p:nvPr/>
        </p:nvSpPr>
        <p:spPr>
          <a:xfrm>
            <a:off x="1600200" y="1783080"/>
            <a:ext cx="9692640" cy="658368"/>
          </a:xfrm>
          <a:prstGeom prst="rect">
            <a:avLst/>
          </a:prstGeom>
          <a:noFill/>
          <a:ln/>
        </p:spPr>
        <p:txBody>
          <a:bodyPr wrap="square" rtlCol="0" anchor="ctr"/>
          <a:lstStyle/>
          <a:p>
            <a:pPr marL="0" indent="0">
              <a:buNone/>
            </a:pPr>
            <a:r>
              <a:rPr lang="en-US" sz="1450" dirty="0">
                <a:solidFill>
                  <a:srgbClr val="1F2733"/>
                </a:solidFill>
                <a:latin typeface="Calibri" pitchFamily="34" charset="0"/>
                <a:ea typeface="Calibri" pitchFamily="34" charset="-122"/>
                <a:cs typeface="Calibri" pitchFamily="34" charset="-120"/>
              </a:rPr>
              <a:t>Build an AI-based image classification system</a:t>
            </a:r>
            <a:endParaRPr lang="en-US" sz="1450" dirty="0"/>
          </a:p>
        </p:txBody>
      </p:sp>
      <p:sp>
        <p:nvSpPr>
          <p:cNvPr id="8" name="Shape 6"/>
          <p:cNvSpPr/>
          <p:nvPr/>
        </p:nvSpPr>
        <p:spPr>
          <a:xfrm>
            <a:off x="640080" y="2624328"/>
            <a:ext cx="10881360" cy="658368"/>
          </a:xfrm>
          <a:prstGeom prst="roundRect">
            <a:avLst>
              <a:gd name="adj" fmla="val 11111"/>
            </a:avLst>
          </a:prstGeom>
          <a:solidFill>
            <a:srgbClr val="FFFFFF"/>
          </a:solidFill>
          <a:ln w="12700">
            <a:solidFill>
              <a:srgbClr val="DCE2E9"/>
            </a:solidFill>
            <a:prstDash val="solid"/>
          </a:ln>
        </p:spPr>
      </p:sp>
      <p:sp>
        <p:nvSpPr>
          <p:cNvPr id="9" name="Shape 7"/>
          <p:cNvSpPr/>
          <p:nvPr/>
        </p:nvSpPr>
        <p:spPr>
          <a:xfrm>
            <a:off x="868680" y="2724912"/>
            <a:ext cx="457200" cy="457200"/>
          </a:xfrm>
          <a:prstGeom prst="ellipse">
            <a:avLst/>
          </a:prstGeom>
          <a:solidFill>
            <a:srgbClr val="00B4A6"/>
          </a:solidFill>
          <a:ln/>
        </p:spPr>
      </p:sp>
      <p:sp>
        <p:nvSpPr>
          <p:cNvPr id="10" name="Text 8"/>
          <p:cNvSpPr/>
          <p:nvPr/>
        </p:nvSpPr>
        <p:spPr>
          <a:xfrm>
            <a:off x="868680" y="2724912"/>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1" name="Text 9"/>
          <p:cNvSpPr/>
          <p:nvPr/>
        </p:nvSpPr>
        <p:spPr>
          <a:xfrm>
            <a:off x="1600200" y="2624328"/>
            <a:ext cx="9692640" cy="658368"/>
          </a:xfrm>
          <a:prstGeom prst="rect">
            <a:avLst/>
          </a:prstGeom>
          <a:noFill/>
          <a:ln/>
        </p:spPr>
        <p:txBody>
          <a:bodyPr wrap="square" rtlCol="0" anchor="ctr"/>
          <a:lstStyle/>
          <a:p>
            <a:pPr marL="0" indent="0">
              <a:buNone/>
            </a:pPr>
            <a:r>
              <a:rPr lang="en-US" sz="1450" dirty="0">
                <a:solidFill>
                  <a:srgbClr val="1F2733"/>
                </a:solidFill>
                <a:latin typeface="Calibri" pitchFamily="34" charset="0"/>
                <a:ea typeface="Calibri" pitchFamily="34" charset="-122"/>
                <a:cs typeface="Calibri" pitchFamily="34" charset="-120"/>
              </a:rPr>
              <a:t>Combine multiple infrastructure-related datasets</a:t>
            </a:r>
            <a:endParaRPr lang="en-US" sz="1450" dirty="0"/>
          </a:p>
        </p:txBody>
      </p:sp>
      <p:sp>
        <p:nvSpPr>
          <p:cNvPr id="12" name="Shape 10"/>
          <p:cNvSpPr/>
          <p:nvPr/>
        </p:nvSpPr>
        <p:spPr>
          <a:xfrm>
            <a:off x="640080" y="3465576"/>
            <a:ext cx="10881360" cy="658368"/>
          </a:xfrm>
          <a:prstGeom prst="roundRect">
            <a:avLst>
              <a:gd name="adj" fmla="val 11111"/>
            </a:avLst>
          </a:prstGeom>
          <a:solidFill>
            <a:srgbClr val="FFFFFF"/>
          </a:solidFill>
          <a:ln w="12700">
            <a:solidFill>
              <a:srgbClr val="DCE2E9"/>
            </a:solidFill>
            <a:prstDash val="solid"/>
          </a:ln>
        </p:spPr>
      </p:sp>
      <p:sp>
        <p:nvSpPr>
          <p:cNvPr id="13" name="Shape 11"/>
          <p:cNvSpPr/>
          <p:nvPr/>
        </p:nvSpPr>
        <p:spPr>
          <a:xfrm>
            <a:off x="868680" y="3566160"/>
            <a:ext cx="457200" cy="457200"/>
          </a:xfrm>
          <a:prstGeom prst="ellipse">
            <a:avLst/>
          </a:prstGeom>
          <a:solidFill>
            <a:srgbClr val="00B4A6"/>
          </a:solidFill>
          <a:ln/>
        </p:spPr>
      </p:sp>
      <p:sp>
        <p:nvSpPr>
          <p:cNvPr id="14" name="Text 12"/>
          <p:cNvSpPr/>
          <p:nvPr/>
        </p:nvSpPr>
        <p:spPr>
          <a:xfrm>
            <a:off x="868680" y="356616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5" name="Text 13"/>
          <p:cNvSpPr/>
          <p:nvPr/>
        </p:nvSpPr>
        <p:spPr>
          <a:xfrm>
            <a:off x="1600200" y="3465576"/>
            <a:ext cx="9692640" cy="658368"/>
          </a:xfrm>
          <a:prstGeom prst="rect">
            <a:avLst/>
          </a:prstGeom>
          <a:noFill/>
          <a:ln/>
        </p:spPr>
        <p:txBody>
          <a:bodyPr wrap="square" rtlCol="0" anchor="ctr"/>
          <a:lstStyle/>
          <a:p>
            <a:pPr marL="0" indent="0">
              <a:buNone/>
            </a:pPr>
            <a:r>
              <a:rPr lang="en-US" sz="1450" dirty="0">
                <a:solidFill>
                  <a:srgbClr val="1F2733"/>
                </a:solidFill>
                <a:latin typeface="Calibri" pitchFamily="34" charset="0"/>
                <a:ea typeface="Calibri" pitchFamily="34" charset="-122"/>
                <a:cs typeface="Calibri" pitchFamily="34" charset="-120"/>
              </a:rPr>
              <a:t>Detect four categories: garbage, normal, pothole, road crack</a:t>
            </a:r>
            <a:endParaRPr lang="en-US" sz="1450" dirty="0"/>
          </a:p>
        </p:txBody>
      </p:sp>
      <p:sp>
        <p:nvSpPr>
          <p:cNvPr id="16" name="Shape 14"/>
          <p:cNvSpPr/>
          <p:nvPr/>
        </p:nvSpPr>
        <p:spPr>
          <a:xfrm>
            <a:off x="640080" y="4306824"/>
            <a:ext cx="10881360" cy="658368"/>
          </a:xfrm>
          <a:prstGeom prst="roundRect">
            <a:avLst>
              <a:gd name="adj" fmla="val 11111"/>
            </a:avLst>
          </a:prstGeom>
          <a:solidFill>
            <a:srgbClr val="FFFFFF"/>
          </a:solidFill>
          <a:ln w="12700">
            <a:solidFill>
              <a:srgbClr val="DCE2E9"/>
            </a:solidFill>
            <a:prstDash val="solid"/>
          </a:ln>
        </p:spPr>
      </p:sp>
      <p:sp>
        <p:nvSpPr>
          <p:cNvPr id="17" name="Shape 15"/>
          <p:cNvSpPr/>
          <p:nvPr/>
        </p:nvSpPr>
        <p:spPr>
          <a:xfrm>
            <a:off x="868680" y="4407408"/>
            <a:ext cx="457200" cy="457200"/>
          </a:xfrm>
          <a:prstGeom prst="ellipse">
            <a:avLst/>
          </a:prstGeom>
          <a:solidFill>
            <a:srgbClr val="00B4A6"/>
          </a:solidFill>
          <a:ln/>
        </p:spPr>
      </p:sp>
      <p:sp>
        <p:nvSpPr>
          <p:cNvPr id="18" name="Text 16"/>
          <p:cNvSpPr/>
          <p:nvPr/>
        </p:nvSpPr>
        <p:spPr>
          <a:xfrm>
            <a:off x="868680" y="4407408"/>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19" name="Text 17"/>
          <p:cNvSpPr/>
          <p:nvPr/>
        </p:nvSpPr>
        <p:spPr>
          <a:xfrm>
            <a:off x="1600200" y="4306824"/>
            <a:ext cx="9692640" cy="658368"/>
          </a:xfrm>
          <a:prstGeom prst="rect">
            <a:avLst/>
          </a:prstGeom>
          <a:noFill/>
          <a:ln/>
        </p:spPr>
        <p:txBody>
          <a:bodyPr wrap="square" rtlCol="0" anchor="ctr"/>
          <a:lstStyle/>
          <a:p>
            <a:pPr marL="0" indent="0">
              <a:buNone/>
            </a:pPr>
            <a:r>
              <a:rPr lang="en-US" sz="1450" dirty="0">
                <a:solidFill>
                  <a:srgbClr val="1F2733"/>
                </a:solidFill>
                <a:latin typeface="Calibri" pitchFamily="34" charset="0"/>
                <a:ea typeface="Calibri" pitchFamily="34" charset="-122"/>
                <a:cs typeface="Calibri" pitchFamily="34" charset="-120"/>
              </a:rPr>
              <a:t>Apply transfer learning using MobileNetV2</a:t>
            </a:r>
            <a:endParaRPr lang="en-US" sz="1450" dirty="0"/>
          </a:p>
        </p:txBody>
      </p:sp>
      <p:sp>
        <p:nvSpPr>
          <p:cNvPr id="20" name="Shape 18"/>
          <p:cNvSpPr/>
          <p:nvPr/>
        </p:nvSpPr>
        <p:spPr>
          <a:xfrm>
            <a:off x="640080" y="5148072"/>
            <a:ext cx="10881360" cy="658368"/>
          </a:xfrm>
          <a:prstGeom prst="roundRect">
            <a:avLst>
              <a:gd name="adj" fmla="val 11111"/>
            </a:avLst>
          </a:prstGeom>
          <a:solidFill>
            <a:srgbClr val="FFFFFF"/>
          </a:solidFill>
          <a:ln w="12700">
            <a:solidFill>
              <a:srgbClr val="DCE2E9"/>
            </a:solidFill>
            <a:prstDash val="solid"/>
          </a:ln>
        </p:spPr>
      </p:sp>
      <p:sp>
        <p:nvSpPr>
          <p:cNvPr id="21" name="Shape 19"/>
          <p:cNvSpPr/>
          <p:nvPr/>
        </p:nvSpPr>
        <p:spPr>
          <a:xfrm>
            <a:off x="868680" y="5248656"/>
            <a:ext cx="457200" cy="457200"/>
          </a:xfrm>
          <a:prstGeom prst="ellipse">
            <a:avLst/>
          </a:prstGeom>
          <a:solidFill>
            <a:srgbClr val="00B4A6"/>
          </a:solidFill>
          <a:ln/>
        </p:spPr>
      </p:sp>
      <p:sp>
        <p:nvSpPr>
          <p:cNvPr id="22" name="Text 20"/>
          <p:cNvSpPr/>
          <p:nvPr/>
        </p:nvSpPr>
        <p:spPr>
          <a:xfrm>
            <a:off x="868680" y="5248656"/>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23" name="Text 21"/>
          <p:cNvSpPr/>
          <p:nvPr/>
        </p:nvSpPr>
        <p:spPr>
          <a:xfrm>
            <a:off x="1600200" y="5148072"/>
            <a:ext cx="9692640" cy="658368"/>
          </a:xfrm>
          <a:prstGeom prst="rect">
            <a:avLst/>
          </a:prstGeom>
          <a:noFill/>
          <a:ln/>
        </p:spPr>
        <p:txBody>
          <a:bodyPr wrap="square" rtlCol="0" anchor="ctr"/>
          <a:lstStyle/>
          <a:p>
            <a:pPr marL="0" indent="0">
              <a:buNone/>
            </a:pPr>
            <a:r>
              <a:rPr lang="en-US" sz="1450" dirty="0">
                <a:solidFill>
                  <a:srgbClr val="1F2733"/>
                </a:solidFill>
                <a:latin typeface="Calibri" pitchFamily="34" charset="0"/>
                <a:ea typeface="Calibri" pitchFamily="34" charset="-122"/>
                <a:cs typeface="Calibri" pitchFamily="34" charset="-120"/>
              </a:rPr>
              <a:t>Develop a usable Streamlit interface</a:t>
            </a:r>
            <a:endParaRPr lang="en-US" sz="1450" dirty="0"/>
          </a:p>
        </p:txBody>
      </p:sp>
      <p:sp>
        <p:nvSpPr>
          <p:cNvPr id="24" name="Text 22"/>
          <p:cNvSpPr/>
          <p:nvPr/>
        </p:nvSpPr>
        <p:spPr>
          <a:xfrm>
            <a:off x="457200" y="6537960"/>
            <a:ext cx="6400800" cy="274320"/>
          </a:xfrm>
          <a:prstGeom prst="rect">
            <a:avLst/>
          </a:prstGeom>
          <a:noFill/>
          <a:ln/>
        </p:spPr>
        <p:txBody>
          <a:bodyPr wrap="square" rtlCol="0" anchor="ctr"/>
          <a:lstStyle/>
          <a:p>
            <a:r>
              <a:rPr lang="en-US" sz="900" b="1" dirty="0"/>
              <a:t>AI-Powered Public Infrastructure Issue Detection and Reporting System</a:t>
            </a:r>
          </a:p>
        </p:txBody>
      </p:sp>
      <p:sp>
        <p:nvSpPr>
          <p:cNvPr id="25" name="Text 23"/>
          <p:cNvSpPr/>
          <p:nvPr/>
        </p:nvSpPr>
        <p:spPr>
          <a:xfrm>
            <a:off x="11274552" y="6537960"/>
            <a:ext cx="457200" cy="274320"/>
          </a:xfrm>
          <a:prstGeom prst="rect">
            <a:avLst/>
          </a:prstGeom>
          <a:noFill/>
          <a:ln/>
        </p:spPr>
        <p:txBody>
          <a:bodyPr wrap="square"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3</a:t>
            </a:r>
            <a:endParaRPr lang="en-US" sz="90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9"/>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marL="0" indent="0">
              <a:buNone/>
            </a:pPr>
            <a:r>
              <a:rPr lang="en-US" sz="1200" b="1" kern="0" spc="200" dirty="0">
                <a:solidFill>
                  <a:srgbClr val="00867D"/>
                </a:solidFill>
                <a:latin typeface="Calibri" pitchFamily="34" charset="0"/>
                <a:ea typeface="Calibri" pitchFamily="34" charset="-122"/>
                <a:cs typeface="Calibri" pitchFamily="34" charset="-120"/>
              </a:rPr>
              <a:t>SOURCES &amp; FINAL DISTRIBUTION</a:t>
            </a:r>
            <a:endParaRPr lang="en-US" sz="1200" dirty="0"/>
          </a:p>
        </p:txBody>
      </p:sp>
      <p:sp>
        <p:nvSpPr>
          <p:cNvPr id="3" name="Text 1"/>
          <p:cNvSpPr/>
          <p:nvPr/>
        </p:nvSpPr>
        <p:spPr>
          <a:xfrm>
            <a:off x="548640" y="621792"/>
            <a:ext cx="10515600" cy="685800"/>
          </a:xfrm>
          <a:prstGeom prst="rect">
            <a:avLst/>
          </a:prstGeom>
          <a:noFill/>
          <a:ln/>
        </p:spPr>
        <p:txBody>
          <a:bodyPr wrap="square" rtlCol="0" anchor="ctr"/>
          <a:lstStyle/>
          <a:p>
            <a:pPr marL="0" indent="0">
              <a:buNone/>
            </a:pPr>
            <a:r>
              <a:rPr lang="en-US" sz="3200" b="1" dirty="0">
                <a:solidFill>
                  <a:srgbClr val="1F2733"/>
                </a:solidFill>
                <a:latin typeface="Cambria" pitchFamily="34" charset="0"/>
                <a:ea typeface="Cambria" pitchFamily="34" charset="-122"/>
                <a:cs typeface="Cambria" pitchFamily="34" charset="-120"/>
              </a:rPr>
              <a:t>Dataset</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40080" y="1691640"/>
          <a:ext cx="5486400" cy="2286000"/>
        </p:xfrm>
        <a:graphic>
          <a:graphicData uri="http://schemas.openxmlformats.org/drawingml/2006/table">
            <a:tbl>
              <a:tblPr/>
              <a:tblGrid>
                <a:gridCol w="2377440"/>
                <a:gridCol w="1463040"/>
                <a:gridCol w="1645920"/>
              </a:tblGrid>
              <a:tr h="365760">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Source Dataset</a:t>
                      </a:r>
                      <a:endParaRPr lang="en-US" sz="1050" dirty="0">
                        <a:latin typeface="Calibri" charset="0"/>
                        <a:ea typeface="Calibri" charset="0"/>
                        <a:cs typeface="Calibri" charset="0"/>
                      </a:endParaRPr>
                    </a:p>
                  </a:txBody>
                  <a:tcPr anchor="ctr">
                    <a:lnL w="9525" cap="flat" cmpd="sng" algn="ctr">
                      <a:solidFill>
                        <a:srgbClr val="DCE2E9"/>
                      </a:solidFill>
                      <a:prstDash val="solid"/>
                      <a:round/>
                      <a:headEnd type="none" w="med" len="med"/>
                      <a:tailEnd type="none" w="med" len="med"/>
                    </a:lnL>
                    <a:lnR w="9525" cap="flat" cmpd="sng" algn="ctr">
                      <a:solidFill>
                        <a:srgbClr val="DCE2E9"/>
                      </a:solidFill>
                      <a:prstDash val="solid"/>
                      <a:round/>
                      <a:headEnd type="none" w="med" len="med"/>
                      <a:tailEnd type="none" w="med" len="med"/>
                    </a:lnR>
                    <a:lnT w="9525" cap="flat" cmpd="sng" algn="ctr">
                      <a:solidFill>
                        <a:srgbClr val="DCE2E9"/>
                      </a:solidFill>
                      <a:prstDash val="solid"/>
                      <a:round/>
                      <a:headEnd type="none" w="med" len="med"/>
                      <a:tailEnd type="none" w="med" len="med"/>
                    </a:lnT>
                    <a:lnB w="9525" cap="flat" cmpd="sng" algn="ctr">
                      <a:solidFill>
                        <a:srgbClr val="DCE2E9"/>
                      </a:solidFill>
                      <a:prstDash val="solid"/>
                      <a:round/>
                      <a:headEnd type="none" w="med" len="med"/>
                      <a:tailEnd type="none" w="med" len="med"/>
                    </a:lnB>
                    <a:solidFill>
                      <a:srgbClr val="1B2A4A"/>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Original Images</a:t>
                      </a:r>
                      <a:endParaRPr lang="en-US" sz="1050" dirty="0">
                        <a:latin typeface="Calibri" charset="0"/>
                        <a:ea typeface="Calibri" charset="0"/>
                        <a:cs typeface="Calibri" charset="0"/>
                      </a:endParaRPr>
                    </a:p>
                  </a:txBody>
                  <a:tcPr anchor="ctr">
                    <a:lnL w="9525" cap="flat" cmpd="sng" algn="ctr">
                      <a:solidFill>
                        <a:srgbClr val="DCE2E9"/>
                      </a:solidFill>
                      <a:prstDash val="solid"/>
                      <a:round/>
                      <a:headEnd type="none" w="med" len="med"/>
                      <a:tailEnd type="none" w="med" len="med"/>
                    </a:lnL>
                    <a:lnR w="9525" cap="flat" cmpd="sng" algn="ctr">
                      <a:solidFill>
                        <a:srgbClr val="DCE2E9"/>
                      </a:solidFill>
                      <a:prstDash val="solid"/>
                      <a:round/>
                      <a:headEnd type="none" w="med" len="med"/>
                      <a:tailEnd type="none" w="med" len="med"/>
                    </a:lnR>
                    <a:lnT w="9525" cap="flat" cmpd="sng" algn="ctr">
                      <a:solidFill>
                        <a:srgbClr val="DCE2E9"/>
                      </a:solidFill>
                      <a:prstDash val="solid"/>
                      <a:round/>
                      <a:headEnd type="none" w="med" len="med"/>
                      <a:tailEnd type="none" w="med" len="med"/>
                    </a:lnT>
                    <a:lnB w="9525" cap="flat" cmpd="sng" algn="ctr">
                      <a:solidFill>
                        <a:srgbClr val="DCE2E9"/>
                      </a:solidFill>
                      <a:prstDash val="solid"/>
                      <a:round/>
                      <a:headEnd type="none" w="med" len="med"/>
                      <a:tailEnd type="none" w="med" len="med"/>
                    </a:lnB>
                    <a:solidFill>
                      <a:srgbClr val="1B2A4A"/>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Mapped To</a:t>
                      </a:r>
                      <a:endParaRPr lang="en-US" sz="1050" dirty="0">
                        <a:latin typeface="Calibri" charset="0"/>
                        <a:ea typeface="Calibri" charset="0"/>
                        <a:cs typeface="Calibri" charset="0"/>
                      </a:endParaRPr>
                    </a:p>
                  </a:txBody>
                  <a:tcPr anchor="ctr">
                    <a:lnL w="9525" cap="flat" cmpd="sng" algn="ctr">
                      <a:solidFill>
                        <a:srgbClr val="DCE2E9"/>
                      </a:solidFill>
                      <a:prstDash val="solid"/>
                      <a:round/>
                      <a:headEnd type="none" w="med" len="med"/>
                      <a:tailEnd type="none" w="med" len="med"/>
                    </a:lnL>
                    <a:lnR w="9525" cap="flat" cmpd="sng" algn="ctr">
                      <a:solidFill>
                        <a:srgbClr val="DCE2E9"/>
                      </a:solidFill>
                      <a:prstDash val="solid"/>
                      <a:round/>
                      <a:headEnd type="none" w="med" len="med"/>
                      <a:tailEnd type="none" w="med" len="med"/>
                    </a:lnR>
                    <a:lnT w="9525" cap="flat" cmpd="sng" algn="ctr">
                      <a:solidFill>
                        <a:srgbClr val="DCE2E9"/>
                      </a:solidFill>
                      <a:prstDash val="solid"/>
                      <a:round/>
                      <a:headEnd type="none" w="med" len="med"/>
                      <a:tailEnd type="none" w="med" len="med"/>
                    </a:lnT>
                    <a:lnB w="9525" cap="flat" cmpd="sng" algn="ctr">
                      <a:solidFill>
                        <a:srgbClr val="DCE2E9"/>
                      </a:solidFill>
                      <a:prstDash val="solid"/>
                      <a:round/>
                      <a:headEnd type="none" w="med" len="med"/>
                      <a:tailEnd type="none" w="med" len="med"/>
                    </a:lnB>
                    <a:solidFill>
                      <a:srgbClr val="1B2A4A"/>
                    </a:solidFill>
                  </a:tcPr>
                </a:tc>
              </a:tr>
              <a:tr h="685800">
                <a:tc>
                  <a:txBody>
                    <a:bodyPr/>
                    <a:lstStyle/>
                    <a:p>
                      <a:pPr marL="0" indent="0">
                        <a:buNone/>
                      </a:pPr>
                      <a:r>
                        <a:rPr lang="en-US" sz="1050" dirty="0">
                          <a:solidFill>
                            <a:srgbClr val="1F2733"/>
                          </a:solidFill>
                          <a:latin typeface="Calibri" pitchFamily="34" charset="0"/>
                          <a:ea typeface="Calibri" pitchFamily="34" charset="-122"/>
                          <a:cs typeface="Calibri" pitchFamily="34" charset="-120"/>
                        </a:rPr>
                        <a:t>Garbage Classification</a:t>
                      </a:r>
                      <a:endParaRPr lang="en-US" sz="1050" dirty="0">
                        <a:latin typeface="Calibri" charset="0"/>
                        <a:ea typeface="Calibri" charset="0"/>
                        <a:cs typeface="Calibri" charset="0"/>
                      </a:endParaRPr>
                    </a:p>
                    <a:p>
                      <a:pPr marL="0" indent="0">
                        <a:buNone/>
                      </a:pPr>
                      <a:r>
                        <a:rPr lang="en-US" sz="1050" dirty="0">
                          <a:solidFill>
                            <a:srgbClr val="1F2733"/>
                          </a:solidFill>
                          <a:latin typeface="Calibri" pitchFamily="34" charset="0"/>
                          <a:ea typeface="Calibri" pitchFamily="34" charset="-122"/>
                          <a:cs typeface="Calibri" pitchFamily="34" charset="-120"/>
                        </a:rPr>
                        <a:t>(12 sub-classes)</a:t>
                      </a:r>
                      <a:endParaRPr lang="en-US" sz="1050" dirty="0">
                        <a:latin typeface="Calibri" charset="0"/>
                        <a:ea typeface="Calibri" charset="0"/>
                        <a:cs typeface="Calibri" charset="0"/>
                      </a:endParaRPr>
                    </a:p>
                  </a:txBody>
                  <a:tcPr anchor="ctr">
                    <a:lnL w="9525" cap="flat" cmpd="sng" algn="ctr">
                      <a:solidFill>
                        <a:srgbClr val="DCE2E9"/>
                      </a:solidFill>
                      <a:prstDash val="solid"/>
                      <a:round/>
                      <a:headEnd type="none" w="med" len="med"/>
                      <a:tailEnd type="none" w="med" len="med"/>
                    </a:lnL>
                    <a:lnR w="9525" cap="flat" cmpd="sng" algn="ctr">
                      <a:solidFill>
                        <a:srgbClr val="DCE2E9"/>
                      </a:solidFill>
                      <a:prstDash val="solid"/>
                      <a:round/>
                      <a:headEnd type="none" w="med" len="med"/>
                      <a:tailEnd type="none" w="med" len="med"/>
                    </a:lnR>
                    <a:lnT w="9525" cap="flat" cmpd="sng" algn="ctr">
                      <a:solidFill>
                        <a:srgbClr val="DCE2E9"/>
                      </a:solidFill>
                      <a:prstDash val="solid"/>
                      <a:round/>
                      <a:headEnd type="none" w="med" len="med"/>
                      <a:tailEnd type="none" w="med" len="med"/>
                    </a:lnT>
                    <a:lnB w="9525" cap="flat" cmpd="sng" algn="ctr">
                      <a:solidFill>
                        <a:srgbClr val="DCE2E9"/>
                      </a:solidFill>
                      <a:prstDash val="solid"/>
                      <a:round/>
                      <a:headEnd type="none" w="med" len="med"/>
                      <a:tailEnd type="none" w="med" len="med"/>
                    </a:lnB>
                  </a:tcPr>
                </a:tc>
                <a:tc>
                  <a:txBody>
                    <a:bodyPr/>
                    <a:lstStyle/>
                    <a:p>
                      <a:pPr marL="0" indent="0">
                        <a:buNone/>
                      </a:pPr>
                      <a:r>
                        <a:rPr lang="en-US" sz="1050" dirty="0">
                          <a:solidFill>
                            <a:srgbClr val="1F2733"/>
                          </a:solidFill>
                          <a:latin typeface="Calibri" pitchFamily="34" charset="0"/>
                          <a:ea typeface="Calibri" pitchFamily="34" charset="-122"/>
                          <a:cs typeface="Calibri" pitchFamily="34" charset="-120"/>
                        </a:rPr>
                        <a:t>15,515</a:t>
                      </a:r>
                      <a:endParaRPr lang="en-US" sz="1050" dirty="0">
                        <a:latin typeface="Calibri" charset="0"/>
                        <a:ea typeface="Calibri" charset="0"/>
                        <a:cs typeface="Calibri" charset="0"/>
                      </a:endParaRPr>
                    </a:p>
                  </a:txBody>
                  <a:tcPr anchor="ctr">
                    <a:lnL w="9525" cap="flat" cmpd="sng" algn="ctr">
                      <a:solidFill>
                        <a:srgbClr val="DCE2E9"/>
                      </a:solidFill>
                      <a:prstDash val="solid"/>
                      <a:round/>
                      <a:headEnd type="none" w="med" len="med"/>
                      <a:tailEnd type="none" w="med" len="med"/>
                    </a:lnL>
                    <a:lnR w="9525" cap="flat" cmpd="sng" algn="ctr">
                      <a:solidFill>
                        <a:srgbClr val="DCE2E9"/>
                      </a:solidFill>
                      <a:prstDash val="solid"/>
                      <a:round/>
                      <a:headEnd type="none" w="med" len="med"/>
                      <a:tailEnd type="none" w="med" len="med"/>
                    </a:lnR>
                    <a:lnT w="9525" cap="flat" cmpd="sng" algn="ctr">
                      <a:solidFill>
                        <a:srgbClr val="DCE2E9"/>
                      </a:solidFill>
                      <a:prstDash val="solid"/>
                      <a:round/>
                      <a:headEnd type="none" w="med" len="med"/>
                      <a:tailEnd type="none" w="med" len="med"/>
                    </a:lnT>
                    <a:lnB w="9525" cap="flat" cmpd="sng" algn="ctr">
                      <a:solidFill>
                        <a:srgbClr val="DCE2E9"/>
                      </a:solidFill>
                      <a:prstDash val="solid"/>
                      <a:round/>
                      <a:headEnd type="none" w="med" len="med"/>
                      <a:tailEnd type="none" w="med" len="med"/>
                    </a:lnB>
                  </a:tcPr>
                </a:tc>
                <a:tc>
                  <a:txBody>
                    <a:bodyPr/>
                    <a:lstStyle/>
                    <a:p>
                      <a:pPr marL="0" indent="0">
                        <a:buNone/>
                      </a:pPr>
                      <a:r>
                        <a:rPr lang="en-US" sz="1050" dirty="0">
                          <a:solidFill>
                            <a:srgbClr val="1F2733"/>
                          </a:solidFill>
                          <a:latin typeface="Calibri" pitchFamily="34" charset="0"/>
                          <a:ea typeface="Calibri" pitchFamily="34" charset="-122"/>
                          <a:cs typeface="Calibri" pitchFamily="34" charset="-120"/>
                        </a:rPr>
                        <a:t>Garbage</a:t>
                      </a:r>
                      <a:endParaRPr lang="en-US" sz="1050" dirty="0">
                        <a:latin typeface="Calibri" charset="0"/>
                        <a:ea typeface="Calibri" charset="0"/>
                        <a:cs typeface="Calibri" charset="0"/>
                      </a:endParaRPr>
                    </a:p>
                  </a:txBody>
                  <a:tcPr anchor="ctr">
                    <a:lnL w="9525" cap="flat" cmpd="sng" algn="ctr">
                      <a:solidFill>
                        <a:srgbClr val="DCE2E9"/>
                      </a:solidFill>
                      <a:prstDash val="solid"/>
                      <a:round/>
                      <a:headEnd type="none" w="med" len="med"/>
                      <a:tailEnd type="none" w="med" len="med"/>
                    </a:lnL>
                    <a:lnR w="9525" cap="flat" cmpd="sng" algn="ctr">
                      <a:solidFill>
                        <a:srgbClr val="DCE2E9"/>
                      </a:solidFill>
                      <a:prstDash val="solid"/>
                      <a:round/>
                      <a:headEnd type="none" w="med" len="med"/>
                      <a:tailEnd type="none" w="med" len="med"/>
                    </a:lnR>
                    <a:lnT w="9525" cap="flat" cmpd="sng" algn="ctr">
                      <a:solidFill>
                        <a:srgbClr val="DCE2E9"/>
                      </a:solidFill>
                      <a:prstDash val="solid"/>
                      <a:round/>
                      <a:headEnd type="none" w="med" len="med"/>
                      <a:tailEnd type="none" w="med" len="med"/>
                    </a:lnT>
                    <a:lnB w="9525" cap="flat" cmpd="sng" algn="ctr">
                      <a:solidFill>
                        <a:srgbClr val="DCE2E9"/>
                      </a:solidFill>
                      <a:prstDash val="solid"/>
                      <a:round/>
                      <a:headEnd type="none" w="med" len="med"/>
                      <a:tailEnd type="none" w="med" len="med"/>
                    </a:lnB>
                  </a:tcPr>
                </a:tc>
              </a:tr>
              <a:tr h="548640">
                <a:tc>
                  <a:txBody>
                    <a:bodyPr/>
                    <a:lstStyle/>
                    <a:p>
                      <a:pPr marL="0" indent="0">
                        <a:buNone/>
                      </a:pPr>
                      <a:r>
                        <a:rPr lang="en-US" sz="1050" dirty="0">
                          <a:solidFill>
                            <a:srgbClr val="1F2733"/>
                          </a:solidFill>
                          <a:latin typeface="Calibri" pitchFamily="34" charset="0"/>
                          <a:ea typeface="Calibri" pitchFamily="34" charset="-122"/>
                          <a:cs typeface="Calibri" pitchFamily="34" charset="-120"/>
                        </a:rPr>
                        <a:t>Pothole Dataset</a:t>
                      </a:r>
                      <a:endParaRPr lang="en-US" sz="1050" dirty="0">
                        <a:latin typeface="Calibri" charset="0"/>
                        <a:ea typeface="Calibri" charset="0"/>
                        <a:cs typeface="Calibri" charset="0"/>
                      </a:endParaRPr>
                    </a:p>
                  </a:txBody>
                  <a:tcPr anchor="ctr">
                    <a:lnL w="9525" cap="flat" cmpd="sng" algn="ctr">
                      <a:solidFill>
                        <a:srgbClr val="DCE2E9"/>
                      </a:solidFill>
                      <a:prstDash val="solid"/>
                      <a:round/>
                      <a:headEnd type="none" w="med" len="med"/>
                      <a:tailEnd type="none" w="med" len="med"/>
                    </a:lnL>
                    <a:lnR w="9525" cap="flat" cmpd="sng" algn="ctr">
                      <a:solidFill>
                        <a:srgbClr val="DCE2E9"/>
                      </a:solidFill>
                      <a:prstDash val="solid"/>
                      <a:round/>
                      <a:headEnd type="none" w="med" len="med"/>
                      <a:tailEnd type="none" w="med" len="med"/>
                    </a:lnR>
                    <a:lnT w="9525" cap="flat" cmpd="sng" algn="ctr">
                      <a:solidFill>
                        <a:srgbClr val="DCE2E9"/>
                      </a:solidFill>
                      <a:prstDash val="solid"/>
                      <a:round/>
                      <a:headEnd type="none" w="med" len="med"/>
                      <a:tailEnd type="none" w="med" len="med"/>
                    </a:lnT>
                    <a:lnB w="9525" cap="flat" cmpd="sng" algn="ctr">
                      <a:solidFill>
                        <a:srgbClr val="DCE2E9"/>
                      </a:solidFill>
                      <a:prstDash val="solid"/>
                      <a:round/>
                      <a:headEnd type="none" w="med" len="med"/>
                      <a:tailEnd type="none" w="med" len="med"/>
                    </a:lnB>
                  </a:tcPr>
                </a:tc>
                <a:tc>
                  <a:txBody>
                    <a:bodyPr/>
                    <a:lstStyle/>
                    <a:p>
                      <a:pPr marL="0" indent="0">
                        <a:buNone/>
                      </a:pPr>
                      <a:r>
                        <a:rPr lang="en-US" sz="1050" dirty="0">
                          <a:solidFill>
                            <a:srgbClr val="1F2733"/>
                          </a:solidFill>
                          <a:latin typeface="Calibri" pitchFamily="34" charset="0"/>
                          <a:ea typeface="Calibri" pitchFamily="34" charset="-122"/>
                          <a:cs typeface="Calibri" pitchFamily="34" charset="-120"/>
                        </a:rPr>
                        <a:t>1,401</a:t>
                      </a:r>
                      <a:endParaRPr lang="en-US" sz="1050" dirty="0">
                        <a:latin typeface="Calibri" charset="0"/>
                        <a:ea typeface="Calibri" charset="0"/>
                        <a:cs typeface="Calibri" charset="0"/>
                      </a:endParaRPr>
                    </a:p>
                  </a:txBody>
                  <a:tcPr anchor="ctr">
                    <a:lnL w="9525" cap="flat" cmpd="sng" algn="ctr">
                      <a:solidFill>
                        <a:srgbClr val="DCE2E9"/>
                      </a:solidFill>
                      <a:prstDash val="solid"/>
                      <a:round/>
                      <a:headEnd type="none" w="med" len="med"/>
                      <a:tailEnd type="none" w="med" len="med"/>
                    </a:lnL>
                    <a:lnR w="9525" cap="flat" cmpd="sng" algn="ctr">
                      <a:solidFill>
                        <a:srgbClr val="DCE2E9"/>
                      </a:solidFill>
                      <a:prstDash val="solid"/>
                      <a:round/>
                      <a:headEnd type="none" w="med" len="med"/>
                      <a:tailEnd type="none" w="med" len="med"/>
                    </a:lnR>
                    <a:lnT w="9525" cap="flat" cmpd="sng" algn="ctr">
                      <a:solidFill>
                        <a:srgbClr val="DCE2E9"/>
                      </a:solidFill>
                      <a:prstDash val="solid"/>
                      <a:round/>
                      <a:headEnd type="none" w="med" len="med"/>
                      <a:tailEnd type="none" w="med" len="med"/>
                    </a:lnT>
                    <a:lnB w="9525" cap="flat" cmpd="sng" algn="ctr">
                      <a:solidFill>
                        <a:srgbClr val="DCE2E9"/>
                      </a:solidFill>
                      <a:prstDash val="solid"/>
                      <a:round/>
                      <a:headEnd type="none" w="med" len="med"/>
                      <a:tailEnd type="none" w="med" len="med"/>
                    </a:lnB>
                  </a:tcPr>
                </a:tc>
                <a:tc>
                  <a:txBody>
                    <a:bodyPr/>
                    <a:lstStyle/>
                    <a:p>
                      <a:pPr marL="0" indent="0">
                        <a:buNone/>
                      </a:pPr>
                      <a:r>
                        <a:rPr lang="en-US" sz="1050" dirty="0">
                          <a:solidFill>
                            <a:srgbClr val="1F2733"/>
                          </a:solidFill>
                          <a:latin typeface="Calibri" pitchFamily="34" charset="0"/>
                          <a:ea typeface="Calibri" pitchFamily="34" charset="-122"/>
                          <a:cs typeface="Calibri" pitchFamily="34" charset="-120"/>
                        </a:rPr>
                        <a:t>Normal / Pothole</a:t>
                      </a:r>
                      <a:endParaRPr lang="en-US" sz="1050" dirty="0">
                        <a:latin typeface="Calibri" charset="0"/>
                        <a:ea typeface="Calibri" charset="0"/>
                        <a:cs typeface="Calibri" charset="0"/>
                      </a:endParaRPr>
                    </a:p>
                  </a:txBody>
                  <a:tcPr anchor="ctr">
                    <a:lnL w="9525" cap="flat" cmpd="sng" algn="ctr">
                      <a:solidFill>
                        <a:srgbClr val="DCE2E9"/>
                      </a:solidFill>
                      <a:prstDash val="solid"/>
                      <a:round/>
                      <a:headEnd type="none" w="med" len="med"/>
                      <a:tailEnd type="none" w="med" len="med"/>
                    </a:lnL>
                    <a:lnR w="9525" cap="flat" cmpd="sng" algn="ctr">
                      <a:solidFill>
                        <a:srgbClr val="DCE2E9"/>
                      </a:solidFill>
                      <a:prstDash val="solid"/>
                      <a:round/>
                      <a:headEnd type="none" w="med" len="med"/>
                      <a:tailEnd type="none" w="med" len="med"/>
                    </a:lnR>
                    <a:lnT w="9525" cap="flat" cmpd="sng" algn="ctr">
                      <a:solidFill>
                        <a:srgbClr val="DCE2E9"/>
                      </a:solidFill>
                      <a:prstDash val="solid"/>
                      <a:round/>
                      <a:headEnd type="none" w="med" len="med"/>
                      <a:tailEnd type="none" w="med" len="med"/>
                    </a:lnT>
                    <a:lnB w="9525" cap="flat" cmpd="sng" algn="ctr">
                      <a:solidFill>
                        <a:srgbClr val="DCE2E9"/>
                      </a:solidFill>
                      <a:prstDash val="solid"/>
                      <a:round/>
                      <a:headEnd type="none" w="med" len="med"/>
                      <a:tailEnd type="none" w="med" len="med"/>
                    </a:lnB>
                  </a:tcPr>
                </a:tc>
              </a:tr>
              <a:tr h="685800">
                <a:tc>
                  <a:txBody>
                    <a:bodyPr/>
                    <a:lstStyle/>
                    <a:p>
                      <a:pPr marL="0" indent="0">
                        <a:buNone/>
                      </a:pPr>
                      <a:r>
                        <a:rPr lang="en-US" sz="1050" dirty="0">
                          <a:solidFill>
                            <a:srgbClr val="1F2733"/>
                          </a:solidFill>
                          <a:latin typeface="Calibri" pitchFamily="34" charset="0"/>
                          <a:ea typeface="Calibri" pitchFamily="34" charset="-122"/>
                          <a:cs typeface="Calibri" pitchFamily="34" charset="-120"/>
                        </a:rPr>
                        <a:t>Road Crack Dataset</a:t>
                      </a:r>
                      <a:endParaRPr lang="en-US" sz="1050" dirty="0">
                        <a:latin typeface="Calibri" charset="0"/>
                        <a:ea typeface="Calibri" charset="0"/>
                        <a:cs typeface="Calibri" charset="0"/>
                      </a:endParaRPr>
                    </a:p>
                    <a:p>
                      <a:pPr marL="0" indent="0">
                        <a:buNone/>
                      </a:pPr>
                      <a:r>
                        <a:rPr lang="en-US" sz="1050" dirty="0">
                          <a:solidFill>
                            <a:srgbClr val="1F2733"/>
                          </a:solidFill>
                          <a:latin typeface="Calibri" pitchFamily="34" charset="0"/>
                          <a:ea typeface="Calibri" pitchFamily="34" charset="-122"/>
                          <a:cs typeface="Calibri" pitchFamily="34" charset="-120"/>
                        </a:rPr>
                        <a:t>(Negative / Positive)</a:t>
                      </a:r>
                      <a:endParaRPr lang="en-US" sz="1050" dirty="0">
                        <a:latin typeface="Calibri" charset="0"/>
                        <a:ea typeface="Calibri" charset="0"/>
                        <a:cs typeface="Calibri" charset="0"/>
                      </a:endParaRPr>
                    </a:p>
                  </a:txBody>
                  <a:tcPr anchor="ctr">
                    <a:lnL w="9525" cap="flat" cmpd="sng" algn="ctr">
                      <a:solidFill>
                        <a:srgbClr val="DCE2E9"/>
                      </a:solidFill>
                      <a:prstDash val="solid"/>
                      <a:round/>
                      <a:headEnd type="none" w="med" len="med"/>
                      <a:tailEnd type="none" w="med" len="med"/>
                    </a:lnL>
                    <a:lnR w="9525" cap="flat" cmpd="sng" algn="ctr">
                      <a:solidFill>
                        <a:srgbClr val="DCE2E9"/>
                      </a:solidFill>
                      <a:prstDash val="solid"/>
                      <a:round/>
                      <a:headEnd type="none" w="med" len="med"/>
                      <a:tailEnd type="none" w="med" len="med"/>
                    </a:lnR>
                    <a:lnT w="9525" cap="flat" cmpd="sng" algn="ctr">
                      <a:solidFill>
                        <a:srgbClr val="DCE2E9"/>
                      </a:solidFill>
                      <a:prstDash val="solid"/>
                      <a:round/>
                      <a:headEnd type="none" w="med" len="med"/>
                      <a:tailEnd type="none" w="med" len="med"/>
                    </a:lnT>
                    <a:lnB w="9525" cap="flat" cmpd="sng" algn="ctr">
                      <a:solidFill>
                        <a:srgbClr val="DCE2E9"/>
                      </a:solidFill>
                      <a:prstDash val="solid"/>
                      <a:round/>
                      <a:headEnd type="none" w="med" len="med"/>
                      <a:tailEnd type="none" w="med" len="med"/>
                    </a:lnB>
                  </a:tcPr>
                </a:tc>
                <a:tc>
                  <a:txBody>
                    <a:bodyPr/>
                    <a:lstStyle/>
                    <a:p>
                      <a:pPr marL="0" indent="0">
                        <a:buNone/>
                      </a:pPr>
                      <a:r>
                        <a:rPr lang="en-US" sz="1050" dirty="0">
                          <a:solidFill>
                            <a:srgbClr val="1F2733"/>
                          </a:solidFill>
                          <a:latin typeface="Calibri" pitchFamily="34" charset="0"/>
                          <a:ea typeface="Calibri" pitchFamily="34" charset="-122"/>
                          <a:cs typeface="Calibri" pitchFamily="34" charset="-120"/>
                        </a:rPr>
                        <a:t>40,000</a:t>
                      </a:r>
                      <a:endParaRPr lang="en-US" sz="1050" dirty="0">
                        <a:latin typeface="Calibri" charset="0"/>
                        <a:ea typeface="Calibri" charset="0"/>
                        <a:cs typeface="Calibri" charset="0"/>
                      </a:endParaRPr>
                    </a:p>
                  </a:txBody>
                  <a:tcPr anchor="ctr">
                    <a:lnL w="9525" cap="flat" cmpd="sng" algn="ctr">
                      <a:solidFill>
                        <a:srgbClr val="DCE2E9"/>
                      </a:solidFill>
                      <a:prstDash val="solid"/>
                      <a:round/>
                      <a:headEnd type="none" w="med" len="med"/>
                      <a:tailEnd type="none" w="med" len="med"/>
                    </a:lnL>
                    <a:lnR w="9525" cap="flat" cmpd="sng" algn="ctr">
                      <a:solidFill>
                        <a:srgbClr val="DCE2E9"/>
                      </a:solidFill>
                      <a:prstDash val="solid"/>
                      <a:round/>
                      <a:headEnd type="none" w="med" len="med"/>
                      <a:tailEnd type="none" w="med" len="med"/>
                    </a:lnR>
                    <a:lnT w="9525" cap="flat" cmpd="sng" algn="ctr">
                      <a:solidFill>
                        <a:srgbClr val="DCE2E9"/>
                      </a:solidFill>
                      <a:prstDash val="solid"/>
                      <a:round/>
                      <a:headEnd type="none" w="med" len="med"/>
                      <a:tailEnd type="none" w="med" len="med"/>
                    </a:lnT>
                    <a:lnB w="9525" cap="flat" cmpd="sng" algn="ctr">
                      <a:solidFill>
                        <a:srgbClr val="DCE2E9"/>
                      </a:solidFill>
                      <a:prstDash val="solid"/>
                      <a:round/>
                      <a:headEnd type="none" w="med" len="med"/>
                      <a:tailEnd type="none" w="med" len="med"/>
                    </a:lnB>
                  </a:tcPr>
                </a:tc>
                <a:tc>
                  <a:txBody>
                    <a:bodyPr/>
                    <a:lstStyle/>
                    <a:p>
                      <a:pPr marL="0" indent="0">
                        <a:buNone/>
                      </a:pPr>
                      <a:r>
                        <a:rPr lang="en-US" sz="1050" dirty="0">
                          <a:solidFill>
                            <a:srgbClr val="1F2733"/>
                          </a:solidFill>
                          <a:latin typeface="Calibri" pitchFamily="34" charset="0"/>
                          <a:ea typeface="Calibri" pitchFamily="34" charset="-122"/>
                          <a:cs typeface="Calibri" pitchFamily="34" charset="-120"/>
                        </a:rPr>
                        <a:t>Normal / Road Crack</a:t>
                      </a:r>
                      <a:endParaRPr lang="en-US" sz="1050" dirty="0">
                        <a:latin typeface="Calibri" charset="0"/>
                        <a:ea typeface="Calibri" charset="0"/>
                        <a:cs typeface="Calibri" charset="0"/>
                      </a:endParaRPr>
                    </a:p>
                  </a:txBody>
                  <a:tcPr anchor="ctr">
                    <a:lnL w="9525" cap="flat" cmpd="sng" algn="ctr">
                      <a:solidFill>
                        <a:srgbClr val="DCE2E9"/>
                      </a:solidFill>
                      <a:prstDash val="solid"/>
                      <a:round/>
                      <a:headEnd type="none" w="med" len="med"/>
                      <a:tailEnd type="none" w="med" len="med"/>
                    </a:lnL>
                    <a:lnR w="9525" cap="flat" cmpd="sng" algn="ctr">
                      <a:solidFill>
                        <a:srgbClr val="DCE2E9"/>
                      </a:solidFill>
                      <a:prstDash val="solid"/>
                      <a:round/>
                      <a:headEnd type="none" w="med" len="med"/>
                      <a:tailEnd type="none" w="med" len="med"/>
                    </a:lnR>
                    <a:lnT w="9525" cap="flat" cmpd="sng" algn="ctr">
                      <a:solidFill>
                        <a:srgbClr val="DCE2E9"/>
                      </a:solidFill>
                      <a:prstDash val="solid"/>
                      <a:round/>
                      <a:headEnd type="none" w="med" len="med"/>
                      <a:tailEnd type="none" w="med" len="med"/>
                    </a:lnT>
                    <a:lnB w="9525" cap="flat" cmpd="sng" algn="ctr">
                      <a:solidFill>
                        <a:srgbClr val="DCE2E9"/>
                      </a:solidFill>
                      <a:prstDash val="solid"/>
                      <a:round/>
                      <a:headEnd type="none" w="med" len="med"/>
                      <a:tailEnd type="none" w="med" len="med"/>
                    </a:lnB>
                  </a:tcPr>
                </a:tc>
              </a:tr>
            </a:tbl>
          </a:graphicData>
        </a:graphic>
      </p:graphicFrame>
      <p:sp>
        <p:nvSpPr>
          <p:cNvPr id="4" name="Text 2"/>
          <p:cNvSpPr/>
          <p:nvPr/>
        </p:nvSpPr>
        <p:spPr>
          <a:xfrm>
            <a:off x="640080" y="4709160"/>
            <a:ext cx="5486400" cy="320040"/>
          </a:xfrm>
          <a:prstGeom prst="rect">
            <a:avLst/>
          </a:prstGeom>
          <a:noFill/>
          <a:ln/>
        </p:spPr>
        <p:txBody>
          <a:bodyPr wrap="square" rtlCol="0" anchor="ctr"/>
          <a:lstStyle/>
          <a:p>
            <a:pPr marL="0" indent="0">
              <a:buNone/>
            </a:pPr>
            <a:r>
              <a:rPr lang="en-US" sz="1200" b="1" dirty="0">
                <a:solidFill>
                  <a:srgbClr val="1B2A4A"/>
                </a:solidFill>
                <a:latin typeface="Calibri" pitchFamily="34" charset="0"/>
                <a:ea typeface="Calibri" pitchFamily="34" charset="-122"/>
                <a:cs typeface="Calibri" pitchFamily="34" charset="-120"/>
              </a:rPr>
              <a:t>Final dataset: 56,916 images across 4 unified classes</a:t>
            </a:r>
            <a:endParaRPr lang="en-US" sz="1200" dirty="0"/>
          </a:p>
        </p:txBody>
      </p:sp>
      <p:sp>
        <p:nvSpPr>
          <p:cNvPr id="6" name="Text 3"/>
          <p:cNvSpPr/>
          <p:nvPr/>
        </p:nvSpPr>
        <p:spPr>
          <a:xfrm>
            <a:off x="640080" y="5047488"/>
            <a:ext cx="5486400" cy="320040"/>
          </a:xfrm>
          <a:prstGeom prst="rect">
            <a:avLst/>
          </a:prstGeom>
          <a:noFill/>
          <a:ln/>
        </p:spPr>
        <p:txBody>
          <a:bodyPr wrap="square" rtlCol="0" anchor="ctr"/>
          <a:lstStyle/>
          <a:p>
            <a:pPr marL="0" indent="0">
              <a:buNone/>
            </a:pPr>
            <a:r>
              <a:rPr lang="en-US" sz="1100" dirty="0">
                <a:solidFill>
                  <a:srgbClr val="5B6472"/>
                </a:solidFill>
                <a:latin typeface="Calibri" pitchFamily="34" charset="0"/>
                <a:ea typeface="Calibri" pitchFamily="34" charset="-122"/>
                <a:cs typeface="Calibri" pitchFamily="34" charset="-120"/>
              </a:rPr>
              <a:t>Split: 39,841 train  ·  8,537 validation  ·  8,538 test</a:t>
            </a:r>
            <a:endParaRPr lang="en-US" sz="1100" dirty="0"/>
          </a:p>
        </p:txBody>
      </p:sp>
      <p:graphicFrame>
        <p:nvGraphicFramePr>
          <p:cNvPr id="7" name="Chart 0"/>
          <p:cNvGraphicFramePr/>
          <p:nvPr/>
        </p:nvGraphicFramePr>
        <p:xfrm>
          <a:off x="6355080" y="1600200"/>
          <a:ext cx="5212080" cy="3886200"/>
        </p:xfrm>
        <a:graphic>
          <a:graphicData uri="http://schemas.openxmlformats.org/drawingml/2006/chart">
            <c:chart xmlns:c="http://schemas.openxmlformats.org/drawingml/2006/chart" xmlns:r="http://schemas.openxmlformats.org/officeDocument/2006/relationships" r:id="rId3"/>
          </a:graphicData>
        </a:graphic>
      </p:graphicFrame>
      <p:sp>
        <p:nvSpPr>
          <p:cNvPr id="8" name="Shape 4"/>
          <p:cNvSpPr/>
          <p:nvPr/>
        </p:nvSpPr>
        <p:spPr>
          <a:xfrm>
            <a:off x="6355080" y="5623560"/>
            <a:ext cx="5212080" cy="594360"/>
          </a:xfrm>
          <a:prstGeom prst="roundRect">
            <a:avLst>
              <a:gd name="adj" fmla="val 12308"/>
            </a:avLst>
          </a:prstGeom>
          <a:solidFill>
            <a:srgbClr val="FCEFDD"/>
          </a:solidFill>
          <a:ln w="12700">
            <a:solidFill>
              <a:srgbClr val="E0912F"/>
            </a:solidFill>
            <a:prstDash val="solid"/>
          </a:ln>
        </p:spPr>
      </p:sp>
      <p:sp>
        <p:nvSpPr>
          <p:cNvPr id="9" name="Text 5"/>
          <p:cNvSpPr/>
          <p:nvPr/>
        </p:nvSpPr>
        <p:spPr>
          <a:xfrm>
            <a:off x="6537960" y="5623560"/>
            <a:ext cx="4892040" cy="594360"/>
          </a:xfrm>
          <a:prstGeom prst="rect">
            <a:avLst/>
          </a:prstGeom>
          <a:noFill/>
          <a:ln/>
        </p:spPr>
        <p:txBody>
          <a:bodyPr wrap="square" rtlCol="0" anchor="ctr"/>
          <a:lstStyle/>
          <a:p>
            <a:pPr marL="0" indent="0">
              <a:buNone/>
            </a:pPr>
            <a:r>
              <a:rPr lang="en-US" sz="1050" dirty="0">
                <a:solidFill>
                  <a:srgbClr val="6B4A17"/>
                </a:solidFill>
                <a:latin typeface="Calibri" pitchFamily="34" charset="0"/>
                <a:ea typeface="Calibri" pitchFamily="34" charset="-122"/>
                <a:cs typeface="Calibri" pitchFamily="34" charset="-120"/>
              </a:rPr>
              <a:t>Class imbalance: Pothole has only 991 images vs 15,000–20,000+ for the others.</a:t>
            </a:r>
            <a:endParaRPr lang="en-US" sz="1050" dirty="0"/>
          </a:p>
        </p:txBody>
      </p:sp>
      <p:sp>
        <p:nvSpPr>
          <p:cNvPr id="10" name="Text 6"/>
          <p:cNvSpPr/>
          <p:nvPr/>
        </p:nvSpPr>
        <p:spPr>
          <a:xfrm>
            <a:off x="457200" y="6537960"/>
            <a:ext cx="6400800" cy="274320"/>
          </a:xfrm>
          <a:prstGeom prst="rect">
            <a:avLst/>
          </a:prstGeom>
          <a:noFill/>
          <a:ln/>
        </p:spPr>
        <p:txBody>
          <a:bodyPr wrap="square" rtlCol="0" anchor="ctr"/>
          <a:lstStyle/>
          <a:p>
            <a:r>
              <a:rPr lang="en-US" sz="900" b="1" dirty="0"/>
              <a:t>AI-Powered Public Infrastructure Issue Detection and Reporting System</a:t>
            </a:r>
          </a:p>
        </p:txBody>
      </p:sp>
      <p:sp>
        <p:nvSpPr>
          <p:cNvPr id="11" name="Text 7"/>
          <p:cNvSpPr/>
          <p:nvPr/>
        </p:nvSpPr>
        <p:spPr>
          <a:xfrm>
            <a:off x="11274552" y="6537960"/>
            <a:ext cx="457200" cy="274320"/>
          </a:xfrm>
          <a:prstGeom prst="rect">
            <a:avLst/>
          </a:prstGeom>
          <a:noFill/>
          <a:ln/>
        </p:spPr>
        <p:txBody>
          <a:bodyPr wrap="square"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4</a:t>
            </a:r>
            <a:endParaRPr lang="en-US" sz="9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9"/>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marL="0" indent="0">
              <a:buNone/>
            </a:pPr>
            <a:r>
              <a:rPr lang="en-US" sz="1200" b="1" kern="0" spc="200" dirty="0">
                <a:solidFill>
                  <a:srgbClr val="00867D"/>
                </a:solidFill>
                <a:latin typeface="Calibri" pitchFamily="34" charset="0"/>
                <a:ea typeface="Calibri" pitchFamily="34" charset="-122"/>
                <a:cs typeface="Calibri" pitchFamily="34" charset="-120"/>
              </a:rPr>
              <a:t>FROM RAW DOWNLOADS TO ONE DATASET</a:t>
            </a:r>
            <a:endParaRPr lang="en-US" sz="1200" dirty="0"/>
          </a:p>
        </p:txBody>
      </p:sp>
      <p:sp>
        <p:nvSpPr>
          <p:cNvPr id="3" name="Text 1"/>
          <p:cNvSpPr/>
          <p:nvPr/>
        </p:nvSpPr>
        <p:spPr>
          <a:xfrm>
            <a:off x="548640" y="621792"/>
            <a:ext cx="10515600" cy="685800"/>
          </a:xfrm>
          <a:prstGeom prst="rect">
            <a:avLst/>
          </a:prstGeom>
          <a:noFill/>
          <a:ln/>
        </p:spPr>
        <p:txBody>
          <a:bodyPr wrap="square" rtlCol="0" anchor="ctr"/>
          <a:lstStyle/>
          <a:p>
            <a:pPr marL="0" indent="0">
              <a:buNone/>
            </a:pPr>
            <a:r>
              <a:rPr lang="en-US" sz="3200" b="1" dirty="0">
                <a:solidFill>
                  <a:srgbClr val="1F2733"/>
                </a:solidFill>
                <a:latin typeface="Cambria" pitchFamily="34" charset="0"/>
                <a:ea typeface="Cambria" pitchFamily="34" charset="-122"/>
                <a:cs typeface="Cambria" pitchFamily="34" charset="-120"/>
              </a:rPr>
              <a:t>Data Preparation</a:t>
            </a:r>
            <a:endParaRPr lang="en-US" sz="3200" dirty="0"/>
          </a:p>
        </p:txBody>
      </p:sp>
      <p:sp>
        <p:nvSpPr>
          <p:cNvPr id="4" name="Shape 2"/>
          <p:cNvSpPr/>
          <p:nvPr/>
        </p:nvSpPr>
        <p:spPr>
          <a:xfrm>
            <a:off x="640080" y="2743200"/>
            <a:ext cx="1562100" cy="1371600"/>
          </a:xfrm>
          <a:prstGeom prst="roundRect">
            <a:avLst>
              <a:gd name="adj" fmla="val 5333"/>
            </a:avLst>
          </a:prstGeom>
          <a:solidFill>
            <a:srgbClr val="1B2A4A"/>
          </a:solidFill>
          <a:ln/>
        </p:spPr>
      </p:sp>
      <p:sp>
        <p:nvSpPr>
          <p:cNvPr id="5" name="Text 3"/>
          <p:cNvSpPr/>
          <p:nvPr/>
        </p:nvSpPr>
        <p:spPr>
          <a:xfrm>
            <a:off x="640080" y="2816352"/>
            <a:ext cx="1562100" cy="320040"/>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6" name="Text 4"/>
          <p:cNvSpPr/>
          <p:nvPr/>
        </p:nvSpPr>
        <p:spPr>
          <a:xfrm>
            <a:off x="713232" y="3154680"/>
            <a:ext cx="1415796" cy="868680"/>
          </a:xfrm>
          <a:prstGeom prst="rect">
            <a:avLst/>
          </a:prstGeom>
          <a:noFill/>
          <a:ln/>
        </p:spPr>
        <p:txBody>
          <a:bodyPr wrap="square" rtlCol="0" anchor="t"/>
          <a:lstStyle/>
          <a:p>
            <a:pPr marL="0" indent="0" algn="ctr">
              <a:lnSpc>
                <a:spcPct val="105000"/>
              </a:lnSpc>
              <a:buNone/>
            </a:pPr>
            <a:r>
              <a:rPr lang="en-US" sz="1050" dirty="0">
                <a:solidFill>
                  <a:srgbClr val="FFFFFF"/>
                </a:solidFill>
                <a:latin typeface="Calibri" pitchFamily="34" charset="0"/>
                <a:ea typeface="Calibri" pitchFamily="34" charset="-122"/>
                <a:cs typeface="Calibri" pitchFamily="34" charset="-120"/>
              </a:rPr>
              <a:t>Extract ZIP files</a:t>
            </a:r>
            <a:endParaRPr lang="en-US" sz="1050" dirty="0"/>
          </a:p>
        </p:txBody>
      </p:sp>
      <p:sp>
        <p:nvSpPr>
          <p:cNvPr id="7" name="Text 5"/>
          <p:cNvSpPr/>
          <p:nvPr/>
        </p:nvSpPr>
        <p:spPr>
          <a:xfrm>
            <a:off x="2202180" y="3154680"/>
            <a:ext cx="228600" cy="548640"/>
          </a:xfrm>
          <a:prstGeom prst="rect">
            <a:avLst/>
          </a:prstGeom>
          <a:noFill/>
          <a:ln/>
        </p:spPr>
        <p:txBody>
          <a:bodyPr wrap="square" lIns="0" tIns="0" rIns="0" bIns="0" rtlCol="0" anchor="ctr"/>
          <a:lstStyle/>
          <a:p>
            <a:pPr marL="0" indent="0" algn="ctr">
              <a:buNone/>
            </a:pPr>
            <a:r>
              <a:rPr lang="en-US" sz="1600" b="1" dirty="0">
                <a:solidFill>
                  <a:srgbClr val="5B6472"/>
                </a:solidFill>
                <a:latin typeface="Calibri" pitchFamily="34" charset="0"/>
                <a:ea typeface="Calibri" pitchFamily="34" charset="-122"/>
                <a:cs typeface="Calibri" pitchFamily="34" charset="-120"/>
              </a:rPr>
              <a:t>→</a:t>
            </a:r>
            <a:endParaRPr lang="en-US" sz="1600" dirty="0"/>
          </a:p>
        </p:txBody>
      </p:sp>
      <p:sp>
        <p:nvSpPr>
          <p:cNvPr id="8" name="Shape 6"/>
          <p:cNvSpPr/>
          <p:nvPr/>
        </p:nvSpPr>
        <p:spPr>
          <a:xfrm>
            <a:off x="2430780" y="2743200"/>
            <a:ext cx="1562100" cy="1371600"/>
          </a:xfrm>
          <a:prstGeom prst="roundRect">
            <a:avLst>
              <a:gd name="adj" fmla="val 5333"/>
            </a:avLst>
          </a:prstGeom>
          <a:solidFill>
            <a:srgbClr val="00B4A6"/>
          </a:solidFill>
          <a:ln/>
        </p:spPr>
      </p:sp>
      <p:sp>
        <p:nvSpPr>
          <p:cNvPr id="9" name="Text 7"/>
          <p:cNvSpPr/>
          <p:nvPr/>
        </p:nvSpPr>
        <p:spPr>
          <a:xfrm>
            <a:off x="2430780" y="2816352"/>
            <a:ext cx="1562100" cy="320040"/>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0" name="Text 8"/>
          <p:cNvSpPr/>
          <p:nvPr/>
        </p:nvSpPr>
        <p:spPr>
          <a:xfrm>
            <a:off x="2503932" y="3154680"/>
            <a:ext cx="1415796" cy="868680"/>
          </a:xfrm>
          <a:prstGeom prst="rect">
            <a:avLst/>
          </a:prstGeom>
          <a:noFill/>
          <a:ln/>
        </p:spPr>
        <p:txBody>
          <a:bodyPr wrap="square" rtlCol="0" anchor="t"/>
          <a:lstStyle/>
          <a:p>
            <a:pPr marL="0" indent="0" algn="ctr">
              <a:lnSpc>
                <a:spcPct val="105000"/>
              </a:lnSpc>
              <a:buNone/>
            </a:pPr>
            <a:r>
              <a:rPr lang="en-US" sz="1050" dirty="0">
                <a:solidFill>
                  <a:srgbClr val="FFFFFF"/>
                </a:solidFill>
                <a:latin typeface="Calibri" pitchFamily="34" charset="0"/>
                <a:ea typeface="Calibri" pitchFamily="34" charset="-122"/>
                <a:cs typeface="Calibri" pitchFamily="34" charset="-120"/>
              </a:rPr>
              <a:t>Inspect folder</a:t>
            </a:r>
            <a:endParaRPr lang="en-US" sz="1050" dirty="0"/>
          </a:p>
          <a:p>
            <a:pPr marL="0" indent="0" algn="ctr">
              <a:lnSpc>
                <a:spcPct val="105000"/>
              </a:lnSpc>
              <a:buNone/>
            </a:pPr>
            <a:r>
              <a:rPr lang="en-US" sz="1050" dirty="0">
                <a:solidFill>
                  <a:srgbClr val="FFFFFF"/>
                </a:solidFill>
                <a:latin typeface="Calibri" pitchFamily="34" charset="0"/>
                <a:ea typeface="Calibri" pitchFamily="34" charset="-122"/>
                <a:cs typeface="Calibri" pitchFamily="34" charset="-120"/>
              </a:rPr>
              <a:t>structures</a:t>
            </a:r>
            <a:endParaRPr lang="en-US" sz="1050" dirty="0"/>
          </a:p>
        </p:txBody>
      </p:sp>
      <p:sp>
        <p:nvSpPr>
          <p:cNvPr id="11" name="Text 9"/>
          <p:cNvSpPr/>
          <p:nvPr/>
        </p:nvSpPr>
        <p:spPr>
          <a:xfrm>
            <a:off x="3992880" y="3154680"/>
            <a:ext cx="228600" cy="548640"/>
          </a:xfrm>
          <a:prstGeom prst="rect">
            <a:avLst/>
          </a:prstGeom>
          <a:noFill/>
          <a:ln/>
        </p:spPr>
        <p:txBody>
          <a:bodyPr wrap="square" lIns="0" tIns="0" rIns="0" bIns="0" rtlCol="0" anchor="ctr"/>
          <a:lstStyle/>
          <a:p>
            <a:pPr marL="0" indent="0" algn="ctr">
              <a:buNone/>
            </a:pPr>
            <a:r>
              <a:rPr lang="en-US" sz="1600" b="1" dirty="0">
                <a:solidFill>
                  <a:srgbClr val="5B6472"/>
                </a:solidFill>
                <a:latin typeface="Calibri" pitchFamily="34" charset="0"/>
                <a:ea typeface="Calibri" pitchFamily="34" charset="-122"/>
                <a:cs typeface="Calibri" pitchFamily="34" charset="-120"/>
              </a:rPr>
              <a:t>→</a:t>
            </a:r>
            <a:endParaRPr lang="en-US" sz="1600" dirty="0"/>
          </a:p>
        </p:txBody>
      </p:sp>
      <p:sp>
        <p:nvSpPr>
          <p:cNvPr id="12" name="Shape 10"/>
          <p:cNvSpPr/>
          <p:nvPr/>
        </p:nvSpPr>
        <p:spPr>
          <a:xfrm>
            <a:off x="4221480" y="2743200"/>
            <a:ext cx="1562100" cy="1371600"/>
          </a:xfrm>
          <a:prstGeom prst="roundRect">
            <a:avLst>
              <a:gd name="adj" fmla="val 5333"/>
            </a:avLst>
          </a:prstGeom>
          <a:solidFill>
            <a:srgbClr val="1B2A4A"/>
          </a:solidFill>
          <a:ln/>
        </p:spPr>
      </p:sp>
      <p:sp>
        <p:nvSpPr>
          <p:cNvPr id="13" name="Text 11"/>
          <p:cNvSpPr/>
          <p:nvPr/>
        </p:nvSpPr>
        <p:spPr>
          <a:xfrm>
            <a:off x="4221480" y="2816352"/>
            <a:ext cx="1562100" cy="320040"/>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4" name="Text 12"/>
          <p:cNvSpPr/>
          <p:nvPr/>
        </p:nvSpPr>
        <p:spPr>
          <a:xfrm>
            <a:off x="4294632" y="3154680"/>
            <a:ext cx="1415796" cy="868680"/>
          </a:xfrm>
          <a:prstGeom prst="rect">
            <a:avLst/>
          </a:prstGeom>
          <a:noFill/>
          <a:ln/>
        </p:spPr>
        <p:txBody>
          <a:bodyPr wrap="square" rtlCol="0" anchor="t"/>
          <a:lstStyle/>
          <a:p>
            <a:pPr marL="0" indent="0" algn="ctr">
              <a:lnSpc>
                <a:spcPct val="105000"/>
              </a:lnSpc>
              <a:buNone/>
            </a:pPr>
            <a:r>
              <a:rPr lang="en-US" sz="1050" dirty="0">
                <a:solidFill>
                  <a:srgbClr val="FFFFFF"/>
                </a:solidFill>
                <a:latin typeface="Calibri" pitchFamily="34" charset="0"/>
                <a:ea typeface="Calibri" pitchFamily="34" charset="-122"/>
                <a:cs typeface="Calibri" pitchFamily="34" charset="-120"/>
              </a:rPr>
              <a:t>Map labels to</a:t>
            </a:r>
            <a:endParaRPr lang="en-US" sz="1050" dirty="0"/>
          </a:p>
          <a:p>
            <a:pPr marL="0" indent="0" algn="ctr">
              <a:lnSpc>
                <a:spcPct val="105000"/>
              </a:lnSpc>
              <a:buNone/>
            </a:pPr>
            <a:r>
              <a:rPr lang="en-US" sz="1050" dirty="0">
                <a:solidFill>
                  <a:srgbClr val="FFFFFF"/>
                </a:solidFill>
                <a:latin typeface="Calibri" pitchFamily="34" charset="0"/>
                <a:ea typeface="Calibri" pitchFamily="34" charset="-122"/>
                <a:cs typeface="Calibri" pitchFamily="34" charset="-120"/>
              </a:rPr>
              <a:t>unified classes</a:t>
            </a:r>
            <a:endParaRPr lang="en-US" sz="1050" dirty="0"/>
          </a:p>
        </p:txBody>
      </p:sp>
      <p:sp>
        <p:nvSpPr>
          <p:cNvPr id="15" name="Text 13"/>
          <p:cNvSpPr/>
          <p:nvPr/>
        </p:nvSpPr>
        <p:spPr>
          <a:xfrm>
            <a:off x="5783580" y="3154680"/>
            <a:ext cx="228600" cy="548640"/>
          </a:xfrm>
          <a:prstGeom prst="rect">
            <a:avLst/>
          </a:prstGeom>
          <a:noFill/>
          <a:ln/>
        </p:spPr>
        <p:txBody>
          <a:bodyPr wrap="square" lIns="0" tIns="0" rIns="0" bIns="0" rtlCol="0" anchor="ctr"/>
          <a:lstStyle/>
          <a:p>
            <a:pPr marL="0" indent="0" algn="ctr">
              <a:buNone/>
            </a:pPr>
            <a:r>
              <a:rPr lang="en-US" sz="1600" b="1" dirty="0">
                <a:solidFill>
                  <a:srgbClr val="5B6472"/>
                </a:solidFill>
                <a:latin typeface="Calibri" pitchFamily="34" charset="0"/>
                <a:ea typeface="Calibri" pitchFamily="34" charset="-122"/>
                <a:cs typeface="Calibri" pitchFamily="34" charset="-120"/>
              </a:rPr>
              <a:t>→</a:t>
            </a:r>
            <a:endParaRPr lang="en-US" sz="1600" dirty="0"/>
          </a:p>
        </p:txBody>
      </p:sp>
      <p:sp>
        <p:nvSpPr>
          <p:cNvPr id="16" name="Shape 14"/>
          <p:cNvSpPr/>
          <p:nvPr/>
        </p:nvSpPr>
        <p:spPr>
          <a:xfrm>
            <a:off x="6012180" y="2743200"/>
            <a:ext cx="1562100" cy="1371600"/>
          </a:xfrm>
          <a:prstGeom prst="roundRect">
            <a:avLst>
              <a:gd name="adj" fmla="val 5333"/>
            </a:avLst>
          </a:prstGeom>
          <a:solidFill>
            <a:srgbClr val="00B4A6"/>
          </a:solidFill>
          <a:ln/>
        </p:spPr>
      </p:sp>
      <p:sp>
        <p:nvSpPr>
          <p:cNvPr id="17" name="Text 15"/>
          <p:cNvSpPr/>
          <p:nvPr/>
        </p:nvSpPr>
        <p:spPr>
          <a:xfrm>
            <a:off x="6012180" y="2816352"/>
            <a:ext cx="1562100" cy="320040"/>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18" name="Text 16"/>
          <p:cNvSpPr/>
          <p:nvPr/>
        </p:nvSpPr>
        <p:spPr>
          <a:xfrm>
            <a:off x="6085332" y="3154680"/>
            <a:ext cx="1415796" cy="868680"/>
          </a:xfrm>
          <a:prstGeom prst="rect">
            <a:avLst/>
          </a:prstGeom>
          <a:noFill/>
          <a:ln/>
        </p:spPr>
        <p:txBody>
          <a:bodyPr wrap="square" rtlCol="0" anchor="t"/>
          <a:lstStyle/>
          <a:p>
            <a:pPr marL="0" indent="0" algn="ctr">
              <a:lnSpc>
                <a:spcPct val="105000"/>
              </a:lnSpc>
              <a:buNone/>
            </a:pPr>
            <a:r>
              <a:rPr lang="en-US" sz="1050" dirty="0">
                <a:solidFill>
                  <a:srgbClr val="FFFFFF"/>
                </a:solidFill>
                <a:latin typeface="Calibri" pitchFamily="34" charset="0"/>
                <a:ea typeface="Calibri" pitchFamily="34" charset="-122"/>
                <a:cs typeface="Calibri" pitchFamily="34" charset="-120"/>
              </a:rPr>
              <a:t>Combine into one</a:t>
            </a:r>
            <a:endParaRPr lang="en-US" sz="1050" dirty="0"/>
          </a:p>
          <a:p>
            <a:pPr marL="0" indent="0" algn="ctr">
              <a:lnSpc>
                <a:spcPct val="105000"/>
              </a:lnSpc>
              <a:buNone/>
            </a:pPr>
            <a:r>
              <a:rPr lang="en-US" sz="1050" dirty="0">
                <a:solidFill>
                  <a:srgbClr val="FFFFFF"/>
                </a:solidFill>
                <a:latin typeface="Calibri" pitchFamily="34" charset="0"/>
                <a:ea typeface="Calibri" pitchFamily="34" charset="-122"/>
                <a:cs typeface="Calibri" pitchFamily="34" charset="-120"/>
              </a:rPr>
              <a:t>dataframe</a:t>
            </a:r>
            <a:endParaRPr lang="en-US" sz="1050" dirty="0"/>
          </a:p>
        </p:txBody>
      </p:sp>
      <p:sp>
        <p:nvSpPr>
          <p:cNvPr id="19" name="Text 17"/>
          <p:cNvSpPr/>
          <p:nvPr/>
        </p:nvSpPr>
        <p:spPr>
          <a:xfrm>
            <a:off x="7574280" y="3154680"/>
            <a:ext cx="228600" cy="548640"/>
          </a:xfrm>
          <a:prstGeom prst="rect">
            <a:avLst/>
          </a:prstGeom>
          <a:noFill/>
          <a:ln/>
        </p:spPr>
        <p:txBody>
          <a:bodyPr wrap="square" lIns="0" tIns="0" rIns="0" bIns="0" rtlCol="0" anchor="ctr"/>
          <a:lstStyle/>
          <a:p>
            <a:pPr marL="0" indent="0" algn="ctr">
              <a:buNone/>
            </a:pPr>
            <a:r>
              <a:rPr lang="en-US" sz="1600" b="1" dirty="0">
                <a:solidFill>
                  <a:srgbClr val="5B6472"/>
                </a:solidFill>
                <a:latin typeface="Calibri" pitchFamily="34" charset="0"/>
                <a:ea typeface="Calibri" pitchFamily="34" charset="-122"/>
                <a:cs typeface="Calibri" pitchFamily="34" charset="-120"/>
              </a:rPr>
              <a:t>→</a:t>
            </a:r>
            <a:endParaRPr lang="en-US" sz="1600" dirty="0"/>
          </a:p>
        </p:txBody>
      </p:sp>
      <p:sp>
        <p:nvSpPr>
          <p:cNvPr id="20" name="Shape 18"/>
          <p:cNvSpPr/>
          <p:nvPr/>
        </p:nvSpPr>
        <p:spPr>
          <a:xfrm>
            <a:off x="7802880" y="2743200"/>
            <a:ext cx="1562100" cy="1371600"/>
          </a:xfrm>
          <a:prstGeom prst="roundRect">
            <a:avLst>
              <a:gd name="adj" fmla="val 5333"/>
            </a:avLst>
          </a:prstGeom>
          <a:solidFill>
            <a:srgbClr val="1B2A4A"/>
          </a:solidFill>
          <a:ln/>
        </p:spPr>
      </p:sp>
      <p:sp>
        <p:nvSpPr>
          <p:cNvPr id="21" name="Text 19"/>
          <p:cNvSpPr/>
          <p:nvPr/>
        </p:nvSpPr>
        <p:spPr>
          <a:xfrm>
            <a:off x="7802880" y="2816352"/>
            <a:ext cx="1562100" cy="320040"/>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5</a:t>
            </a:r>
            <a:endParaRPr lang="en-US" sz="1500" dirty="0"/>
          </a:p>
        </p:txBody>
      </p:sp>
      <p:sp>
        <p:nvSpPr>
          <p:cNvPr id="22" name="Text 20"/>
          <p:cNvSpPr/>
          <p:nvPr/>
        </p:nvSpPr>
        <p:spPr>
          <a:xfrm>
            <a:off x="7876032" y="3154680"/>
            <a:ext cx="1415796" cy="868680"/>
          </a:xfrm>
          <a:prstGeom prst="rect">
            <a:avLst/>
          </a:prstGeom>
          <a:noFill/>
          <a:ln/>
        </p:spPr>
        <p:txBody>
          <a:bodyPr wrap="square" rtlCol="0" anchor="t"/>
          <a:lstStyle/>
          <a:p>
            <a:pPr marL="0" indent="0" algn="ctr">
              <a:lnSpc>
                <a:spcPct val="105000"/>
              </a:lnSpc>
              <a:buNone/>
            </a:pPr>
            <a:r>
              <a:rPr lang="en-US" sz="1050" dirty="0">
                <a:solidFill>
                  <a:srgbClr val="FFFFFF"/>
                </a:solidFill>
                <a:latin typeface="Calibri" pitchFamily="34" charset="0"/>
                <a:ea typeface="Calibri" pitchFamily="34" charset="-122"/>
                <a:cs typeface="Calibri" pitchFamily="34" charset="-120"/>
              </a:rPr>
              <a:t>Verify &amp; assign</a:t>
            </a:r>
            <a:endParaRPr lang="en-US" sz="1050" dirty="0"/>
          </a:p>
          <a:p>
            <a:pPr marL="0" indent="0" algn="ctr">
              <a:lnSpc>
                <a:spcPct val="105000"/>
              </a:lnSpc>
              <a:buNone/>
            </a:pPr>
            <a:r>
              <a:rPr lang="en-US" sz="1050" dirty="0">
                <a:solidFill>
                  <a:srgbClr val="FFFFFF"/>
                </a:solidFill>
                <a:latin typeface="Calibri" pitchFamily="34" charset="0"/>
                <a:ea typeface="Calibri" pitchFamily="34" charset="-122"/>
                <a:cs typeface="Calibri" pitchFamily="34" charset="-120"/>
              </a:rPr>
              <a:t>final labels</a:t>
            </a:r>
            <a:endParaRPr lang="en-US" sz="1050" dirty="0"/>
          </a:p>
        </p:txBody>
      </p:sp>
      <p:sp>
        <p:nvSpPr>
          <p:cNvPr id="23" name="Text 21"/>
          <p:cNvSpPr/>
          <p:nvPr/>
        </p:nvSpPr>
        <p:spPr>
          <a:xfrm>
            <a:off x="9364980" y="3154680"/>
            <a:ext cx="228600" cy="548640"/>
          </a:xfrm>
          <a:prstGeom prst="rect">
            <a:avLst/>
          </a:prstGeom>
          <a:noFill/>
          <a:ln/>
        </p:spPr>
        <p:txBody>
          <a:bodyPr wrap="square" lIns="0" tIns="0" rIns="0" bIns="0" rtlCol="0" anchor="ctr"/>
          <a:lstStyle/>
          <a:p>
            <a:pPr marL="0" indent="0" algn="ctr">
              <a:buNone/>
            </a:pPr>
            <a:r>
              <a:rPr lang="en-US" sz="1600" b="1" dirty="0">
                <a:solidFill>
                  <a:srgbClr val="5B6472"/>
                </a:solidFill>
                <a:latin typeface="Calibri" pitchFamily="34" charset="0"/>
                <a:ea typeface="Calibri" pitchFamily="34" charset="-122"/>
                <a:cs typeface="Calibri" pitchFamily="34" charset="-120"/>
              </a:rPr>
              <a:t>→</a:t>
            </a:r>
            <a:endParaRPr lang="en-US" sz="1600" dirty="0"/>
          </a:p>
        </p:txBody>
      </p:sp>
      <p:sp>
        <p:nvSpPr>
          <p:cNvPr id="24" name="Shape 22"/>
          <p:cNvSpPr/>
          <p:nvPr/>
        </p:nvSpPr>
        <p:spPr>
          <a:xfrm>
            <a:off x="9593580" y="2743200"/>
            <a:ext cx="1562100" cy="1371600"/>
          </a:xfrm>
          <a:prstGeom prst="roundRect">
            <a:avLst>
              <a:gd name="adj" fmla="val 5333"/>
            </a:avLst>
          </a:prstGeom>
          <a:solidFill>
            <a:srgbClr val="00B4A6"/>
          </a:solidFill>
          <a:ln/>
        </p:spPr>
      </p:sp>
      <p:sp>
        <p:nvSpPr>
          <p:cNvPr id="25" name="Text 23"/>
          <p:cNvSpPr/>
          <p:nvPr/>
        </p:nvSpPr>
        <p:spPr>
          <a:xfrm>
            <a:off x="9593580" y="2816352"/>
            <a:ext cx="1562100" cy="320040"/>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6</a:t>
            </a:r>
            <a:endParaRPr lang="en-US" sz="1500" dirty="0"/>
          </a:p>
        </p:txBody>
      </p:sp>
      <p:sp>
        <p:nvSpPr>
          <p:cNvPr id="26" name="Text 24"/>
          <p:cNvSpPr/>
          <p:nvPr/>
        </p:nvSpPr>
        <p:spPr>
          <a:xfrm>
            <a:off x="9666732" y="3154680"/>
            <a:ext cx="1415796" cy="868680"/>
          </a:xfrm>
          <a:prstGeom prst="rect">
            <a:avLst/>
          </a:prstGeom>
          <a:noFill/>
          <a:ln/>
        </p:spPr>
        <p:txBody>
          <a:bodyPr wrap="square" rtlCol="0" anchor="t"/>
          <a:lstStyle/>
          <a:p>
            <a:pPr marL="0" indent="0" algn="ctr">
              <a:lnSpc>
                <a:spcPct val="105000"/>
              </a:lnSpc>
              <a:buNone/>
            </a:pPr>
            <a:r>
              <a:rPr lang="en-US" sz="1050" dirty="0">
                <a:solidFill>
                  <a:srgbClr val="FFFFFF"/>
                </a:solidFill>
                <a:latin typeface="Calibri" pitchFamily="34" charset="0"/>
                <a:ea typeface="Calibri" pitchFamily="34" charset="-122"/>
                <a:cs typeface="Calibri" pitchFamily="34" charset="-120"/>
              </a:rPr>
              <a:t>Split: train /</a:t>
            </a:r>
            <a:endParaRPr lang="en-US" sz="1050" dirty="0"/>
          </a:p>
          <a:p>
            <a:pPr marL="0" indent="0" algn="ctr">
              <a:lnSpc>
                <a:spcPct val="105000"/>
              </a:lnSpc>
              <a:buNone/>
            </a:pPr>
            <a:r>
              <a:rPr lang="en-US" sz="1050" dirty="0">
                <a:solidFill>
                  <a:srgbClr val="FFFFFF"/>
                </a:solidFill>
                <a:latin typeface="Calibri" pitchFamily="34" charset="0"/>
                <a:ea typeface="Calibri" pitchFamily="34" charset="-122"/>
                <a:cs typeface="Calibri" pitchFamily="34" charset="-120"/>
              </a:rPr>
              <a:t>val / test</a:t>
            </a:r>
            <a:endParaRPr lang="en-US" sz="1050" dirty="0"/>
          </a:p>
        </p:txBody>
      </p:sp>
      <p:sp>
        <p:nvSpPr>
          <p:cNvPr id="27" name="Text 25"/>
          <p:cNvSpPr/>
          <p:nvPr/>
        </p:nvSpPr>
        <p:spPr>
          <a:xfrm>
            <a:off x="640080" y="4572000"/>
            <a:ext cx="4572000" cy="320040"/>
          </a:xfrm>
          <a:prstGeom prst="rect">
            <a:avLst/>
          </a:prstGeom>
          <a:noFill/>
          <a:ln/>
        </p:spPr>
        <p:txBody>
          <a:bodyPr wrap="square" rtlCol="0" anchor="ctr"/>
          <a:lstStyle/>
          <a:p>
            <a:pPr marL="0" indent="0">
              <a:buNone/>
            </a:pPr>
            <a:r>
              <a:rPr lang="en-US" sz="1400" b="1" dirty="0">
                <a:solidFill>
                  <a:srgbClr val="1B2A4A"/>
                </a:solidFill>
                <a:latin typeface="Cambria" pitchFamily="34" charset="0"/>
                <a:ea typeface="Cambria" pitchFamily="34" charset="-122"/>
                <a:cs typeface="Cambria" pitchFamily="34" charset="-120"/>
              </a:rPr>
              <a:t>Unified output classes</a:t>
            </a:r>
            <a:endParaRPr lang="en-US" sz="1400" dirty="0"/>
          </a:p>
        </p:txBody>
      </p:sp>
      <p:sp>
        <p:nvSpPr>
          <p:cNvPr id="28" name="Shape 26"/>
          <p:cNvSpPr/>
          <p:nvPr/>
        </p:nvSpPr>
        <p:spPr>
          <a:xfrm>
            <a:off x="640080" y="4983480"/>
            <a:ext cx="2423160" cy="502920"/>
          </a:xfrm>
          <a:prstGeom prst="roundRect">
            <a:avLst>
              <a:gd name="adj" fmla="val 50909"/>
            </a:avLst>
          </a:prstGeom>
          <a:solidFill>
            <a:srgbClr val="FFFFFF"/>
          </a:solidFill>
          <a:ln w="15875">
            <a:solidFill>
              <a:srgbClr val="1B2A4A"/>
            </a:solidFill>
            <a:prstDash val="solid"/>
          </a:ln>
        </p:spPr>
      </p:sp>
      <p:sp>
        <p:nvSpPr>
          <p:cNvPr id="29" name="Text 27"/>
          <p:cNvSpPr/>
          <p:nvPr/>
        </p:nvSpPr>
        <p:spPr>
          <a:xfrm>
            <a:off x="640080" y="4983480"/>
            <a:ext cx="2423160" cy="502920"/>
          </a:xfrm>
          <a:prstGeom prst="rect">
            <a:avLst/>
          </a:prstGeom>
          <a:noFill/>
          <a:ln/>
        </p:spPr>
        <p:txBody>
          <a:bodyPr wrap="square" lIns="0" tIns="0" rIns="0" bIns="0" rtlCol="0" anchor="ctr"/>
          <a:lstStyle/>
          <a:p>
            <a:pPr marL="0" indent="0" algn="ctr">
              <a:buNone/>
            </a:pPr>
            <a:r>
              <a:rPr lang="en-US" sz="1200" b="1" dirty="0">
                <a:solidFill>
                  <a:srgbClr val="1B2A4A"/>
                </a:solidFill>
                <a:latin typeface="Calibri" pitchFamily="34" charset="0"/>
                <a:ea typeface="Calibri" pitchFamily="34" charset="-122"/>
                <a:cs typeface="Calibri" pitchFamily="34" charset="-120"/>
              </a:rPr>
              <a:t>Garbage</a:t>
            </a:r>
            <a:endParaRPr lang="en-US" sz="1200" dirty="0"/>
          </a:p>
        </p:txBody>
      </p:sp>
      <p:sp>
        <p:nvSpPr>
          <p:cNvPr id="30" name="Shape 28"/>
          <p:cNvSpPr/>
          <p:nvPr/>
        </p:nvSpPr>
        <p:spPr>
          <a:xfrm>
            <a:off x="3291840" y="4983480"/>
            <a:ext cx="2423160" cy="502920"/>
          </a:xfrm>
          <a:prstGeom prst="roundRect">
            <a:avLst>
              <a:gd name="adj" fmla="val 50909"/>
            </a:avLst>
          </a:prstGeom>
          <a:solidFill>
            <a:srgbClr val="FFFFFF"/>
          </a:solidFill>
          <a:ln w="15875">
            <a:solidFill>
              <a:srgbClr val="1B2A4A"/>
            </a:solidFill>
            <a:prstDash val="solid"/>
          </a:ln>
        </p:spPr>
      </p:sp>
      <p:sp>
        <p:nvSpPr>
          <p:cNvPr id="31" name="Text 29"/>
          <p:cNvSpPr/>
          <p:nvPr/>
        </p:nvSpPr>
        <p:spPr>
          <a:xfrm>
            <a:off x="3291840" y="4983480"/>
            <a:ext cx="2423160" cy="502920"/>
          </a:xfrm>
          <a:prstGeom prst="rect">
            <a:avLst/>
          </a:prstGeom>
          <a:noFill/>
          <a:ln/>
        </p:spPr>
        <p:txBody>
          <a:bodyPr wrap="square" lIns="0" tIns="0" rIns="0" bIns="0" rtlCol="0" anchor="ctr"/>
          <a:lstStyle/>
          <a:p>
            <a:pPr marL="0" indent="0" algn="ctr">
              <a:buNone/>
            </a:pPr>
            <a:r>
              <a:rPr lang="en-US" sz="1200" b="1" dirty="0">
                <a:solidFill>
                  <a:srgbClr val="1B2A4A"/>
                </a:solidFill>
                <a:latin typeface="Calibri" pitchFamily="34" charset="0"/>
                <a:ea typeface="Calibri" pitchFamily="34" charset="-122"/>
                <a:cs typeface="Calibri" pitchFamily="34" charset="-120"/>
              </a:rPr>
              <a:t>Normal</a:t>
            </a:r>
            <a:endParaRPr lang="en-US" sz="1200" dirty="0"/>
          </a:p>
        </p:txBody>
      </p:sp>
      <p:sp>
        <p:nvSpPr>
          <p:cNvPr id="32" name="Shape 30"/>
          <p:cNvSpPr/>
          <p:nvPr/>
        </p:nvSpPr>
        <p:spPr>
          <a:xfrm>
            <a:off x="5943600" y="4983480"/>
            <a:ext cx="2423160" cy="502920"/>
          </a:xfrm>
          <a:prstGeom prst="roundRect">
            <a:avLst>
              <a:gd name="adj" fmla="val 50909"/>
            </a:avLst>
          </a:prstGeom>
          <a:solidFill>
            <a:srgbClr val="FFFFFF"/>
          </a:solidFill>
          <a:ln w="15875">
            <a:solidFill>
              <a:srgbClr val="1B2A4A"/>
            </a:solidFill>
            <a:prstDash val="solid"/>
          </a:ln>
        </p:spPr>
      </p:sp>
      <p:sp>
        <p:nvSpPr>
          <p:cNvPr id="33" name="Text 31"/>
          <p:cNvSpPr/>
          <p:nvPr/>
        </p:nvSpPr>
        <p:spPr>
          <a:xfrm>
            <a:off x="5943600" y="4983480"/>
            <a:ext cx="2423160" cy="502920"/>
          </a:xfrm>
          <a:prstGeom prst="rect">
            <a:avLst/>
          </a:prstGeom>
          <a:noFill/>
          <a:ln/>
        </p:spPr>
        <p:txBody>
          <a:bodyPr wrap="square" lIns="0" tIns="0" rIns="0" bIns="0" rtlCol="0" anchor="ctr"/>
          <a:lstStyle/>
          <a:p>
            <a:pPr marL="0" indent="0" algn="ctr">
              <a:buNone/>
            </a:pPr>
            <a:r>
              <a:rPr lang="en-US" sz="1200" b="1" dirty="0">
                <a:solidFill>
                  <a:srgbClr val="1B2A4A"/>
                </a:solidFill>
                <a:latin typeface="Calibri" pitchFamily="34" charset="0"/>
                <a:ea typeface="Calibri" pitchFamily="34" charset="-122"/>
                <a:cs typeface="Calibri" pitchFamily="34" charset="-120"/>
              </a:rPr>
              <a:t>Pothole</a:t>
            </a:r>
            <a:endParaRPr lang="en-US" sz="1200" dirty="0"/>
          </a:p>
        </p:txBody>
      </p:sp>
      <p:sp>
        <p:nvSpPr>
          <p:cNvPr id="34" name="Shape 32"/>
          <p:cNvSpPr/>
          <p:nvPr/>
        </p:nvSpPr>
        <p:spPr>
          <a:xfrm>
            <a:off x="8595360" y="4983480"/>
            <a:ext cx="2423160" cy="502920"/>
          </a:xfrm>
          <a:prstGeom prst="roundRect">
            <a:avLst>
              <a:gd name="adj" fmla="val 50909"/>
            </a:avLst>
          </a:prstGeom>
          <a:solidFill>
            <a:srgbClr val="FFFFFF"/>
          </a:solidFill>
          <a:ln w="15875">
            <a:solidFill>
              <a:srgbClr val="1B2A4A"/>
            </a:solidFill>
            <a:prstDash val="solid"/>
          </a:ln>
        </p:spPr>
      </p:sp>
      <p:sp>
        <p:nvSpPr>
          <p:cNvPr id="35" name="Text 33"/>
          <p:cNvSpPr/>
          <p:nvPr/>
        </p:nvSpPr>
        <p:spPr>
          <a:xfrm>
            <a:off x="8595360" y="4983480"/>
            <a:ext cx="2423160" cy="502920"/>
          </a:xfrm>
          <a:prstGeom prst="rect">
            <a:avLst/>
          </a:prstGeom>
          <a:noFill/>
          <a:ln/>
        </p:spPr>
        <p:txBody>
          <a:bodyPr wrap="square" lIns="0" tIns="0" rIns="0" bIns="0" rtlCol="0" anchor="ctr"/>
          <a:lstStyle/>
          <a:p>
            <a:pPr marL="0" indent="0" algn="ctr">
              <a:buNone/>
            </a:pPr>
            <a:r>
              <a:rPr lang="en-US" sz="1200" b="1" dirty="0">
                <a:solidFill>
                  <a:srgbClr val="1B2A4A"/>
                </a:solidFill>
                <a:latin typeface="Calibri" pitchFamily="34" charset="0"/>
                <a:ea typeface="Calibri" pitchFamily="34" charset="-122"/>
                <a:cs typeface="Calibri" pitchFamily="34" charset="-120"/>
              </a:rPr>
              <a:t>Road Crack</a:t>
            </a:r>
            <a:endParaRPr lang="en-US" sz="1200" dirty="0"/>
          </a:p>
        </p:txBody>
      </p:sp>
      <p:sp>
        <p:nvSpPr>
          <p:cNvPr id="36" name="Text 34"/>
          <p:cNvSpPr/>
          <p:nvPr/>
        </p:nvSpPr>
        <p:spPr>
          <a:xfrm>
            <a:off x="457200" y="6537960"/>
            <a:ext cx="6400800" cy="274320"/>
          </a:xfrm>
          <a:prstGeom prst="rect">
            <a:avLst/>
          </a:prstGeom>
          <a:noFill/>
          <a:ln/>
        </p:spPr>
        <p:txBody>
          <a:bodyPr wrap="square" rtlCol="0" anchor="ctr"/>
          <a:lstStyle/>
          <a:p>
            <a:r>
              <a:rPr lang="en-US" sz="900" b="1" dirty="0"/>
              <a:t>AI-Powered Public Infrastructure Issue Detection and Reporting System</a:t>
            </a:r>
          </a:p>
        </p:txBody>
      </p:sp>
      <p:sp>
        <p:nvSpPr>
          <p:cNvPr id="37" name="Text 35"/>
          <p:cNvSpPr/>
          <p:nvPr/>
        </p:nvSpPr>
        <p:spPr>
          <a:xfrm>
            <a:off x="11274552" y="6537960"/>
            <a:ext cx="457200" cy="274320"/>
          </a:xfrm>
          <a:prstGeom prst="rect">
            <a:avLst/>
          </a:prstGeom>
          <a:noFill/>
          <a:ln/>
        </p:spPr>
        <p:txBody>
          <a:bodyPr wrap="square"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5</a:t>
            </a:r>
            <a:endParaRPr lang="en-US" sz="9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marL="0" indent="0">
              <a:buNone/>
            </a:pPr>
            <a:r>
              <a:rPr lang="en-US" sz="1200" b="1" kern="0" spc="200" dirty="0">
                <a:solidFill>
                  <a:srgbClr val="00B4A6"/>
                </a:solidFill>
                <a:latin typeface="Calibri" pitchFamily="34" charset="0"/>
                <a:ea typeface="Calibri" pitchFamily="34" charset="-122"/>
                <a:cs typeface="Calibri" pitchFamily="34" charset="-120"/>
              </a:rPr>
              <a:t>TRANSFER LEARNING ARCHITECTURE</a:t>
            </a:r>
            <a:endParaRPr lang="en-US" sz="1200" dirty="0"/>
          </a:p>
        </p:txBody>
      </p:sp>
      <p:sp>
        <p:nvSpPr>
          <p:cNvPr id="3" name="Text 1"/>
          <p:cNvSpPr/>
          <p:nvPr/>
        </p:nvSpPr>
        <p:spPr>
          <a:xfrm>
            <a:off x="548640" y="621792"/>
            <a:ext cx="10515600" cy="68580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Model: MobileNetV2</a:t>
            </a:r>
            <a:endParaRPr lang="en-US" sz="3200" dirty="0"/>
          </a:p>
        </p:txBody>
      </p:sp>
      <p:sp>
        <p:nvSpPr>
          <p:cNvPr id="4" name="Shape 2"/>
          <p:cNvSpPr/>
          <p:nvPr/>
        </p:nvSpPr>
        <p:spPr>
          <a:xfrm>
            <a:off x="685800" y="1508760"/>
            <a:ext cx="5212080" cy="658368"/>
          </a:xfrm>
          <a:prstGeom prst="roundRect">
            <a:avLst>
              <a:gd name="adj" fmla="val 9722"/>
            </a:avLst>
          </a:prstGeom>
          <a:solidFill>
            <a:srgbClr val="121D33"/>
          </a:solidFill>
          <a:ln w="12700">
            <a:solidFill>
              <a:srgbClr val="35456B"/>
            </a:solidFill>
            <a:prstDash val="solid"/>
          </a:ln>
        </p:spPr>
      </p:sp>
      <p:sp>
        <p:nvSpPr>
          <p:cNvPr id="5" name="Text 3"/>
          <p:cNvSpPr/>
          <p:nvPr/>
        </p:nvSpPr>
        <p:spPr>
          <a:xfrm>
            <a:off x="868680" y="1508760"/>
            <a:ext cx="2834640" cy="658368"/>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Input Image</a:t>
            </a:r>
            <a:endParaRPr lang="en-US" sz="1250" dirty="0"/>
          </a:p>
        </p:txBody>
      </p:sp>
      <p:sp>
        <p:nvSpPr>
          <p:cNvPr id="6" name="Text 4"/>
          <p:cNvSpPr/>
          <p:nvPr/>
        </p:nvSpPr>
        <p:spPr>
          <a:xfrm>
            <a:off x="3703320" y="1508760"/>
            <a:ext cx="2011680" cy="658368"/>
          </a:xfrm>
          <a:prstGeom prst="rect">
            <a:avLst/>
          </a:prstGeom>
          <a:noFill/>
          <a:ln/>
        </p:spPr>
        <p:txBody>
          <a:bodyPr wrap="square" rtlCol="0" anchor="ctr"/>
          <a:lstStyle/>
          <a:p>
            <a:pPr marL="0" indent="0" algn="r">
              <a:buNone/>
            </a:pPr>
            <a:r>
              <a:rPr lang="en-US" sz="1000" i="1" dirty="0">
                <a:solidFill>
                  <a:srgbClr val="AEB9CC"/>
                </a:solidFill>
                <a:latin typeface="Calibri" pitchFamily="34" charset="0"/>
                <a:ea typeface="Calibri" pitchFamily="34" charset="-122"/>
                <a:cs typeface="Calibri" pitchFamily="34" charset="-120"/>
              </a:rPr>
              <a:t>224 × 224 × 3</a:t>
            </a:r>
            <a:endParaRPr lang="en-US" sz="1000" dirty="0"/>
          </a:p>
        </p:txBody>
      </p:sp>
      <p:sp>
        <p:nvSpPr>
          <p:cNvPr id="7" name="Text 5"/>
          <p:cNvSpPr/>
          <p:nvPr/>
        </p:nvSpPr>
        <p:spPr>
          <a:xfrm>
            <a:off x="3108960" y="2167128"/>
            <a:ext cx="365760" cy="128016"/>
          </a:xfrm>
          <a:prstGeom prst="rect">
            <a:avLst/>
          </a:prstGeom>
          <a:noFill/>
          <a:ln/>
        </p:spPr>
        <p:txBody>
          <a:bodyPr wrap="square" lIns="0" tIns="0" rIns="0" bIns="0" rtlCol="0" anchor="ctr"/>
          <a:lstStyle/>
          <a:p>
            <a:pPr marL="0" indent="0" algn="ctr">
              <a:buNone/>
            </a:pPr>
            <a:r>
              <a:rPr lang="en-US" sz="1200" dirty="0">
                <a:solidFill>
                  <a:srgbClr val="00B4A6"/>
                </a:solidFill>
                <a:latin typeface="Calibri" pitchFamily="34" charset="0"/>
                <a:ea typeface="Calibri" pitchFamily="34" charset="-122"/>
                <a:cs typeface="Calibri" pitchFamily="34" charset="-120"/>
              </a:rPr>
              <a:t>↓</a:t>
            </a:r>
            <a:endParaRPr lang="en-US" sz="1200" dirty="0"/>
          </a:p>
        </p:txBody>
      </p:sp>
      <p:sp>
        <p:nvSpPr>
          <p:cNvPr id="8" name="Shape 6"/>
          <p:cNvSpPr/>
          <p:nvPr/>
        </p:nvSpPr>
        <p:spPr>
          <a:xfrm>
            <a:off x="685800" y="2276856"/>
            <a:ext cx="5212080" cy="658368"/>
          </a:xfrm>
          <a:prstGeom prst="roundRect">
            <a:avLst>
              <a:gd name="adj" fmla="val 9722"/>
            </a:avLst>
          </a:prstGeom>
          <a:solidFill>
            <a:srgbClr val="121D33"/>
          </a:solidFill>
          <a:ln w="12700">
            <a:solidFill>
              <a:srgbClr val="35456B"/>
            </a:solidFill>
            <a:prstDash val="solid"/>
          </a:ln>
        </p:spPr>
      </p:sp>
      <p:sp>
        <p:nvSpPr>
          <p:cNvPr id="9" name="Text 7"/>
          <p:cNvSpPr/>
          <p:nvPr/>
        </p:nvSpPr>
        <p:spPr>
          <a:xfrm>
            <a:off x="868680" y="2276856"/>
            <a:ext cx="2834640" cy="658368"/>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MobileNetV2</a:t>
            </a:r>
            <a:endParaRPr lang="en-US" sz="1250" dirty="0"/>
          </a:p>
        </p:txBody>
      </p:sp>
      <p:sp>
        <p:nvSpPr>
          <p:cNvPr id="10" name="Text 8"/>
          <p:cNvSpPr/>
          <p:nvPr/>
        </p:nvSpPr>
        <p:spPr>
          <a:xfrm>
            <a:off x="3703320" y="2276856"/>
            <a:ext cx="2011680" cy="658368"/>
          </a:xfrm>
          <a:prstGeom prst="rect">
            <a:avLst/>
          </a:prstGeom>
          <a:noFill/>
          <a:ln/>
        </p:spPr>
        <p:txBody>
          <a:bodyPr wrap="square" rtlCol="0" anchor="ctr"/>
          <a:lstStyle/>
          <a:p>
            <a:pPr marL="0" indent="0" algn="r">
              <a:buNone/>
            </a:pPr>
            <a:r>
              <a:rPr lang="en-US" sz="1000" i="1" dirty="0">
                <a:solidFill>
                  <a:srgbClr val="AEB9CC"/>
                </a:solidFill>
                <a:latin typeface="Calibri" pitchFamily="34" charset="0"/>
                <a:ea typeface="Calibri" pitchFamily="34" charset="-122"/>
                <a:cs typeface="Calibri" pitchFamily="34" charset="-120"/>
              </a:rPr>
              <a:t>pretrained on ImageNet</a:t>
            </a:r>
            <a:endParaRPr lang="en-US" sz="1000" dirty="0"/>
          </a:p>
        </p:txBody>
      </p:sp>
      <p:sp>
        <p:nvSpPr>
          <p:cNvPr id="11" name="Text 9"/>
          <p:cNvSpPr/>
          <p:nvPr/>
        </p:nvSpPr>
        <p:spPr>
          <a:xfrm>
            <a:off x="3108960" y="2935224"/>
            <a:ext cx="365760" cy="128016"/>
          </a:xfrm>
          <a:prstGeom prst="rect">
            <a:avLst/>
          </a:prstGeom>
          <a:noFill/>
          <a:ln/>
        </p:spPr>
        <p:txBody>
          <a:bodyPr wrap="square" lIns="0" tIns="0" rIns="0" bIns="0" rtlCol="0" anchor="ctr"/>
          <a:lstStyle/>
          <a:p>
            <a:pPr marL="0" indent="0" algn="ctr">
              <a:buNone/>
            </a:pPr>
            <a:r>
              <a:rPr lang="en-US" sz="1200" dirty="0">
                <a:solidFill>
                  <a:srgbClr val="00B4A6"/>
                </a:solidFill>
                <a:latin typeface="Calibri" pitchFamily="34" charset="0"/>
                <a:ea typeface="Calibri" pitchFamily="34" charset="-122"/>
                <a:cs typeface="Calibri" pitchFamily="34" charset="-120"/>
              </a:rPr>
              <a:t>↓</a:t>
            </a:r>
            <a:endParaRPr lang="en-US" sz="1200" dirty="0"/>
          </a:p>
        </p:txBody>
      </p:sp>
      <p:sp>
        <p:nvSpPr>
          <p:cNvPr id="12" name="Shape 10"/>
          <p:cNvSpPr/>
          <p:nvPr/>
        </p:nvSpPr>
        <p:spPr>
          <a:xfrm>
            <a:off x="685800" y="3044952"/>
            <a:ext cx="5212080" cy="658368"/>
          </a:xfrm>
          <a:prstGeom prst="roundRect">
            <a:avLst>
              <a:gd name="adj" fmla="val 9722"/>
            </a:avLst>
          </a:prstGeom>
          <a:solidFill>
            <a:srgbClr val="00B4A6"/>
          </a:solidFill>
          <a:ln w="12700">
            <a:solidFill>
              <a:srgbClr val="35456B"/>
            </a:solidFill>
            <a:prstDash val="solid"/>
          </a:ln>
        </p:spPr>
      </p:sp>
      <p:sp>
        <p:nvSpPr>
          <p:cNvPr id="13" name="Text 11"/>
          <p:cNvSpPr/>
          <p:nvPr/>
        </p:nvSpPr>
        <p:spPr>
          <a:xfrm>
            <a:off x="868680" y="3044952"/>
            <a:ext cx="2834640" cy="658368"/>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Frozen Feature</a:t>
            </a:r>
            <a:endParaRPr lang="en-US" sz="1250" dirty="0"/>
          </a:p>
          <a:p>
            <a:pPr marL="0" indent="0">
              <a:buNone/>
            </a:pPr>
            <a:r>
              <a:rPr lang="en-US" sz="1250" b="1" dirty="0">
                <a:solidFill>
                  <a:srgbClr val="FFFFFF"/>
                </a:solidFill>
                <a:latin typeface="Calibri" pitchFamily="34" charset="0"/>
                <a:ea typeface="Calibri" pitchFamily="34" charset="-122"/>
                <a:cs typeface="Calibri" pitchFamily="34" charset="-120"/>
              </a:rPr>
              <a:t>Extractor</a:t>
            </a:r>
            <a:endParaRPr lang="en-US" sz="1250" dirty="0"/>
          </a:p>
        </p:txBody>
      </p:sp>
      <p:sp>
        <p:nvSpPr>
          <p:cNvPr id="14" name="Text 12"/>
          <p:cNvSpPr/>
          <p:nvPr/>
        </p:nvSpPr>
        <p:spPr>
          <a:xfrm>
            <a:off x="3703320" y="3044952"/>
            <a:ext cx="2011680" cy="658368"/>
          </a:xfrm>
          <a:prstGeom prst="rect">
            <a:avLst/>
          </a:prstGeom>
          <a:noFill/>
          <a:ln/>
        </p:spPr>
        <p:txBody>
          <a:bodyPr wrap="square" rtlCol="0" anchor="ctr"/>
          <a:lstStyle/>
          <a:p>
            <a:pPr marL="0" indent="0" algn="r">
              <a:buNone/>
            </a:pPr>
            <a:r>
              <a:rPr lang="en-US" sz="1000" i="1" dirty="0">
                <a:solidFill>
                  <a:srgbClr val="AEB9CC"/>
                </a:solidFill>
                <a:latin typeface="Calibri" pitchFamily="34" charset="0"/>
                <a:ea typeface="Calibri" pitchFamily="34" charset="-122"/>
                <a:cs typeface="Calibri" pitchFamily="34" charset="-120"/>
              </a:rPr>
              <a:t>base_model.trainable = False</a:t>
            </a:r>
            <a:endParaRPr lang="en-US" sz="1000" dirty="0"/>
          </a:p>
        </p:txBody>
      </p:sp>
      <p:sp>
        <p:nvSpPr>
          <p:cNvPr id="15" name="Text 13"/>
          <p:cNvSpPr/>
          <p:nvPr/>
        </p:nvSpPr>
        <p:spPr>
          <a:xfrm>
            <a:off x="3108960" y="3703320"/>
            <a:ext cx="365760" cy="128016"/>
          </a:xfrm>
          <a:prstGeom prst="rect">
            <a:avLst/>
          </a:prstGeom>
          <a:noFill/>
          <a:ln/>
        </p:spPr>
        <p:txBody>
          <a:bodyPr wrap="square" lIns="0" tIns="0" rIns="0" bIns="0" rtlCol="0" anchor="ctr"/>
          <a:lstStyle/>
          <a:p>
            <a:pPr marL="0" indent="0" algn="ctr">
              <a:buNone/>
            </a:pPr>
            <a:r>
              <a:rPr lang="en-US" sz="1200" dirty="0">
                <a:solidFill>
                  <a:srgbClr val="00B4A6"/>
                </a:solidFill>
                <a:latin typeface="Calibri" pitchFamily="34" charset="0"/>
                <a:ea typeface="Calibri" pitchFamily="34" charset="-122"/>
                <a:cs typeface="Calibri" pitchFamily="34" charset="-120"/>
              </a:rPr>
              <a:t>↓</a:t>
            </a:r>
            <a:endParaRPr lang="en-US" sz="1200" dirty="0"/>
          </a:p>
        </p:txBody>
      </p:sp>
      <p:sp>
        <p:nvSpPr>
          <p:cNvPr id="16" name="Shape 14"/>
          <p:cNvSpPr/>
          <p:nvPr/>
        </p:nvSpPr>
        <p:spPr>
          <a:xfrm>
            <a:off x="685800" y="3813048"/>
            <a:ext cx="5212080" cy="658368"/>
          </a:xfrm>
          <a:prstGeom prst="roundRect">
            <a:avLst>
              <a:gd name="adj" fmla="val 9722"/>
            </a:avLst>
          </a:prstGeom>
          <a:solidFill>
            <a:srgbClr val="121D33"/>
          </a:solidFill>
          <a:ln w="12700">
            <a:solidFill>
              <a:srgbClr val="35456B"/>
            </a:solidFill>
            <a:prstDash val="solid"/>
          </a:ln>
        </p:spPr>
      </p:sp>
      <p:sp>
        <p:nvSpPr>
          <p:cNvPr id="17" name="Text 15"/>
          <p:cNvSpPr/>
          <p:nvPr/>
        </p:nvSpPr>
        <p:spPr>
          <a:xfrm>
            <a:off x="868680" y="3813048"/>
            <a:ext cx="2834640" cy="658368"/>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Global Average</a:t>
            </a:r>
            <a:endParaRPr lang="en-US" sz="1250" dirty="0"/>
          </a:p>
          <a:p>
            <a:pPr marL="0" indent="0">
              <a:buNone/>
            </a:pPr>
            <a:r>
              <a:rPr lang="en-US" sz="1250" b="1" dirty="0">
                <a:solidFill>
                  <a:srgbClr val="FFFFFF"/>
                </a:solidFill>
                <a:latin typeface="Calibri" pitchFamily="34" charset="0"/>
                <a:ea typeface="Calibri" pitchFamily="34" charset="-122"/>
                <a:cs typeface="Calibri" pitchFamily="34" charset="-120"/>
              </a:rPr>
              <a:t>Pooling 2D</a:t>
            </a:r>
            <a:endParaRPr lang="en-US" sz="1250" dirty="0"/>
          </a:p>
        </p:txBody>
      </p:sp>
      <p:sp>
        <p:nvSpPr>
          <p:cNvPr id="18" name="Text 16"/>
          <p:cNvSpPr/>
          <p:nvPr/>
        </p:nvSpPr>
        <p:spPr>
          <a:xfrm>
            <a:off x="3108960" y="4471416"/>
            <a:ext cx="365760" cy="128016"/>
          </a:xfrm>
          <a:prstGeom prst="rect">
            <a:avLst/>
          </a:prstGeom>
          <a:noFill/>
          <a:ln/>
        </p:spPr>
        <p:txBody>
          <a:bodyPr wrap="square" lIns="0" tIns="0" rIns="0" bIns="0" rtlCol="0" anchor="ctr"/>
          <a:lstStyle/>
          <a:p>
            <a:pPr marL="0" indent="0" algn="ctr">
              <a:buNone/>
            </a:pPr>
            <a:r>
              <a:rPr lang="en-US" sz="1200" dirty="0">
                <a:solidFill>
                  <a:srgbClr val="00B4A6"/>
                </a:solidFill>
                <a:latin typeface="Calibri" pitchFamily="34" charset="0"/>
                <a:ea typeface="Calibri" pitchFamily="34" charset="-122"/>
                <a:cs typeface="Calibri" pitchFamily="34" charset="-120"/>
              </a:rPr>
              <a:t>↓</a:t>
            </a:r>
            <a:endParaRPr lang="en-US" sz="1200" dirty="0"/>
          </a:p>
        </p:txBody>
      </p:sp>
      <p:sp>
        <p:nvSpPr>
          <p:cNvPr id="19" name="Shape 17"/>
          <p:cNvSpPr/>
          <p:nvPr/>
        </p:nvSpPr>
        <p:spPr>
          <a:xfrm>
            <a:off x="685800" y="4581144"/>
            <a:ext cx="5212080" cy="658368"/>
          </a:xfrm>
          <a:prstGeom prst="roundRect">
            <a:avLst>
              <a:gd name="adj" fmla="val 9722"/>
            </a:avLst>
          </a:prstGeom>
          <a:solidFill>
            <a:srgbClr val="121D33"/>
          </a:solidFill>
          <a:ln w="12700">
            <a:solidFill>
              <a:srgbClr val="35456B"/>
            </a:solidFill>
            <a:prstDash val="solid"/>
          </a:ln>
        </p:spPr>
      </p:sp>
      <p:sp>
        <p:nvSpPr>
          <p:cNvPr id="20" name="Text 18"/>
          <p:cNvSpPr/>
          <p:nvPr/>
        </p:nvSpPr>
        <p:spPr>
          <a:xfrm>
            <a:off x="868680" y="4581144"/>
            <a:ext cx="2834640" cy="658368"/>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Dropout (0.3) +</a:t>
            </a:r>
            <a:endParaRPr lang="en-US" sz="1250" dirty="0"/>
          </a:p>
          <a:p>
            <a:pPr marL="0" indent="0">
              <a:buNone/>
            </a:pPr>
            <a:r>
              <a:rPr lang="en-US" sz="1250" b="1" dirty="0">
                <a:solidFill>
                  <a:srgbClr val="FFFFFF"/>
                </a:solidFill>
                <a:latin typeface="Calibri" pitchFamily="34" charset="0"/>
                <a:ea typeface="Calibri" pitchFamily="34" charset="-122"/>
                <a:cs typeface="Calibri" pitchFamily="34" charset="-120"/>
              </a:rPr>
              <a:t>Dense 128 (ReLU)</a:t>
            </a:r>
            <a:endParaRPr lang="en-US" sz="1250" dirty="0"/>
          </a:p>
        </p:txBody>
      </p:sp>
      <p:sp>
        <p:nvSpPr>
          <p:cNvPr id="21" name="Text 19"/>
          <p:cNvSpPr/>
          <p:nvPr/>
        </p:nvSpPr>
        <p:spPr>
          <a:xfrm>
            <a:off x="3108960" y="5239512"/>
            <a:ext cx="365760" cy="128016"/>
          </a:xfrm>
          <a:prstGeom prst="rect">
            <a:avLst/>
          </a:prstGeom>
          <a:noFill/>
          <a:ln/>
        </p:spPr>
        <p:txBody>
          <a:bodyPr wrap="square" lIns="0" tIns="0" rIns="0" bIns="0" rtlCol="0" anchor="ctr"/>
          <a:lstStyle/>
          <a:p>
            <a:pPr marL="0" indent="0" algn="ctr">
              <a:buNone/>
            </a:pPr>
            <a:r>
              <a:rPr lang="en-US" sz="1200" dirty="0">
                <a:solidFill>
                  <a:srgbClr val="00B4A6"/>
                </a:solidFill>
                <a:latin typeface="Calibri" pitchFamily="34" charset="0"/>
                <a:ea typeface="Calibri" pitchFamily="34" charset="-122"/>
                <a:cs typeface="Calibri" pitchFamily="34" charset="-120"/>
              </a:rPr>
              <a:t>↓</a:t>
            </a:r>
            <a:endParaRPr lang="en-US" sz="1200" dirty="0"/>
          </a:p>
        </p:txBody>
      </p:sp>
      <p:sp>
        <p:nvSpPr>
          <p:cNvPr id="22" name="Shape 20"/>
          <p:cNvSpPr/>
          <p:nvPr/>
        </p:nvSpPr>
        <p:spPr>
          <a:xfrm>
            <a:off x="685800" y="5349240"/>
            <a:ext cx="5212080" cy="658368"/>
          </a:xfrm>
          <a:prstGeom prst="roundRect">
            <a:avLst>
              <a:gd name="adj" fmla="val 9722"/>
            </a:avLst>
          </a:prstGeom>
          <a:solidFill>
            <a:srgbClr val="121D33"/>
          </a:solidFill>
          <a:ln w="12700">
            <a:solidFill>
              <a:srgbClr val="35456B"/>
            </a:solidFill>
            <a:prstDash val="solid"/>
          </a:ln>
        </p:spPr>
      </p:sp>
      <p:sp>
        <p:nvSpPr>
          <p:cNvPr id="23" name="Text 21"/>
          <p:cNvSpPr/>
          <p:nvPr/>
        </p:nvSpPr>
        <p:spPr>
          <a:xfrm>
            <a:off x="868680" y="5349240"/>
            <a:ext cx="2834640" cy="658368"/>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Dropout (0.3) +</a:t>
            </a:r>
            <a:endParaRPr lang="en-US" sz="1250" dirty="0"/>
          </a:p>
          <a:p>
            <a:pPr marL="0" indent="0">
              <a:buNone/>
            </a:pPr>
            <a:r>
              <a:rPr lang="en-US" sz="1250" b="1" dirty="0">
                <a:solidFill>
                  <a:srgbClr val="FFFFFF"/>
                </a:solidFill>
                <a:latin typeface="Calibri" pitchFamily="34" charset="0"/>
                <a:ea typeface="Calibri" pitchFamily="34" charset="-122"/>
                <a:cs typeface="Calibri" pitchFamily="34" charset="-120"/>
              </a:rPr>
              <a:t>Dense 4 (Softmax)</a:t>
            </a:r>
            <a:endParaRPr lang="en-US" sz="1250" dirty="0"/>
          </a:p>
        </p:txBody>
      </p:sp>
      <p:sp>
        <p:nvSpPr>
          <p:cNvPr id="24" name="Text 22"/>
          <p:cNvSpPr/>
          <p:nvPr/>
        </p:nvSpPr>
        <p:spPr>
          <a:xfrm>
            <a:off x="3703320" y="5349240"/>
            <a:ext cx="2011680" cy="658368"/>
          </a:xfrm>
          <a:prstGeom prst="rect">
            <a:avLst/>
          </a:prstGeom>
          <a:noFill/>
          <a:ln/>
        </p:spPr>
        <p:txBody>
          <a:bodyPr wrap="square" rtlCol="0" anchor="ctr"/>
          <a:lstStyle/>
          <a:p>
            <a:pPr marL="0" indent="0" algn="r">
              <a:buNone/>
            </a:pPr>
            <a:r>
              <a:rPr lang="en-US" sz="1000" i="1" dirty="0">
                <a:solidFill>
                  <a:srgbClr val="AEB9CC"/>
                </a:solidFill>
                <a:latin typeface="Calibri" pitchFamily="34" charset="0"/>
                <a:ea typeface="Calibri" pitchFamily="34" charset="-122"/>
                <a:cs typeface="Calibri" pitchFamily="34" charset="-120"/>
              </a:rPr>
              <a:t>4-class output</a:t>
            </a:r>
            <a:endParaRPr lang="en-US" sz="1000" dirty="0"/>
          </a:p>
        </p:txBody>
      </p:sp>
      <p:sp>
        <p:nvSpPr>
          <p:cNvPr id="25" name="Shape 23"/>
          <p:cNvSpPr/>
          <p:nvPr/>
        </p:nvSpPr>
        <p:spPr>
          <a:xfrm>
            <a:off x="6492240" y="1508760"/>
            <a:ext cx="5074920" cy="1417320"/>
          </a:xfrm>
          <a:prstGeom prst="roundRect">
            <a:avLst>
              <a:gd name="adj" fmla="val 5161"/>
            </a:avLst>
          </a:prstGeom>
          <a:solidFill>
            <a:srgbClr val="121D33"/>
          </a:solidFill>
          <a:ln/>
        </p:spPr>
      </p:sp>
      <p:sp>
        <p:nvSpPr>
          <p:cNvPr id="26" name="Text 24"/>
          <p:cNvSpPr/>
          <p:nvPr/>
        </p:nvSpPr>
        <p:spPr>
          <a:xfrm>
            <a:off x="6766560" y="1645920"/>
            <a:ext cx="4572000" cy="320040"/>
          </a:xfrm>
          <a:prstGeom prst="rect">
            <a:avLst/>
          </a:prstGeom>
          <a:noFill/>
          <a:ln/>
        </p:spPr>
        <p:txBody>
          <a:bodyPr wrap="square" rtlCol="0" anchor="ctr"/>
          <a:lstStyle/>
          <a:p>
            <a:pPr marL="0" indent="0">
              <a:buNone/>
            </a:pPr>
            <a:r>
              <a:rPr lang="en-US" sz="1300" b="1" dirty="0">
                <a:solidFill>
                  <a:srgbClr val="00B4A6"/>
                </a:solidFill>
                <a:latin typeface="Cambria" pitchFamily="34" charset="0"/>
                <a:ea typeface="Cambria" pitchFamily="34" charset="-122"/>
                <a:cs typeface="Cambria" pitchFamily="34" charset="-120"/>
              </a:rPr>
              <a:t>Model Parameters</a:t>
            </a:r>
            <a:endParaRPr lang="en-US" sz="1300" dirty="0"/>
          </a:p>
        </p:txBody>
      </p:sp>
      <p:sp>
        <p:nvSpPr>
          <p:cNvPr id="27" name="Text 25"/>
          <p:cNvSpPr/>
          <p:nvPr/>
        </p:nvSpPr>
        <p:spPr>
          <a:xfrm>
            <a:off x="6766560" y="1965960"/>
            <a:ext cx="2377440" cy="502920"/>
          </a:xfrm>
          <a:prstGeom prst="rect">
            <a:avLst/>
          </a:prstGeom>
          <a:noFill/>
          <a:ln/>
        </p:spPr>
        <p:txBody>
          <a:bodyPr wrap="square"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2,422,468</a:t>
            </a:r>
            <a:endParaRPr lang="en-US" sz="2600" dirty="0"/>
          </a:p>
        </p:txBody>
      </p:sp>
      <p:sp>
        <p:nvSpPr>
          <p:cNvPr id="28" name="Text 26"/>
          <p:cNvSpPr/>
          <p:nvPr/>
        </p:nvSpPr>
        <p:spPr>
          <a:xfrm>
            <a:off x="6766560" y="2487168"/>
            <a:ext cx="2377440" cy="274320"/>
          </a:xfrm>
          <a:prstGeom prst="rect">
            <a:avLst/>
          </a:prstGeom>
          <a:noFill/>
          <a:ln/>
        </p:spPr>
        <p:txBody>
          <a:bodyPr wrap="square" rtlCol="0" anchor="ctr"/>
          <a:lstStyle/>
          <a:p>
            <a:pPr marL="0" indent="0">
              <a:buNone/>
            </a:pPr>
            <a:r>
              <a:rPr lang="en-US" sz="1000" dirty="0">
                <a:solidFill>
                  <a:srgbClr val="AEB9CC"/>
                </a:solidFill>
                <a:latin typeface="Calibri" pitchFamily="34" charset="0"/>
                <a:ea typeface="Calibri" pitchFamily="34" charset="-122"/>
                <a:cs typeface="Calibri" pitchFamily="34" charset="-120"/>
              </a:rPr>
              <a:t>Total</a:t>
            </a:r>
            <a:endParaRPr lang="en-US" sz="1000" dirty="0"/>
          </a:p>
        </p:txBody>
      </p:sp>
      <p:sp>
        <p:nvSpPr>
          <p:cNvPr id="29" name="Text 27"/>
          <p:cNvSpPr/>
          <p:nvPr/>
        </p:nvSpPr>
        <p:spPr>
          <a:xfrm>
            <a:off x="9235440" y="1965960"/>
            <a:ext cx="2194560" cy="502920"/>
          </a:xfrm>
          <a:prstGeom prst="rect">
            <a:avLst/>
          </a:prstGeom>
          <a:noFill/>
          <a:ln/>
        </p:spPr>
        <p:txBody>
          <a:bodyPr wrap="square" rtlCol="0" anchor="ctr"/>
          <a:lstStyle/>
          <a:p>
            <a:pPr marL="0" indent="0">
              <a:buNone/>
            </a:pPr>
            <a:r>
              <a:rPr lang="en-US" sz="2600" b="1" dirty="0">
                <a:solidFill>
                  <a:srgbClr val="00B4A6"/>
                </a:solidFill>
                <a:latin typeface="Cambria" pitchFamily="34" charset="0"/>
                <a:ea typeface="Cambria" pitchFamily="34" charset="-122"/>
                <a:cs typeface="Cambria" pitchFamily="34" charset="-120"/>
              </a:rPr>
              <a:t>164,484</a:t>
            </a:r>
            <a:endParaRPr lang="en-US" sz="2600" dirty="0"/>
          </a:p>
        </p:txBody>
      </p:sp>
      <p:sp>
        <p:nvSpPr>
          <p:cNvPr id="30" name="Text 28"/>
          <p:cNvSpPr/>
          <p:nvPr/>
        </p:nvSpPr>
        <p:spPr>
          <a:xfrm>
            <a:off x="9235440" y="2487168"/>
            <a:ext cx="2194560" cy="274320"/>
          </a:xfrm>
          <a:prstGeom prst="rect">
            <a:avLst/>
          </a:prstGeom>
          <a:noFill/>
          <a:ln/>
        </p:spPr>
        <p:txBody>
          <a:bodyPr wrap="square" rtlCol="0" anchor="ctr"/>
          <a:lstStyle/>
          <a:p>
            <a:pPr marL="0" indent="0">
              <a:buNone/>
            </a:pPr>
            <a:r>
              <a:rPr lang="en-US" sz="1000" dirty="0">
                <a:solidFill>
                  <a:srgbClr val="AEB9CC"/>
                </a:solidFill>
                <a:latin typeface="Calibri" pitchFamily="34" charset="0"/>
                <a:ea typeface="Calibri" pitchFamily="34" charset="-122"/>
                <a:cs typeface="Calibri" pitchFamily="34" charset="-120"/>
              </a:rPr>
              <a:t>Trainable</a:t>
            </a:r>
            <a:endParaRPr lang="en-US" sz="1000" dirty="0"/>
          </a:p>
        </p:txBody>
      </p:sp>
      <p:sp>
        <p:nvSpPr>
          <p:cNvPr id="31" name="Shape 29"/>
          <p:cNvSpPr/>
          <p:nvPr/>
        </p:nvSpPr>
        <p:spPr>
          <a:xfrm>
            <a:off x="6492240" y="3108960"/>
            <a:ext cx="5074920" cy="2331720"/>
          </a:xfrm>
          <a:prstGeom prst="roundRect">
            <a:avLst>
              <a:gd name="adj" fmla="val 3137"/>
            </a:avLst>
          </a:prstGeom>
          <a:solidFill>
            <a:srgbClr val="121D33"/>
          </a:solidFill>
          <a:ln/>
        </p:spPr>
      </p:sp>
      <p:sp>
        <p:nvSpPr>
          <p:cNvPr id="32" name="Text 30"/>
          <p:cNvSpPr/>
          <p:nvPr/>
        </p:nvSpPr>
        <p:spPr>
          <a:xfrm>
            <a:off x="6766560" y="3246120"/>
            <a:ext cx="4572000" cy="320040"/>
          </a:xfrm>
          <a:prstGeom prst="rect">
            <a:avLst/>
          </a:prstGeom>
          <a:noFill/>
          <a:ln/>
        </p:spPr>
        <p:txBody>
          <a:bodyPr wrap="square" rtlCol="0" anchor="ctr"/>
          <a:lstStyle/>
          <a:p>
            <a:pPr marL="0" indent="0">
              <a:buNone/>
            </a:pPr>
            <a:r>
              <a:rPr lang="en-US" sz="1300" b="1" dirty="0">
                <a:solidFill>
                  <a:srgbClr val="00B4A6"/>
                </a:solidFill>
                <a:latin typeface="Cambria" pitchFamily="34" charset="0"/>
                <a:ea typeface="Cambria" pitchFamily="34" charset="-122"/>
                <a:cs typeface="Cambria" pitchFamily="34" charset="-120"/>
              </a:rPr>
              <a:t>Configuration</a:t>
            </a:r>
            <a:endParaRPr lang="en-US" sz="1300" dirty="0"/>
          </a:p>
        </p:txBody>
      </p:sp>
      <p:sp>
        <p:nvSpPr>
          <p:cNvPr id="33" name="Text 31"/>
          <p:cNvSpPr/>
          <p:nvPr/>
        </p:nvSpPr>
        <p:spPr>
          <a:xfrm>
            <a:off x="6766560" y="3611880"/>
            <a:ext cx="4572000" cy="1737360"/>
          </a:xfrm>
          <a:prstGeom prst="rect">
            <a:avLst/>
          </a:prstGeom>
          <a:noFill/>
          <a:ln/>
        </p:spPr>
        <p:txBody>
          <a:bodyPr wrap="square" rtlCol="0" anchor="ctr"/>
          <a:lstStyle/>
          <a:p>
            <a:pPr marL="342900" indent="-342900">
              <a:spcAft>
                <a:spcPts val="800"/>
              </a:spcAft>
              <a:buSzPct val="100000"/>
              <a:buChar char="•"/>
            </a:pPr>
            <a:r>
              <a:rPr lang="en-US" sz="1150" dirty="0">
                <a:solidFill>
                  <a:srgbClr val="D8E0EC"/>
                </a:solidFill>
                <a:latin typeface="Courier New" pitchFamily="34" charset="0"/>
                <a:ea typeface="Courier New" pitchFamily="34" charset="-122"/>
                <a:cs typeface="Courier New" pitchFamily="34" charset="-120"/>
              </a:rPr>
              <a:t>weights = "imagenet"</a:t>
            </a:r>
            <a:endParaRPr lang="en-US" sz="1150" dirty="0"/>
          </a:p>
          <a:p>
            <a:pPr marL="342900" indent="-342900">
              <a:spcAft>
                <a:spcPts val="800"/>
              </a:spcAft>
              <a:buSzPct val="100000"/>
              <a:buChar char="•"/>
            </a:pPr>
            <a:r>
              <a:rPr lang="en-US" sz="1150" dirty="0">
                <a:solidFill>
                  <a:srgbClr val="D8E0EC"/>
                </a:solidFill>
                <a:latin typeface="Courier New" pitchFamily="34" charset="0"/>
                <a:ea typeface="Courier New" pitchFamily="34" charset="-122"/>
                <a:cs typeface="Courier New" pitchFamily="34" charset="-120"/>
              </a:rPr>
              <a:t>include_top = False</a:t>
            </a:r>
            <a:endParaRPr lang="en-US" sz="1150" dirty="0"/>
          </a:p>
          <a:p>
            <a:pPr marL="342900" indent="-342900">
              <a:spcAft>
                <a:spcPts val="800"/>
              </a:spcAft>
              <a:buSzPct val="100000"/>
              <a:buChar char="•"/>
            </a:pPr>
            <a:r>
              <a:rPr lang="en-US" sz="1150" dirty="0">
                <a:solidFill>
                  <a:srgbClr val="D8E0EC"/>
                </a:solidFill>
                <a:latin typeface="Courier New" pitchFamily="34" charset="0"/>
                <a:ea typeface="Courier New" pitchFamily="34" charset="-122"/>
                <a:cs typeface="Courier New" pitchFamily="34" charset="-120"/>
              </a:rPr>
              <a:t>input_shape = (224, 224, 3)</a:t>
            </a:r>
            <a:endParaRPr lang="en-US" sz="1150" dirty="0"/>
          </a:p>
          <a:p>
            <a:pPr marL="342900" indent="-342900">
              <a:spcAft>
                <a:spcPts val="800"/>
              </a:spcAft>
              <a:buSzPct val="100000"/>
              <a:buChar char="•"/>
            </a:pPr>
            <a:r>
              <a:rPr lang="en-US" sz="1150" dirty="0">
                <a:solidFill>
                  <a:srgbClr val="D8E0EC"/>
                </a:solidFill>
                <a:latin typeface="Courier New" pitchFamily="34" charset="0"/>
                <a:ea typeface="Courier New" pitchFamily="34" charset="-122"/>
                <a:cs typeface="Courier New" pitchFamily="34" charset="-120"/>
              </a:rPr>
              <a:t>base_model.trainable = False</a:t>
            </a:r>
            <a:endParaRPr lang="en-US" sz="1150" dirty="0"/>
          </a:p>
          <a:p>
            <a:pPr marL="342900" indent="-342900">
              <a:spcAft>
                <a:spcPts val="800"/>
              </a:spcAft>
              <a:buSzPct val="100000"/>
              <a:buChar char="•"/>
            </a:pPr>
            <a:r>
              <a:rPr lang="en-US" sz="1150" dirty="0">
                <a:solidFill>
                  <a:srgbClr val="D8E0EC"/>
                </a:solidFill>
                <a:latin typeface="Courier New" pitchFamily="34" charset="0"/>
                <a:ea typeface="Courier New" pitchFamily="34" charset="-122"/>
                <a:cs typeface="Courier New" pitchFamily="34" charset="-120"/>
              </a:rPr>
              <a:t>Non-trainable parameters: 2,257,984</a:t>
            </a:r>
            <a:endParaRPr lang="en-US" sz="1150" dirty="0"/>
          </a:p>
        </p:txBody>
      </p:sp>
      <p:sp>
        <p:nvSpPr>
          <p:cNvPr id="34" name="Text 32"/>
          <p:cNvSpPr/>
          <p:nvPr/>
        </p:nvSpPr>
        <p:spPr>
          <a:xfrm>
            <a:off x="457200" y="6537960"/>
            <a:ext cx="6400800" cy="274320"/>
          </a:xfrm>
          <a:prstGeom prst="rect">
            <a:avLst/>
          </a:prstGeom>
          <a:noFill/>
          <a:ln/>
        </p:spPr>
        <p:txBody>
          <a:bodyPr wrap="square" rtlCol="0" anchor="ctr"/>
          <a:lstStyle/>
          <a:p>
            <a:r>
              <a:rPr lang="en-US" sz="900" b="1" dirty="0">
                <a:solidFill>
                  <a:schemeClr val="bg1"/>
                </a:solidFill>
              </a:rPr>
              <a:t>AI-Powered Public Infrastructure Issue Detection and Reporting System</a:t>
            </a:r>
          </a:p>
        </p:txBody>
      </p:sp>
      <p:sp>
        <p:nvSpPr>
          <p:cNvPr id="35" name="Text 33"/>
          <p:cNvSpPr/>
          <p:nvPr/>
        </p:nvSpPr>
        <p:spPr>
          <a:xfrm>
            <a:off x="11274552" y="6537960"/>
            <a:ext cx="457200" cy="274320"/>
          </a:xfrm>
          <a:prstGeom prst="rect">
            <a:avLst/>
          </a:prstGeom>
          <a:noFill/>
          <a:ln/>
        </p:spPr>
        <p:txBody>
          <a:bodyPr wrap="square" rtlCol="0" anchor="ctr"/>
          <a:lstStyle/>
          <a:p>
            <a:pPr marL="0" indent="0" algn="r">
              <a:buNone/>
            </a:pPr>
            <a:r>
              <a:rPr lang="en-US" sz="900" dirty="0">
                <a:solidFill>
                  <a:srgbClr val="8C97AA"/>
                </a:solidFill>
                <a:latin typeface="Calibri" pitchFamily="34" charset="0"/>
                <a:ea typeface="Calibri" pitchFamily="34" charset="-122"/>
                <a:cs typeface="Calibri" pitchFamily="34" charset="-120"/>
              </a:rPr>
              <a:t>6</a:t>
            </a:r>
            <a:endParaRPr lang="en-US" sz="900"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9"/>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marL="0" indent="0">
              <a:buNone/>
            </a:pPr>
            <a:r>
              <a:rPr lang="en-US" sz="1200" b="1" kern="0" spc="200" dirty="0">
                <a:solidFill>
                  <a:srgbClr val="00867D"/>
                </a:solidFill>
                <a:latin typeface="Calibri" pitchFamily="34" charset="0"/>
                <a:ea typeface="Calibri" pitchFamily="34" charset="-122"/>
                <a:cs typeface="Calibri" pitchFamily="34" charset="-120"/>
              </a:rPr>
              <a:t>PERFORMANCE SUMMARY</a:t>
            </a:r>
            <a:endParaRPr lang="en-US" sz="1200" dirty="0"/>
          </a:p>
        </p:txBody>
      </p:sp>
      <p:sp>
        <p:nvSpPr>
          <p:cNvPr id="3" name="Text 1"/>
          <p:cNvSpPr/>
          <p:nvPr/>
        </p:nvSpPr>
        <p:spPr>
          <a:xfrm>
            <a:off x="548640" y="621792"/>
            <a:ext cx="10515600" cy="685800"/>
          </a:xfrm>
          <a:prstGeom prst="rect">
            <a:avLst/>
          </a:prstGeom>
          <a:noFill/>
          <a:ln/>
        </p:spPr>
        <p:txBody>
          <a:bodyPr wrap="square" rtlCol="0" anchor="ctr"/>
          <a:lstStyle/>
          <a:p>
            <a:pPr marL="0" indent="0">
              <a:buNone/>
            </a:pPr>
            <a:r>
              <a:rPr lang="en-US" sz="3200" b="1" dirty="0">
                <a:solidFill>
                  <a:srgbClr val="1F2733"/>
                </a:solidFill>
                <a:latin typeface="Cambria" pitchFamily="34" charset="0"/>
                <a:ea typeface="Cambria" pitchFamily="34" charset="-122"/>
                <a:cs typeface="Cambria" pitchFamily="34" charset="-120"/>
              </a:rPr>
              <a:t>Training &amp; Results</a:t>
            </a:r>
            <a:endParaRPr lang="en-US" sz="3200" dirty="0"/>
          </a:p>
        </p:txBody>
      </p:sp>
      <p:sp>
        <p:nvSpPr>
          <p:cNvPr id="4" name="Shape 2"/>
          <p:cNvSpPr/>
          <p:nvPr/>
        </p:nvSpPr>
        <p:spPr>
          <a:xfrm>
            <a:off x="640080" y="1600200"/>
            <a:ext cx="2514600" cy="1371600"/>
          </a:xfrm>
          <a:prstGeom prst="roundRect">
            <a:avLst>
              <a:gd name="adj" fmla="val 6667"/>
            </a:avLst>
          </a:prstGeom>
          <a:solidFill>
            <a:srgbClr val="FFFFFF"/>
          </a:solidFill>
          <a:ln w="12700">
            <a:solidFill>
              <a:srgbClr val="DCE2E9"/>
            </a:solidFill>
            <a:prstDash val="solid"/>
          </a:ln>
          <a:effectLst>
            <a:outerShdw blurRad="76200" dist="25400" dir="5400000" algn="bl" rotWithShape="0">
              <a:srgbClr val="1B2A4A">
                <a:alpha val="10000"/>
              </a:srgbClr>
            </a:outerShdw>
          </a:effectLst>
        </p:spPr>
      </p:sp>
      <p:sp>
        <p:nvSpPr>
          <p:cNvPr id="5" name="Text 3"/>
          <p:cNvSpPr/>
          <p:nvPr/>
        </p:nvSpPr>
        <p:spPr>
          <a:xfrm>
            <a:off x="640080" y="1709928"/>
            <a:ext cx="2514600" cy="749808"/>
          </a:xfrm>
          <a:prstGeom prst="rect">
            <a:avLst/>
          </a:prstGeom>
          <a:noFill/>
          <a:ln/>
        </p:spPr>
        <p:txBody>
          <a:bodyPr wrap="square" rtlCol="0" anchor="ctr"/>
          <a:lstStyle/>
          <a:p>
            <a:pPr marL="0" indent="0" algn="ctr">
              <a:buNone/>
            </a:pPr>
            <a:r>
              <a:rPr lang="en-US" sz="3000" b="1" dirty="0">
                <a:solidFill>
                  <a:srgbClr val="1B2A4A"/>
                </a:solidFill>
                <a:latin typeface="Cambria" pitchFamily="34" charset="0"/>
                <a:ea typeface="Cambria" pitchFamily="34" charset="-122"/>
                <a:cs typeface="Cambria" pitchFamily="34" charset="-120"/>
              </a:rPr>
              <a:t>1</a:t>
            </a:r>
            <a:endParaRPr lang="en-US" sz="3000" dirty="0"/>
          </a:p>
        </p:txBody>
      </p:sp>
      <p:sp>
        <p:nvSpPr>
          <p:cNvPr id="6" name="Text 4"/>
          <p:cNvSpPr/>
          <p:nvPr/>
        </p:nvSpPr>
        <p:spPr>
          <a:xfrm>
            <a:off x="640080" y="2487168"/>
            <a:ext cx="2514600" cy="411480"/>
          </a:xfrm>
          <a:prstGeom prst="rect">
            <a:avLst/>
          </a:prstGeom>
          <a:noFill/>
          <a:ln/>
        </p:spPr>
        <p:txBody>
          <a:bodyPr wrap="square" rtlCol="0" anchor="ctr"/>
          <a:lstStyle/>
          <a:p>
            <a:pPr marL="0" indent="0" algn="ctr">
              <a:buNone/>
            </a:pPr>
            <a:r>
              <a:rPr lang="en-US" sz="1100" dirty="0">
                <a:solidFill>
                  <a:srgbClr val="5B6472"/>
                </a:solidFill>
                <a:latin typeface="Calibri" pitchFamily="34" charset="0"/>
                <a:ea typeface="Calibri" pitchFamily="34" charset="-122"/>
                <a:cs typeface="Calibri" pitchFamily="34" charset="-120"/>
              </a:rPr>
              <a:t>Epoch Trained</a:t>
            </a:r>
            <a:endParaRPr lang="en-US" sz="1100" dirty="0"/>
          </a:p>
        </p:txBody>
      </p:sp>
      <p:sp>
        <p:nvSpPr>
          <p:cNvPr id="7" name="Shape 5"/>
          <p:cNvSpPr/>
          <p:nvPr/>
        </p:nvSpPr>
        <p:spPr>
          <a:xfrm>
            <a:off x="3383280" y="1600200"/>
            <a:ext cx="2514600" cy="1371600"/>
          </a:xfrm>
          <a:prstGeom prst="roundRect">
            <a:avLst>
              <a:gd name="adj" fmla="val 6667"/>
            </a:avLst>
          </a:prstGeom>
          <a:solidFill>
            <a:srgbClr val="FFFFFF"/>
          </a:solidFill>
          <a:ln w="12700">
            <a:solidFill>
              <a:srgbClr val="DCE2E9"/>
            </a:solidFill>
            <a:prstDash val="solid"/>
          </a:ln>
          <a:effectLst>
            <a:outerShdw blurRad="76200" dist="25400" dir="5400000" algn="bl" rotWithShape="0">
              <a:srgbClr val="1B2A4A">
                <a:alpha val="10000"/>
              </a:srgbClr>
            </a:outerShdw>
          </a:effectLst>
        </p:spPr>
      </p:sp>
      <p:sp>
        <p:nvSpPr>
          <p:cNvPr id="8" name="Text 6"/>
          <p:cNvSpPr/>
          <p:nvPr/>
        </p:nvSpPr>
        <p:spPr>
          <a:xfrm>
            <a:off x="3383280" y="1709928"/>
            <a:ext cx="2514600" cy="749808"/>
          </a:xfrm>
          <a:prstGeom prst="rect">
            <a:avLst/>
          </a:prstGeom>
          <a:noFill/>
          <a:ln/>
        </p:spPr>
        <p:txBody>
          <a:bodyPr wrap="square" rtlCol="0" anchor="ctr"/>
          <a:lstStyle/>
          <a:p>
            <a:pPr marL="0" indent="0" algn="ctr">
              <a:buNone/>
            </a:pPr>
            <a:r>
              <a:rPr lang="en-US" sz="3000" b="1" dirty="0">
                <a:solidFill>
                  <a:srgbClr val="1B2A4A"/>
                </a:solidFill>
                <a:latin typeface="Cambria" pitchFamily="34" charset="0"/>
                <a:ea typeface="Cambria" pitchFamily="34" charset="-122"/>
                <a:cs typeface="Cambria" pitchFamily="34" charset="-120"/>
              </a:rPr>
              <a:t>99.00%</a:t>
            </a:r>
            <a:endParaRPr lang="en-US" sz="3000" dirty="0"/>
          </a:p>
        </p:txBody>
      </p:sp>
      <p:sp>
        <p:nvSpPr>
          <p:cNvPr id="9" name="Text 7"/>
          <p:cNvSpPr/>
          <p:nvPr/>
        </p:nvSpPr>
        <p:spPr>
          <a:xfrm>
            <a:off x="3383280" y="2487168"/>
            <a:ext cx="2514600" cy="411480"/>
          </a:xfrm>
          <a:prstGeom prst="rect">
            <a:avLst/>
          </a:prstGeom>
          <a:noFill/>
          <a:ln/>
        </p:spPr>
        <p:txBody>
          <a:bodyPr wrap="square" rtlCol="0" anchor="ctr"/>
          <a:lstStyle/>
          <a:p>
            <a:pPr marL="0" indent="0" algn="ctr">
              <a:buNone/>
            </a:pPr>
            <a:r>
              <a:rPr lang="en-US" sz="1100" dirty="0">
                <a:solidFill>
                  <a:srgbClr val="5B6472"/>
                </a:solidFill>
                <a:latin typeface="Calibri" pitchFamily="34" charset="0"/>
                <a:ea typeface="Calibri" pitchFamily="34" charset="-122"/>
                <a:cs typeface="Calibri" pitchFamily="34" charset="-120"/>
              </a:rPr>
              <a:t>Validation Accuracy</a:t>
            </a:r>
            <a:endParaRPr lang="en-US" sz="1100" dirty="0"/>
          </a:p>
        </p:txBody>
      </p:sp>
      <p:sp>
        <p:nvSpPr>
          <p:cNvPr id="10" name="Shape 8"/>
          <p:cNvSpPr/>
          <p:nvPr/>
        </p:nvSpPr>
        <p:spPr>
          <a:xfrm>
            <a:off x="6126480" y="1600200"/>
            <a:ext cx="2514600" cy="1371600"/>
          </a:xfrm>
          <a:prstGeom prst="roundRect">
            <a:avLst>
              <a:gd name="adj" fmla="val 6667"/>
            </a:avLst>
          </a:prstGeom>
          <a:solidFill>
            <a:srgbClr val="FFFFFF"/>
          </a:solidFill>
          <a:ln w="12700">
            <a:solidFill>
              <a:srgbClr val="DCE2E9"/>
            </a:solidFill>
            <a:prstDash val="solid"/>
          </a:ln>
          <a:effectLst>
            <a:outerShdw blurRad="76200" dist="25400" dir="5400000" algn="bl" rotWithShape="0">
              <a:srgbClr val="1B2A4A">
                <a:alpha val="10000"/>
              </a:srgbClr>
            </a:outerShdw>
          </a:effectLst>
        </p:spPr>
      </p:sp>
      <p:sp>
        <p:nvSpPr>
          <p:cNvPr id="11" name="Text 9"/>
          <p:cNvSpPr/>
          <p:nvPr/>
        </p:nvSpPr>
        <p:spPr>
          <a:xfrm>
            <a:off x="6126480" y="1709928"/>
            <a:ext cx="2514600" cy="749808"/>
          </a:xfrm>
          <a:prstGeom prst="rect">
            <a:avLst/>
          </a:prstGeom>
          <a:noFill/>
          <a:ln/>
        </p:spPr>
        <p:txBody>
          <a:bodyPr wrap="square" rtlCol="0" anchor="ctr"/>
          <a:lstStyle/>
          <a:p>
            <a:pPr marL="0" indent="0" algn="ctr">
              <a:buNone/>
            </a:pPr>
            <a:r>
              <a:rPr lang="en-US" sz="3000" b="1" dirty="0">
                <a:solidFill>
                  <a:srgbClr val="1B2A4A"/>
                </a:solidFill>
                <a:latin typeface="Cambria" pitchFamily="34" charset="0"/>
                <a:ea typeface="Cambria" pitchFamily="34" charset="-122"/>
                <a:cs typeface="Cambria" pitchFamily="34" charset="-120"/>
              </a:rPr>
              <a:t>98.33%</a:t>
            </a:r>
            <a:endParaRPr lang="en-US" sz="3000" dirty="0"/>
          </a:p>
        </p:txBody>
      </p:sp>
      <p:sp>
        <p:nvSpPr>
          <p:cNvPr id="12" name="Text 10"/>
          <p:cNvSpPr/>
          <p:nvPr/>
        </p:nvSpPr>
        <p:spPr>
          <a:xfrm>
            <a:off x="6126480" y="2487168"/>
            <a:ext cx="2514600" cy="411480"/>
          </a:xfrm>
          <a:prstGeom prst="rect">
            <a:avLst/>
          </a:prstGeom>
          <a:noFill/>
          <a:ln/>
        </p:spPr>
        <p:txBody>
          <a:bodyPr wrap="square" rtlCol="0" anchor="ctr"/>
          <a:lstStyle/>
          <a:p>
            <a:pPr marL="0" indent="0" algn="ctr">
              <a:buNone/>
            </a:pPr>
            <a:r>
              <a:rPr lang="en-US" sz="1100" dirty="0">
                <a:solidFill>
                  <a:srgbClr val="5B6472"/>
                </a:solidFill>
                <a:latin typeface="Calibri" pitchFamily="34" charset="0"/>
                <a:ea typeface="Calibri" pitchFamily="34" charset="-122"/>
                <a:cs typeface="Calibri" pitchFamily="34" charset="-120"/>
              </a:rPr>
              <a:t>Test Accuracy</a:t>
            </a:r>
            <a:endParaRPr lang="en-US" sz="1100" dirty="0"/>
          </a:p>
        </p:txBody>
      </p:sp>
      <p:sp>
        <p:nvSpPr>
          <p:cNvPr id="13" name="Shape 11"/>
          <p:cNvSpPr/>
          <p:nvPr/>
        </p:nvSpPr>
        <p:spPr>
          <a:xfrm>
            <a:off x="8869680" y="1600200"/>
            <a:ext cx="2514600" cy="1371600"/>
          </a:xfrm>
          <a:prstGeom prst="roundRect">
            <a:avLst>
              <a:gd name="adj" fmla="val 6667"/>
            </a:avLst>
          </a:prstGeom>
          <a:solidFill>
            <a:srgbClr val="FFFFFF"/>
          </a:solidFill>
          <a:ln w="12700">
            <a:solidFill>
              <a:srgbClr val="DCE2E9"/>
            </a:solidFill>
            <a:prstDash val="solid"/>
          </a:ln>
          <a:effectLst>
            <a:outerShdw blurRad="76200" dist="25400" dir="5400000" algn="bl" rotWithShape="0">
              <a:srgbClr val="1B2A4A">
                <a:alpha val="10000"/>
              </a:srgbClr>
            </a:outerShdw>
          </a:effectLst>
        </p:spPr>
      </p:sp>
      <p:sp>
        <p:nvSpPr>
          <p:cNvPr id="14" name="Text 12"/>
          <p:cNvSpPr/>
          <p:nvPr/>
        </p:nvSpPr>
        <p:spPr>
          <a:xfrm>
            <a:off x="8869680" y="1709928"/>
            <a:ext cx="2514600" cy="749808"/>
          </a:xfrm>
          <a:prstGeom prst="rect">
            <a:avLst/>
          </a:prstGeom>
          <a:noFill/>
          <a:ln/>
        </p:spPr>
        <p:txBody>
          <a:bodyPr wrap="square" rtlCol="0" anchor="ctr"/>
          <a:lstStyle/>
          <a:p>
            <a:pPr marL="0" indent="0" algn="ctr">
              <a:buNone/>
            </a:pPr>
            <a:r>
              <a:rPr lang="en-US" sz="3000" b="1" dirty="0">
                <a:solidFill>
                  <a:srgbClr val="1B2A4A"/>
                </a:solidFill>
                <a:latin typeface="Cambria" pitchFamily="34" charset="0"/>
                <a:ea typeface="Cambria" pitchFamily="34" charset="-122"/>
                <a:cs typeface="Cambria" pitchFamily="34" charset="-120"/>
              </a:rPr>
              <a:t>0.0412</a:t>
            </a:r>
            <a:endParaRPr lang="en-US" sz="3000" dirty="0"/>
          </a:p>
        </p:txBody>
      </p:sp>
      <p:sp>
        <p:nvSpPr>
          <p:cNvPr id="15" name="Text 13"/>
          <p:cNvSpPr/>
          <p:nvPr/>
        </p:nvSpPr>
        <p:spPr>
          <a:xfrm>
            <a:off x="8869680" y="2487168"/>
            <a:ext cx="2514600" cy="411480"/>
          </a:xfrm>
          <a:prstGeom prst="rect">
            <a:avLst/>
          </a:prstGeom>
          <a:noFill/>
          <a:ln/>
        </p:spPr>
        <p:txBody>
          <a:bodyPr wrap="square" rtlCol="0" anchor="ctr"/>
          <a:lstStyle/>
          <a:p>
            <a:pPr marL="0" indent="0" algn="ctr">
              <a:buNone/>
            </a:pPr>
            <a:r>
              <a:rPr lang="en-US" sz="1100" dirty="0">
                <a:solidFill>
                  <a:srgbClr val="5B6472"/>
                </a:solidFill>
                <a:latin typeface="Calibri" pitchFamily="34" charset="0"/>
                <a:ea typeface="Calibri" pitchFamily="34" charset="-122"/>
                <a:cs typeface="Calibri" pitchFamily="34" charset="-120"/>
              </a:rPr>
              <a:t>Test Loss</a:t>
            </a:r>
            <a:endParaRPr lang="en-US" sz="1100" dirty="0"/>
          </a:p>
        </p:txBody>
      </p:sp>
      <p:sp>
        <p:nvSpPr>
          <p:cNvPr id="16" name="Shape 14"/>
          <p:cNvSpPr/>
          <p:nvPr/>
        </p:nvSpPr>
        <p:spPr>
          <a:xfrm>
            <a:off x="640080" y="3200400"/>
            <a:ext cx="10881360" cy="1188720"/>
          </a:xfrm>
          <a:prstGeom prst="roundRect">
            <a:avLst>
              <a:gd name="adj" fmla="val 6154"/>
            </a:avLst>
          </a:prstGeom>
          <a:solidFill>
            <a:srgbClr val="FCEFDD"/>
          </a:solidFill>
          <a:ln w="12700">
            <a:solidFill>
              <a:srgbClr val="E0912F"/>
            </a:solidFill>
            <a:prstDash val="solid"/>
          </a:ln>
        </p:spPr>
      </p:sp>
      <p:sp>
        <p:nvSpPr>
          <p:cNvPr id="17" name="Text 15"/>
          <p:cNvSpPr/>
          <p:nvPr/>
        </p:nvSpPr>
        <p:spPr>
          <a:xfrm>
            <a:off x="914400" y="3310128"/>
            <a:ext cx="10332720" cy="292608"/>
          </a:xfrm>
          <a:prstGeom prst="rect">
            <a:avLst/>
          </a:prstGeom>
          <a:noFill/>
          <a:ln/>
        </p:spPr>
        <p:txBody>
          <a:bodyPr wrap="square" rtlCol="0" anchor="ctr"/>
          <a:lstStyle/>
          <a:p>
            <a:pPr marL="0" indent="0">
              <a:buNone/>
            </a:pPr>
            <a:r>
              <a:rPr lang="en-US" sz="1300" b="1" dirty="0">
                <a:solidFill>
                  <a:srgbClr val="6B4A17"/>
                </a:solidFill>
                <a:latin typeface="Cambria" pitchFamily="34" charset="0"/>
                <a:ea typeface="Cambria" pitchFamily="34" charset="-122"/>
                <a:cs typeface="Cambria" pitchFamily="34" charset="-120"/>
              </a:rPr>
              <a:t>Why only 1 epoch?</a:t>
            </a:r>
            <a:endParaRPr lang="en-US" sz="1300" dirty="0"/>
          </a:p>
        </p:txBody>
      </p:sp>
      <p:sp>
        <p:nvSpPr>
          <p:cNvPr id="18" name="Text 16"/>
          <p:cNvSpPr/>
          <p:nvPr/>
        </p:nvSpPr>
        <p:spPr>
          <a:xfrm>
            <a:off x="914400" y="3621024"/>
            <a:ext cx="10332720" cy="713232"/>
          </a:xfrm>
          <a:prstGeom prst="rect">
            <a:avLst/>
          </a:prstGeom>
          <a:noFill/>
          <a:ln/>
        </p:spPr>
        <p:txBody>
          <a:bodyPr wrap="square" rtlCol="0" anchor="ctr"/>
          <a:lstStyle/>
          <a:p>
            <a:pPr marL="0" indent="0">
              <a:lnSpc>
                <a:spcPct val="110000"/>
              </a:lnSpc>
              <a:buNone/>
            </a:pPr>
            <a:r>
              <a:rPr lang="en-US" sz="1100" dirty="0">
                <a:solidFill>
                  <a:srgbClr val="6B4A17"/>
                </a:solidFill>
                <a:latin typeface="Calibri" pitchFamily="34" charset="0"/>
                <a:ea typeface="Calibri" pitchFamily="34" charset="-122"/>
                <a:cs typeface="Calibri" pitchFamily="34" charset="-120"/>
              </a:rPr>
              <a:t>Training was limited to 1 epoch because of a limited project timeframe and CPU-only training (TensorFlow 2.21.0, native Windows, no GPU support available). This kept high accuracy achievable within the time available, but it is not presented as an ideal training setup.</a:t>
            </a:r>
            <a:endParaRPr lang="en-US" sz="1100" dirty="0"/>
          </a:p>
        </p:txBody>
      </p:sp>
      <p:sp>
        <p:nvSpPr>
          <p:cNvPr id="19" name="Text 17"/>
          <p:cNvSpPr/>
          <p:nvPr/>
        </p:nvSpPr>
        <p:spPr>
          <a:xfrm>
            <a:off x="640080" y="4572000"/>
            <a:ext cx="5486400" cy="274320"/>
          </a:xfrm>
          <a:prstGeom prst="rect">
            <a:avLst/>
          </a:prstGeom>
          <a:noFill/>
          <a:ln/>
        </p:spPr>
        <p:txBody>
          <a:bodyPr wrap="square" rtlCol="0" anchor="ctr"/>
          <a:lstStyle/>
          <a:p>
            <a:pPr marL="0" indent="0">
              <a:buNone/>
            </a:pPr>
            <a:r>
              <a:rPr lang="en-US" sz="1250" b="1" dirty="0">
                <a:solidFill>
                  <a:srgbClr val="1B2A4A"/>
                </a:solidFill>
                <a:latin typeface="Cambria" pitchFamily="34" charset="0"/>
                <a:ea typeface="Cambria" pitchFamily="34" charset="-122"/>
                <a:cs typeface="Cambria" pitchFamily="34" charset="-120"/>
              </a:rPr>
              <a:t>Classification report (per class)</a:t>
            </a:r>
            <a:endParaRPr lang="en-US" sz="125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40080" y="4864608"/>
          <a:ext cx="10881360" cy="1325880"/>
        </p:xfrm>
        <a:graphic>
          <a:graphicData uri="http://schemas.openxmlformats.org/drawingml/2006/table">
            <a:tbl>
              <a:tblPr/>
              <a:tblGrid>
                <a:gridCol w="2743200"/>
                <a:gridCol w="2715768"/>
                <a:gridCol w="2715768"/>
                <a:gridCol w="2706624"/>
              </a:tblGrid>
              <a:tr h="265176">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Class</a:t>
                      </a:r>
                      <a:endParaRPr lang="en-US" sz="1050" dirty="0">
                        <a:latin typeface="Calibri" charset="0"/>
                        <a:ea typeface="Calibri" charset="0"/>
                        <a:cs typeface="Calibri" charset="0"/>
                      </a:endParaRPr>
                    </a:p>
                  </a:txBody>
                  <a:tcPr anchor="ctr">
                    <a:lnL w="9525" cap="flat" cmpd="sng" algn="ctr">
                      <a:solidFill>
                        <a:srgbClr val="DCE2E9"/>
                      </a:solidFill>
                      <a:prstDash val="solid"/>
                      <a:round/>
                      <a:headEnd type="none" w="med" len="med"/>
                      <a:tailEnd type="none" w="med" len="med"/>
                    </a:lnL>
                    <a:lnR w="9525" cap="flat" cmpd="sng" algn="ctr">
                      <a:solidFill>
                        <a:srgbClr val="DCE2E9"/>
                      </a:solidFill>
                      <a:prstDash val="solid"/>
                      <a:round/>
                      <a:headEnd type="none" w="med" len="med"/>
                      <a:tailEnd type="none" w="med" len="med"/>
                    </a:lnR>
                    <a:lnT w="9525" cap="flat" cmpd="sng" algn="ctr">
                      <a:solidFill>
                        <a:srgbClr val="DCE2E9"/>
                      </a:solidFill>
                      <a:prstDash val="solid"/>
                      <a:round/>
                      <a:headEnd type="none" w="med" len="med"/>
                      <a:tailEnd type="none" w="med" len="med"/>
                    </a:lnT>
                    <a:lnB w="9525" cap="flat" cmpd="sng" algn="ctr">
                      <a:solidFill>
                        <a:srgbClr val="DCE2E9"/>
                      </a:solidFill>
                      <a:prstDash val="solid"/>
                      <a:round/>
                      <a:headEnd type="none" w="med" len="med"/>
                      <a:tailEnd type="none" w="med" len="med"/>
                    </a:lnB>
                    <a:solidFill>
                      <a:srgbClr val="1B2A4A"/>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Precision</a:t>
                      </a:r>
                      <a:endParaRPr lang="en-US" sz="1050" dirty="0">
                        <a:latin typeface="Calibri" charset="0"/>
                        <a:ea typeface="Calibri" charset="0"/>
                        <a:cs typeface="Calibri" charset="0"/>
                      </a:endParaRPr>
                    </a:p>
                  </a:txBody>
                  <a:tcPr anchor="ctr">
                    <a:lnL w="9525" cap="flat" cmpd="sng" algn="ctr">
                      <a:solidFill>
                        <a:srgbClr val="DCE2E9"/>
                      </a:solidFill>
                      <a:prstDash val="solid"/>
                      <a:round/>
                      <a:headEnd type="none" w="med" len="med"/>
                      <a:tailEnd type="none" w="med" len="med"/>
                    </a:lnL>
                    <a:lnR w="9525" cap="flat" cmpd="sng" algn="ctr">
                      <a:solidFill>
                        <a:srgbClr val="DCE2E9"/>
                      </a:solidFill>
                      <a:prstDash val="solid"/>
                      <a:round/>
                      <a:headEnd type="none" w="med" len="med"/>
                      <a:tailEnd type="none" w="med" len="med"/>
                    </a:lnR>
                    <a:lnT w="9525" cap="flat" cmpd="sng" algn="ctr">
                      <a:solidFill>
                        <a:srgbClr val="DCE2E9"/>
                      </a:solidFill>
                      <a:prstDash val="solid"/>
                      <a:round/>
                      <a:headEnd type="none" w="med" len="med"/>
                      <a:tailEnd type="none" w="med" len="med"/>
                    </a:lnT>
                    <a:lnB w="9525" cap="flat" cmpd="sng" algn="ctr">
                      <a:solidFill>
                        <a:srgbClr val="DCE2E9"/>
                      </a:solidFill>
                      <a:prstDash val="solid"/>
                      <a:round/>
                      <a:headEnd type="none" w="med" len="med"/>
                      <a:tailEnd type="none" w="med" len="med"/>
                    </a:lnB>
                    <a:solidFill>
                      <a:srgbClr val="1B2A4A"/>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Recall</a:t>
                      </a:r>
                      <a:endParaRPr lang="en-US" sz="1050" dirty="0">
                        <a:latin typeface="Calibri" charset="0"/>
                        <a:ea typeface="Calibri" charset="0"/>
                        <a:cs typeface="Calibri" charset="0"/>
                      </a:endParaRPr>
                    </a:p>
                  </a:txBody>
                  <a:tcPr anchor="ctr">
                    <a:lnL w="9525" cap="flat" cmpd="sng" algn="ctr">
                      <a:solidFill>
                        <a:srgbClr val="DCE2E9"/>
                      </a:solidFill>
                      <a:prstDash val="solid"/>
                      <a:round/>
                      <a:headEnd type="none" w="med" len="med"/>
                      <a:tailEnd type="none" w="med" len="med"/>
                    </a:lnL>
                    <a:lnR w="9525" cap="flat" cmpd="sng" algn="ctr">
                      <a:solidFill>
                        <a:srgbClr val="DCE2E9"/>
                      </a:solidFill>
                      <a:prstDash val="solid"/>
                      <a:round/>
                      <a:headEnd type="none" w="med" len="med"/>
                      <a:tailEnd type="none" w="med" len="med"/>
                    </a:lnR>
                    <a:lnT w="9525" cap="flat" cmpd="sng" algn="ctr">
                      <a:solidFill>
                        <a:srgbClr val="DCE2E9"/>
                      </a:solidFill>
                      <a:prstDash val="solid"/>
                      <a:round/>
                      <a:headEnd type="none" w="med" len="med"/>
                      <a:tailEnd type="none" w="med" len="med"/>
                    </a:lnT>
                    <a:lnB w="9525" cap="flat" cmpd="sng" algn="ctr">
                      <a:solidFill>
                        <a:srgbClr val="DCE2E9"/>
                      </a:solidFill>
                      <a:prstDash val="solid"/>
                      <a:round/>
                      <a:headEnd type="none" w="med" len="med"/>
                      <a:tailEnd type="none" w="med" len="med"/>
                    </a:lnB>
                    <a:solidFill>
                      <a:srgbClr val="1B2A4A"/>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F1</a:t>
                      </a:r>
                      <a:endParaRPr lang="en-US" sz="1050" dirty="0">
                        <a:latin typeface="Calibri" charset="0"/>
                        <a:ea typeface="Calibri" charset="0"/>
                        <a:cs typeface="Calibri" charset="0"/>
                      </a:endParaRPr>
                    </a:p>
                  </a:txBody>
                  <a:tcPr anchor="ctr">
                    <a:lnL w="9525" cap="flat" cmpd="sng" algn="ctr">
                      <a:solidFill>
                        <a:srgbClr val="DCE2E9"/>
                      </a:solidFill>
                      <a:prstDash val="solid"/>
                      <a:round/>
                      <a:headEnd type="none" w="med" len="med"/>
                      <a:tailEnd type="none" w="med" len="med"/>
                    </a:lnL>
                    <a:lnR w="9525" cap="flat" cmpd="sng" algn="ctr">
                      <a:solidFill>
                        <a:srgbClr val="DCE2E9"/>
                      </a:solidFill>
                      <a:prstDash val="solid"/>
                      <a:round/>
                      <a:headEnd type="none" w="med" len="med"/>
                      <a:tailEnd type="none" w="med" len="med"/>
                    </a:lnR>
                    <a:lnT w="9525" cap="flat" cmpd="sng" algn="ctr">
                      <a:solidFill>
                        <a:srgbClr val="DCE2E9"/>
                      </a:solidFill>
                      <a:prstDash val="solid"/>
                      <a:round/>
                      <a:headEnd type="none" w="med" len="med"/>
                      <a:tailEnd type="none" w="med" len="med"/>
                    </a:lnT>
                    <a:lnB w="9525" cap="flat" cmpd="sng" algn="ctr">
                      <a:solidFill>
                        <a:srgbClr val="DCE2E9"/>
                      </a:solidFill>
                      <a:prstDash val="solid"/>
                      <a:round/>
                      <a:headEnd type="none" w="med" len="med"/>
                      <a:tailEnd type="none" w="med" len="med"/>
                    </a:lnB>
                    <a:solidFill>
                      <a:srgbClr val="1B2A4A"/>
                    </a:solidFill>
                  </a:tcPr>
                </a:tc>
              </a:tr>
              <a:tr h="265176">
                <a:tc>
                  <a:txBody>
                    <a:bodyPr/>
                    <a:lstStyle/>
                    <a:p>
                      <a:pPr marL="0" indent="0">
                        <a:buNone/>
                      </a:pPr>
                      <a:r>
                        <a:rPr lang="en-US" sz="1050" dirty="0">
                          <a:solidFill>
                            <a:srgbClr val="1F2733"/>
                          </a:solidFill>
                          <a:latin typeface="Calibri" pitchFamily="34" charset="0"/>
                          <a:ea typeface="Calibri" pitchFamily="34" charset="-122"/>
                          <a:cs typeface="Calibri" pitchFamily="34" charset="-120"/>
                        </a:rPr>
                        <a:t>Garbage</a:t>
                      </a:r>
                      <a:endParaRPr lang="en-US" sz="1050" dirty="0">
                        <a:latin typeface="Calibri" charset="0"/>
                        <a:ea typeface="Calibri" charset="0"/>
                        <a:cs typeface="Calibri" charset="0"/>
                      </a:endParaRPr>
                    </a:p>
                  </a:txBody>
                  <a:tcPr anchor="ctr">
                    <a:lnL w="9525" cap="flat" cmpd="sng" algn="ctr">
                      <a:solidFill>
                        <a:srgbClr val="DCE2E9"/>
                      </a:solidFill>
                      <a:prstDash val="solid"/>
                      <a:round/>
                      <a:headEnd type="none" w="med" len="med"/>
                      <a:tailEnd type="none" w="med" len="med"/>
                    </a:lnL>
                    <a:lnR w="9525" cap="flat" cmpd="sng" algn="ctr">
                      <a:solidFill>
                        <a:srgbClr val="DCE2E9"/>
                      </a:solidFill>
                      <a:prstDash val="solid"/>
                      <a:round/>
                      <a:headEnd type="none" w="med" len="med"/>
                      <a:tailEnd type="none" w="med" len="med"/>
                    </a:lnR>
                    <a:lnT w="9525" cap="flat" cmpd="sng" algn="ctr">
                      <a:solidFill>
                        <a:srgbClr val="DCE2E9"/>
                      </a:solidFill>
                      <a:prstDash val="solid"/>
                      <a:round/>
                      <a:headEnd type="none" w="med" len="med"/>
                      <a:tailEnd type="none" w="med" len="med"/>
                    </a:lnT>
                    <a:lnB w="9525" cap="flat" cmpd="sng" algn="ctr">
                      <a:solidFill>
                        <a:srgbClr val="DCE2E9"/>
                      </a:solidFill>
                      <a:prstDash val="solid"/>
                      <a:round/>
                      <a:headEnd type="none" w="med" len="med"/>
                      <a:tailEnd type="none" w="med" len="med"/>
                    </a:lnB>
                  </a:tcPr>
                </a:tc>
                <a:tc>
                  <a:txBody>
                    <a:bodyPr/>
                    <a:lstStyle/>
                    <a:p>
                      <a:pPr marL="0" indent="0" algn="ctr">
                        <a:buNone/>
                      </a:pPr>
                      <a:r>
                        <a:rPr lang="en-US" sz="1050" dirty="0">
                          <a:solidFill>
                            <a:srgbClr val="1F2733"/>
                          </a:solidFill>
                          <a:latin typeface="Calibri" pitchFamily="34" charset="0"/>
                          <a:ea typeface="Calibri" pitchFamily="34" charset="-122"/>
                          <a:cs typeface="Calibri" pitchFamily="34" charset="-120"/>
                        </a:rPr>
                        <a:t>1.00</a:t>
                      </a:r>
                      <a:endParaRPr lang="en-US" sz="1050" dirty="0">
                        <a:latin typeface="Calibri" charset="0"/>
                        <a:ea typeface="Calibri" charset="0"/>
                        <a:cs typeface="Calibri" charset="0"/>
                      </a:endParaRPr>
                    </a:p>
                  </a:txBody>
                  <a:tcPr anchor="ctr">
                    <a:lnL w="9525" cap="flat" cmpd="sng" algn="ctr">
                      <a:solidFill>
                        <a:srgbClr val="DCE2E9"/>
                      </a:solidFill>
                      <a:prstDash val="solid"/>
                      <a:round/>
                      <a:headEnd type="none" w="med" len="med"/>
                      <a:tailEnd type="none" w="med" len="med"/>
                    </a:lnL>
                    <a:lnR w="9525" cap="flat" cmpd="sng" algn="ctr">
                      <a:solidFill>
                        <a:srgbClr val="DCE2E9"/>
                      </a:solidFill>
                      <a:prstDash val="solid"/>
                      <a:round/>
                      <a:headEnd type="none" w="med" len="med"/>
                      <a:tailEnd type="none" w="med" len="med"/>
                    </a:lnR>
                    <a:lnT w="9525" cap="flat" cmpd="sng" algn="ctr">
                      <a:solidFill>
                        <a:srgbClr val="DCE2E9"/>
                      </a:solidFill>
                      <a:prstDash val="solid"/>
                      <a:round/>
                      <a:headEnd type="none" w="med" len="med"/>
                      <a:tailEnd type="none" w="med" len="med"/>
                    </a:lnT>
                    <a:lnB w="9525" cap="flat" cmpd="sng" algn="ctr">
                      <a:solidFill>
                        <a:srgbClr val="DCE2E9"/>
                      </a:solidFill>
                      <a:prstDash val="solid"/>
                      <a:round/>
                      <a:headEnd type="none" w="med" len="med"/>
                      <a:tailEnd type="none" w="med" len="med"/>
                    </a:lnB>
                  </a:tcPr>
                </a:tc>
                <a:tc>
                  <a:txBody>
                    <a:bodyPr/>
                    <a:lstStyle/>
                    <a:p>
                      <a:pPr marL="0" indent="0" algn="ctr">
                        <a:buNone/>
                      </a:pPr>
                      <a:r>
                        <a:rPr lang="en-US" sz="1050" dirty="0">
                          <a:solidFill>
                            <a:srgbClr val="1F2733"/>
                          </a:solidFill>
                          <a:latin typeface="Calibri" pitchFamily="34" charset="0"/>
                          <a:ea typeface="Calibri" pitchFamily="34" charset="-122"/>
                          <a:cs typeface="Calibri" pitchFamily="34" charset="-120"/>
                        </a:rPr>
                        <a:t>0.97</a:t>
                      </a:r>
                      <a:endParaRPr lang="en-US" sz="1050" dirty="0">
                        <a:latin typeface="Calibri" charset="0"/>
                        <a:ea typeface="Calibri" charset="0"/>
                        <a:cs typeface="Calibri" charset="0"/>
                      </a:endParaRPr>
                    </a:p>
                  </a:txBody>
                  <a:tcPr anchor="ctr">
                    <a:lnL w="9525" cap="flat" cmpd="sng" algn="ctr">
                      <a:solidFill>
                        <a:srgbClr val="DCE2E9"/>
                      </a:solidFill>
                      <a:prstDash val="solid"/>
                      <a:round/>
                      <a:headEnd type="none" w="med" len="med"/>
                      <a:tailEnd type="none" w="med" len="med"/>
                    </a:lnL>
                    <a:lnR w="9525" cap="flat" cmpd="sng" algn="ctr">
                      <a:solidFill>
                        <a:srgbClr val="DCE2E9"/>
                      </a:solidFill>
                      <a:prstDash val="solid"/>
                      <a:round/>
                      <a:headEnd type="none" w="med" len="med"/>
                      <a:tailEnd type="none" w="med" len="med"/>
                    </a:lnR>
                    <a:lnT w="9525" cap="flat" cmpd="sng" algn="ctr">
                      <a:solidFill>
                        <a:srgbClr val="DCE2E9"/>
                      </a:solidFill>
                      <a:prstDash val="solid"/>
                      <a:round/>
                      <a:headEnd type="none" w="med" len="med"/>
                      <a:tailEnd type="none" w="med" len="med"/>
                    </a:lnT>
                    <a:lnB w="9525" cap="flat" cmpd="sng" algn="ctr">
                      <a:solidFill>
                        <a:srgbClr val="DCE2E9"/>
                      </a:solidFill>
                      <a:prstDash val="solid"/>
                      <a:round/>
                      <a:headEnd type="none" w="med" len="med"/>
                      <a:tailEnd type="none" w="med" len="med"/>
                    </a:lnB>
                  </a:tcPr>
                </a:tc>
                <a:tc>
                  <a:txBody>
                    <a:bodyPr/>
                    <a:lstStyle/>
                    <a:p>
                      <a:pPr marL="0" indent="0" algn="ctr">
                        <a:buNone/>
                      </a:pPr>
                      <a:r>
                        <a:rPr lang="en-US" sz="1050" dirty="0">
                          <a:solidFill>
                            <a:srgbClr val="1F2733"/>
                          </a:solidFill>
                          <a:latin typeface="Calibri" pitchFamily="34" charset="0"/>
                          <a:ea typeface="Calibri" pitchFamily="34" charset="-122"/>
                          <a:cs typeface="Calibri" pitchFamily="34" charset="-120"/>
                        </a:rPr>
                        <a:t>0.98</a:t>
                      </a:r>
                      <a:endParaRPr lang="en-US" sz="1050" dirty="0">
                        <a:latin typeface="Calibri" charset="0"/>
                        <a:ea typeface="Calibri" charset="0"/>
                        <a:cs typeface="Calibri" charset="0"/>
                      </a:endParaRPr>
                    </a:p>
                  </a:txBody>
                  <a:tcPr anchor="ctr">
                    <a:lnL w="9525" cap="flat" cmpd="sng" algn="ctr">
                      <a:solidFill>
                        <a:srgbClr val="DCE2E9"/>
                      </a:solidFill>
                      <a:prstDash val="solid"/>
                      <a:round/>
                      <a:headEnd type="none" w="med" len="med"/>
                      <a:tailEnd type="none" w="med" len="med"/>
                    </a:lnL>
                    <a:lnR w="9525" cap="flat" cmpd="sng" algn="ctr">
                      <a:solidFill>
                        <a:srgbClr val="DCE2E9"/>
                      </a:solidFill>
                      <a:prstDash val="solid"/>
                      <a:round/>
                      <a:headEnd type="none" w="med" len="med"/>
                      <a:tailEnd type="none" w="med" len="med"/>
                    </a:lnR>
                    <a:lnT w="9525" cap="flat" cmpd="sng" algn="ctr">
                      <a:solidFill>
                        <a:srgbClr val="DCE2E9"/>
                      </a:solidFill>
                      <a:prstDash val="solid"/>
                      <a:round/>
                      <a:headEnd type="none" w="med" len="med"/>
                      <a:tailEnd type="none" w="med" len="med"/>
                    </a:lnT>
                    <a:lnB w="9525" cap="flat" cmpd="sng" algn="ctr">
                      <a:solidFill>
                        <a:srgbClr val="DCE2E9"/>
                      </a:solidFill>
                      <a:prstDash val="solid"/>
                      <a:round/>
                      <a:headEnd type="none" w="med" len="med"/>
                      <a:tailEnd type="none" w="med" len="med"/>
                    </a:lnB>
                  </a:tcPr>
                </a:tc>
              </a:tr>
              <a:tr h="265176">
                <a:tc>
                  <a:txBody>
                    <a:bodyPr/>
                    <a:lstStyle/>
                    <a:p>
                      <a:pPr marL="0" indent="0">
                        <a:buNone/>
                      </a:pPr>
                      <a:r>
                        <a:rPr lang="en-US" sz="1050" dirty="0">
                          <a:solidFill>
                            <a:srgbClr val="1F2733"/>
                          </a:solidFill>
                          <a:latin typeface="Calibri" pitchFamily="34" charset="0"/>
                          <a:ea typeface="Calibri" pitchFamily="34" charset="-122"/>
                          <a:cs typeface="Calibri" pitchFamily="34" charset="-120"/>
                        </a:rPr>
                        <a:t>Normal</a:t>
                      </a:r>
                      <a:endParaRPr lang="en-US" sz="1050" dirty="0">
                        <a:latin typeface="Calibri" charset="0"/>
                        <a:ea typeface="Calibri" charset="0"/>
                        <a:cs typeface="Calibri" charset="0"/>
                      </a:endParaRPr>
                    </a:p>
                  </a:txBody>
                  <a:tcPr anchor="ctr">
                    <a:lnL w="9525" cap="flat" cmpd="sng" algn="ctr">
                      <a:solidFill>
                        <a:srgbClr val="DCE2E9"/>
                      </a:solidFill>
                      <a:prstDash val="solid"/>
                      <a:round/>
                      <a:headEnd type="none" w="med" len="med"/>
                      <a:tailEnd type="none" w="med" len="med"/>
                    </a:lnL>
                    <a:lnR w="9525" cap="flat" cmpd="sng" algn="ctr">
                      <a:solidFill>
                        <a:srgbClr val="DCE2E9"/>
                      </a:solidFill>
                      <a:prstDash val="solid"/>
                      <a:round/>
                      <a:headEnd type="none" w="med" len="med"/>
                      <a:tailEnd type="none" w="med" len="med"/>
                    </a:lnR>
                    <a:lnT w="9525" cap="flat" cmpd="sng" algn="ctr">
                      <a:solidFill>
                        <a:srgbClr val="DCE2E9"/>
                      </a:solidFill>
                      <a:prstDash val="solid"/>
                      <a:round/>
                      <a:headEnd type="none" w="med" len="med"/>
                      <a:tailEnd type="none" w="med" len="med"/>
                    </a:lnT>
                    <a:lnB w="9525" cap="flat" cmpd="sng" algn="ctr">
                      <a:solidFill>
                        <a:srgbClr val="DCE2E9"/>
                      </a:solidFill>
                      <a:prstDash val="solid"/>
                      <a:round/>
                      <a:headEnd type="none" w="med" len="med"/>
                      <a:tailEnd type="none" w="med" len="med"/>
                    </a:lnB>
                  </a:tcPr>
                </a:tc>
                <a:tc>
                  <a:txBody>
                    <a:bodyPr/>
                    <a:lstStyle/>
                    <a:p>
                      <a:pPr marL="0" indent="0" algn="ctr">
                        <a:buNone/>
                      </a:pPr>
                      <a:r>
                        <a:rPr lang="en-US" sz="1050" dirty="0">
                          <a:solidFill>
                            <a:srgbClr val="1F2733"/>
                          </a:solidFill>
                          <a:latin typeface="Calibri" pitchFamily="34" charset="0"/>
                          <a:ea typeface="Calibri" pitchFamily="34" charset="-122"/>
                          <a:cs typeface="Calibri" pitchFamily="34" charset="-120"/>
                        </a:rPr>
                        <a:t>0.99</a:t>
                      </a:r>
                      <a:endParaRPr lang="en-US" sz="1050" dirty="0">
                        <a:latin typeface="Calibri" charset="0"/>
                        <a:ea typeface="Calibri" charset="0"/>
                        <a:cs typeface="Calibri" charset="0"/>
                      </a:endParaRPr>
                    </a:p>
                  </a:txBody>
                  <a:tcPr anchor="ctr">
                    <a:lnL w="9525" cap="flat" cmpd="sng" algn="ctr">
                      <a:solidFill>
                        <a:srgbClr val="DCE2E9"/>
                      </a:solidFill>
                      <a:prstDash val="solid"/>
                      <a:round/>
                      <a:headEnd type="none" w="med" len="med"/>
                      <a:tailEnd type="none" w="med" len="med"/>
                    </a:lnL>
                    <a:lnR w="9525" cap="flat" cmpd="sng" algn="ctr">
                      <a:solidFill>
                        <a:srgbClr val="DCE2E9"/>
                      </a:solidFill>
                      <a:prstDash val="solid"/>
                      <a:round/>
                      <a:headEnd type="none" w="med" len="med"/>
                      <a:tailEnd type="none" w="med" len="med"/>
                    </a:lnR>
                    <a:lnT w="9525" cap="flat" cmpd="sng" algn="ctr">
                      <a:solidFill>
                        <a:srgbClr val="DCE2E9"/>
                      </a:solidFill>
                      <a:prstDash val="solid"/>
                      <a:round/>
                      <a:headEnd type="none" w="med" len="med"/>
                      <a:tailEnd type="none" w="med" len="med"/>
                    </a:lnT>
                    <a:lnB w="9525" cap="flat" cmpd="sng" algn="ctr">
                      <a:solidFill>
                        <a:srgbClr val="DCE2E9"/>
                      </a:solidFill>
                      <a:prstDash val="solid"/>
                      <a:round/>
                      <a:headEnd type="none" w="med" len="med"/>
                      <a:tailEnd type="none" w="med" len="med"/>
                    </a:lnB>
                  </a:tcPr>
                </a:tc>
                <a:tc>
                  <a:txBody>
                    <a:bodyPr/>
                    <a:lstStyle/>
                    <a:p>
                      <a:pPr marL="0" indent="0" algn="ctr">
                        <a:buNone/>
                      </a:pPr>
                      <a:r>
                        <a:rPr lang="en-US" sz="1050" dirty="0">
                          <a:solidFill>
                            <a:srgbClr val="1F2733"/>
                          </a:solidFill>
                          <a:latin typeface="Calibri" pitchFamily="34" charset="0"/>
                          <a:ea typeface="Calibri" pitchFamily="34" charset="-122"/>
                          <a:cs typeface="Calibri" pitchFamily="34" charset="-120"/>
                        </a:rPr>
                        <a:t>0.98</a:t>
                      </a:r>
                      <a:endParaRPr lang="en-US" sz="1050" dirty="0">
                        <a:latin typeface="Calibri" charset="0"/>
                        <a:ea typeface="Calibri" charset="0"/>
                        <a:cs typeface="Calibri" charset="0"/>
                      </a:endParaRPr>
                    </a:p>
                  </a:txBody>
                  <a:tcPr anchor="ctr">
                    <a:lnL w="9525" cap="flat" cmpd="sng" algn="ctr">
                      <a:solidFill>
                        <a:srgbClr val="DCE2E9"/>
                      </a:solidFill>
                      <a:prstDash val="solid"/>
                      <a:round/>
                      <a:headEnd type="none" w="med" len="med"/>
                      <a:tailEnd type="none" w="med" len="med"/>
                    </a:lnL>
                    <a:lnR w="9525" cap="flat" cmpd="sng" algn="ctr">
                      <a:solidFill>
                        <a:srgbClr val="DCE2E9"/>
                      </a:solidFill>
                      <a:prstDash val="solid"/>
                      <a:round/>
                      <a:headEnd type="none" w="med" len="med"/>
                      <a:tailEnd type="none" w="med" len="med"/>
                    </a:lnR>
                    <a:lnT w="9525" cap="flat" cmpd="sng" algn="ctr">
                      <a:solidFill>
                        <a:srgbClr val="DCE2E9"/>
                      </a:solidFill>
                      <a:prstDash val="solid"/>
                      <a:round/>
                      <a:headEnd type="none" w="med" len="med"/>
                      <a:tailEnd type="none" w="med" len="med"/>
                    </a:lnT>
                    <a:lnB w="9525" cap="flat" cmpd="sng" algn="ctr">
                      <a:solidFill>
                        <a:srgbClr val="DCE2E9"/>
                      </a:solidFill>
                      <a:prstDash val="solid"/>
                      <a:round/>
                      <a:headEnd type="none" w="med" len="med"/>
                      <a:tailEnd type="none" w="med" len="med"/>
                    </a:lnB>
                  </a:tcPr>
                </a:tc>
                <a:tc>
                  <a:txBody>
                    <a:bodyPr/>
                    <a:lstStyle/>
                    <a:p>
                      <a:pPr marL="0" indent="0" algn="ctr">
                        <a:buNone/>
                      </a:pPr>
                      <a:r>
                        <a:rPr lang="en-US" sz="1050" dirty="0">
                          <a:solidFill>
                            <a:srgbClr val="1F2733"/>
                          </a:solidFill>
                          <a:latin typeface="Calibri" pitchFamily="34" charset="0"/>
                          <a:ea typeface="Calibri" pitchFamily="34" charset="-122"/>
                          <a:cs typeface="Calibri" pitchFamily="34" charset="-120"/>
                        </a:rPr>
                        <a:t>0.98</a:t>
                      </a:r>
                      <a:endParaRPr lang="en-US" sz="1050" dirty="0">
                        <a:latin typeface="Calibri" charset="0"/>
                        <a:ea typeface="Calibri" charset="0"/>
                        <a:cs typeface="Calibri" charset="0"/>
                      </a:endParaRPr>
                    </a:p>
                  </a:txBody>
                  <a:tcPr anchor="ctr">
                    <a:lnL w="9525" cap="flat" cmpd="sng" algn="ctr">
                      <a:solidFill>
                        <a:srgbClr val="DCE2E9"/>
                      </a:solidFill>
                      <a:prstDash val="solid"/>
                      <a:round/>
                      <a:headEnd type="none" w="med" len="med"/>
                      <a:tailEnd type="none" w="med" len="med"/>
                    </a:lnL>
                    <a:lnR w="9525" cap="flat" cmpd="sng" algn="ctr">
                      <a:solidFill>
                        <a:srgbClr val="DCE2E9"/>
                      </a:solidFill>
                      <a:prstDash val="solid"/>
                      <a:round/>
                      <a:headEnd type="none" w="med" len="med"/>
                      <a:tailEnd type="none" w="med" len="med"/>
                    </a:lnR>
                    <a:lnT w="9525" cap="flat" cmpd="sng" algn="ctr">
                      <a:solidFill>
                        <a:srgbClr val="DCE2E9"/>
                      </a:solidFill>
                      <a:prstDash val="solid"/>
                      <a:round/>
                      <a:headEnd type="none" w="med" len="med"/>
                      <a:tailEnd type="none" w="med" len="med"/>
                    </a:lnT>
                    <a:lnB w="9525" cap="flat" cmpd="sng" algn="ctr">
                      <a:solidFill>
                        <a:srgbClr val="DCE2E9"/>
                      </a:solidFill>
                      <a:prstDash val="solid"/>
                      <a:round/>
                      <a:headEnd type="none" w="med" len="med"/>
                      <a:tailEnd type="none" w="med" len="med"/>
                    </a:lnB>
                  </a:tcPr>
                </a:tc>
              </a:tr>
              <a:tr h="265176">
                <a:tc>
                  <a:txBody>
                    <a:bodyPr/>
                    <a:lstStyle/>
                    <a:p>
                      <a:pPr marL="0" indent="0">
                        <a:buNone/>
                      </a:pPr>
                      <a:r>
                        <a:rPr lang="en-US" sz="1050" dirty="0">
                          <a:solidFill>
                            <a:srgbClr val="1F2733"/>
                          </a:solidFill>
                          <a:latin typeface="Calibri" pitchFamily="34" charset="0"/>
                          <a:ea typeface="Calibri" pitchFamily="34" charset="-122"/>
                          <a:cs typeface="Calibri" pitchFamily="34" charset="-120"/>
                        </a:rPr>
                        <a:t>Pothole</a:t>
                      </a:r>
                      <a:endParaRPr lang="en-US" sz="1050" dirty="0">
                        <a:latin typeface="Calibri" charset="0"/>
                        <a:ea typeface="Calibri" charset="0"/>
                        <a:cs typeface="Calibri" charset="0"/>
                      </a:endParaRPr>
                    </a:p>
                  </a:txBody>
                  <a:tcPr anchor="ctr">
                    <a:lnL w="9525" cap="flat" cmpd="sng" algn="ctr">
                      <a:solidFill>
                        <a:srgbClr val="DCE2E9"/>
                      </a:solidFill>
                      <a:prstDash val="solid"/>
                      <a:round/>
                      <a:headEnd type="none" w="med" len="med"/>
                      <a:tailEnd type="none" w="med" len="med"/>
                    </a:lnL>
                    <a:lnR w="9525" cap="flat" cmpd="sng" algn="ctr">
                      <a:solidFill>
                        <a:srgbClr val="DCE2E9"/>
                      </a:solidFill>
                      <a:prstDash val="solid"/>
                      <a:round/>
                      <a:headEnd type="none" w="med" len="med"/>
                      <a:tailEnd type="none" w="med" len="med"/>
                    </a:lnR>
                    <a:lnT w="9525" cap="flat" cmpd="sng" algn="ctr">
                      <a:solidFill>
                        <a:srgbClr val="DCE2E9"/>
                      </a:solidFill>
                      <a:prstDash val="solid"/>
                      <a:round/>
                      <a:headEnd type="none" w="med" len="med"/>
                      <a:tailEnd type="none" w="med" len="med"/>
                    </a:lnT>
                    <a:lnB w="9525" cap="flat" cmpd="sng" algn="ctr">
                      <a:solidFill>
                        <a:srgbClr val="DCE2E9"/>
                      </a:solidFill>
                      <a:prstDash val="solid"/>
                      <a:round/>
                      <a:headEnd type="none" w="med" len="med"/>
                      <a:tailEnd type="none" w="med" len="med"/>
                    </a:lnB>
                  </a:tcPr>
                </a:tc>
                <a:tc>
                  <a:txBody>
                    <a:bodyPr/>
                    <a:lstStyle/>
                    <a:p>
                      <a:pPr marL="0" indent="0" algn="ctr">
                        <a:buNone/>
                      </a:pPr>
                      <a:r>
                        <a:rPr lang="en-US" sz="1050" dirty="0">
                          <a:solidFill>
                            <a:srgbClr val="1F2733"/>
                          </a:solidFill>
                          <a:latin typeface="Calibri" pitchFamily="34" charset="0"/>
                          <a:ea typeface="Calibri" pitchFamily="34" charset="-122"/>
                          <a:cs typeface="Calibri" pitchFamily="34" charset="-120"/>
                        </a:rPr>
                        <a:t>0.96</a:t>
                      </a:r>
                      <a:endParaRPr lang="en-US" sz="1050" dirty="0">
                        <a:latin typeface="Calibri" charset="0"/>
                        <a:ea typeface="Calibri" charset="0"/>
                        <a:cs typeface="Calibri" charset="0"/>
                      </a:endParaRPr>
                    </a:p>
                  </a:txBody>
                  <a:tcPr anchor="ctr">
                    <a:lnL w="9525" cap="flat" cmpd="sng" algn="ctr">
                      <a:solidFill>
                        <a:srgbClr val="DCE2E9"/>
                      </a:solidFill>
                      <a:prstDash val="solid"/>
                      <a:round/>
                      <a:headEnd type="none" w="med" len="med"/>
                      <a:tailEnd type="none" w="med" len="med"/>
                    </a:lnL>
                    <a:lnR w="9525" cap="flat" cmpd="sng" algn="ctr">
                      <a:solidFill>
                        <a:srgbClr val="DCE2E9"/>
                      </a:solidFill>
                      <a:prstDash val="solid"/>
                      <a:round/>
                      <a:headEnd type="none" w="med" len="med"/>
                      <a:tailEnd type="none" w="med" len="med"/>
                    </a:lnR>
                    <a:lnT w="9525" cap="flat" cmpd="sng" algn="ctr">
                      <a:solidFill>
                        <a:srgbClr val="DCE2E9"/>
                      </a:solidFill>
                      <a:prstDash val="solid"/>
                      <a:round/>
                      <a:headEnd type="none" w="med" len="med"/>
                      <a:tailEnd type="none" w="med" len="med"/>
                    </a:lnT>
                    <a:lnB w="9525" cap="flat" cmpd="sng" algn="ctr">
                      <a:solidFill>
                        <a:srgbClr val="DCE2E9"/>
                      </a:solidFill>
                      <a:prstDash val="solid"/>
                      <a:round/>
                      <a:headEnd type="none" w="med" len="med"/>
                      <a:tailEnd type="none" w="med" len="med"/>
                    </a:lnB>
                  </a:tcPr>
                </a:tc>
                <a:tc>
                  <a:txBody>
                    <a:bodyPr/>
                    <a:lstStyle/>
                    <a:p>
                      <a:pPr marL="0" indent="0" algn="ctr">
                        <a:buNone/>
                      </a:pPr>
                      <a:r>
                        <a:rPr lang="en-US" sz="1050" dirty="0">
                          <a:solidFill>
                            <a:srgbClr val="1F2733"/>
                          </a:solidFill>
                          <a:latin typeface="Calibri" pitchFamily="34" charset="0"/>
                          <a:ea typeface="Calibri" pitchFamily="34" charset="-122"/>
                          <a:cs typeface="Calibri" pitchFamily="34" charset="-120"/>
                        </a:rPr>
                        <a:t>1.00</a:t>
                      </a:r>
                      <a:endParaRPr lang="en-US" sz="1050" dirty="0">
                        <a:latin typeface="Calibri" charset="0"/>
                        <a:ea typeface="Calibri" charset="0"/>
                        <a:cs typeface="Calibri" charset="0"/>
                      </a:endParaRPr>
                    </a:p>
                  </a:txBody>
                  <a:tcPr anchor="ctr">
                    <a:lnL w="9525" cap="flat" cmpd="sng" algn="ctr">
                      <a:solidFill>
                        <a:srgbClr val="DCE2E9"/>
                      </a:solidFill>
                      <a:prstDash val="solid"/>
                      <a:round/>
                      <a:headEnd type="none" w="med" len="med"/>
                      <a:tailEnd type="none" w="med" len="med"/>
                    </a:lnL>
                    <a:lnR w="9525" cap="flat" cmpd="sng" algn="ctr">
                      <a:solidFill>
                        <a:srgbClr val="DCE2E9"/>
                      </a:solidFill>
                      <a:prstDash val="solid"/>
                      <a:round/>
                      <a:headEnd type="none" w="med" len="med"/>
                      <a:tailEnd type="none" w="med" len="med"/>
                    </a:lnR>
                    <a:lnT w="9525" cap="flat" cmpd="sng" algn="ctr">
                      <a:solidFill>
                        <a:srgbClr val="DCE2E9"/>
                      </a:solidFill>
                      <a:prstDash val="solid"/>
                      <a:round/>
                      <a:headEnd type="none" w="med" len="med"/>
                      <a:tailEnd type="none" w="med" len="med"/>
                    </a:lnT>
                    <a:lnB w="9525" cap="flat" cmpd="sng" algn="ctr">
                      <a:solidFill>
                        <a:srgbClr val="DCE2E9"/>
                      </a:solidFill>
                      <a:prstDash val="solid"/>
                      <a:round/>
                      <a:headEnd type="none" w="med" len="med"/>
                      <a:tailEnd type="none" w="med" len="med"/>
                    </a:lnB>
                  </a:tcPr>
                </a:tc>
                <a:tc>
                  <a:txBody>
                    <a:bodyPr/>
                    <a:lstStyle/>
                    <a:p>
                      <a:pPr marL="0" indent="0" algn="ctr">
                        <a:buNone/>
                      </a:pPr>
                      <a:r>
                        <a:rPr lang="en-US" sz="1050" dirty="0">
                          <a:solidFill>
                            <a:srgbClr val="1F2733"/>
                          </a:solidFill>
                          <a:latin typeface="Calibri" pitchFamily="34" charset="0"/>
                          <a:ea typeface="Calibri" pitchFamily="34" charset="-122"/>
                          <a:cs typeface="Calibri" pitchFamily="34" charset="-120"/>
                        </a:rPr>
                        <a:t>0.98</a:t>
                      </a:r>
                      <a:endParaRPr lang="en-US" sz="1050" dirty="0">
                        <a:latin typeface="Calibri" charset="0"/>
                        <a:ea typeface="Calibri" charset="0"/>
                        <a:cs typeface="Calibri" charset="0"/>
                      </a:endParaRPr>
                    </a:p>
                  </a:txBody>
                  <a:tcPr anchor="ctr">
                    <a:lnL w="9525" cap="flat" cmpd="sng" algn="ctr">
                      <a:solidFill>
                        <a:srgbClr val="DCE2E9"/>
                      </a:solidFill>
                      <a:prstDash val="solid"/>
                      <a:round/>
                      <a:headEnd type="none" w="med" len="med"/>
                      <a:tailEnd type="none" w="med" len="med"/>
                    </a:lnL>
                    <a:lnR w="9525" cap="flat" cmpd="sng" algn="ctr">
                      <a:solidFill>
                        <a:srgbClr val="DCE2E9"/>
                      </a:solidFill>
                      <a:prstDash val="solid"/>
                      <a:round/>
                      <a:headEnd type="none" w="med" len="med"/>
                      <a:tailEnd type="none" w="med" len="med"/>
                    </a:lnR>
                    <a:lnT w="9525" cap="flat" cmpd="sng" algn="ctr">
                      <a:solidFill>
                        <a:srgbClr val="DCE2E9"/>
                      </a:solidFill>
                      <a:prstDash val="solid"/>
                      <a:round/>
                      <a:headEnd type="none" w="med" len="med"/>
                      <a:tailEnd type="none" w="med" len="med"/>
                    </a:lnT>
                    <a:lnB w="9525" cap="flat" cmpd="sng" algn="ctr">
                      <a:solidFill>
                        <a:srgbClr val="DCE2E9"/>
                      </a:solidFill>
                      <a:prstDash val="solid"/>
                      <a:round/>
                      <a:headEnd type="none" w="med" len="med"/>
                      <a:tailEnd type="none" w="med" len="med"/>
                    </a:lnB>
                  </a:tcPr>
                </a:tc>
              </a:tr>
              <a:tr h="265176">
                <a:tc>
                  <a:txBody>
                    <a:bodyPr/>
                    <a:lstStyle/>
                    <a:p>
                      <a:pPr marL="0" indent="0">
                        <a:buNone/>
                      </a:pPr>
                      <a:r>
                        <a:rPr lang="en-US" sz="1050" dirty="0">
                          <a:solidFill>
                            <a:srgbClr val="1F2733"/>
                          </a:solidFill>
                          <a:latin typeface="Calibri" pitchFamily="34" charset="0"/>
                          <a:ea typeface="Calibri" pitchFamily="34" charset="-122"/>
                          <a:cs typeface="Calibri" pitchFamily="34" charset="-120"/>
                        </a:rPr>
                        <a:t>Road Crack</a:t>
                      </a:r>
                      <a:endParaRPr lang="en-US" sz="1050" dirty="0">
                        <a:latin typeface="Calibri" charset="0"/>
                        <a:ea typeface="Calibri" charset="0"/>
                        <a:cs typeface="Calibri" charset="0"/>
                      </a:endParaRPr>
                    </a:p>
                  </a:txBody>
                  <a:tcPr anchor="ctr">
                    <a:lnL w="9525" cap="flat" cmpd="sng" algn="ctr">
                      <a:solidFill>
                        <a:srgbClr val="DCE2E9"/>
                      </a:solidFill>
                      <a:prstDash val="solid"/>
                      <a:round/>
                      <a:headEnd type="none" w="med" len="med"/>
                      <a:tailEnd type="none" w="med" len="med"/>
                    </a:lnL>
                    <a:lnR w="9525" cap="flat" cmpd="sng" algn="ctr">
                      <a:solidFill>
                        <a:srgbClr val="DCE2E9"/>
                      </a:solidFill>
                      <a:prstDash val="solid"/>
                      <a:round/>
                      <a:headEnd type="none" w="med" len="med"/>
                      <a:tailEnd type="none" w="med" len="med"/>
                    </a:lnR>
                    <a:lnT w="9525" cap="flat" cmpd="sng" algn="ctr">
                      <a:solidFill>
                        <a:srgbClr val="DCE2E9"/>
                      </a:solidFill>
                      <a:prstDash val="solid"/>
                      <a:round/>
                      <a:headEnd type="none" w="med" len="med"/>
                      <a:tailEnd type="none" w="med" len="med"/>
                    </a:lnT>
                    <a:lnB w="9525" cap="flat" cmpd="sng" algn="ctr">
                      <a:solidFill>
                        <a:srgbClr val="DCE2E9"/>
                      </a:solidFill>
                      <a:prstDash val="solid"/>
                      <a:round/>
                      <a:headEnd type="none" w="med" len="med"/>
                      <a:tailEnd type="none" w="med" len="med"/>
                    </a:lnB>
                  </a:tcPr>
                </a:tc>
                <a:tc>
                  <a:txBody>
                    <a:bodyPr/>
                    <a:lstStyle/>
                    <a:p>
                      <a:pPr marL="0" indent="0" algn="ctr">
                        <a:buNone/>
                      </a:pPr>
                      <a:r>
                        <a:rPr lang="en-US" sz="1050" dirty="0">
                          <a:solidFill>
                            <a:srgbClr val="1F2733"/>
                          </a:solidFill>
                          <a:latin typeface="Calibri" pitchFamily="34" charset="0"/>
                          <a:ea typeface="Calibri" pitchFamily="34" charset="-122"/>
                          <a:cs typeface="Calibri" pitchFamily="34" charset="-120"/>
                        </a:rPr>
                        <a:t>0.99</a:t>
                      </a:r>
                      <a:endParaRPr lang="en-US" sz="1050" dirty="0">
                        <a:latin typeface="Calibri" charset="0"/>
                        <a:ea typeface="Calibri" charset="0"/>
                        <a:cs typeface="Calibri" charset="0"/>
                      </a:endParaRPr>
                    </a:p>
                  </a:txBody>
                  <a:tcPr anchor="ctr">
                    <a:lnL w="9525" cap="flat" cmpd="sng" algn="ctr">
                      <a:solidFill>
                        <a:srgbClr val="DCE2E9"/>
                      </a:solidFill>
                      <a:prstDash val="solid"/>
                      <a:round/>
                      <a:headEnd type="none" w="med" len="med"/>
                      <a:tailEnd type="none" w="med" len="med"/>
                    </a:lnL>
                    <a:lnR w="9525" cap="flat" cmpd="sng" algn="ctr">
                      <a:solidFill>
                        <a:srgbClr val="DCE2E9"/>
                      </a:solidFill>
                      <a:prstDash val="solid"/>
                      <a:round/>
                      <a:headEnd type="none" w="med" len="med"/>
                      <a:tailEnd type="none" w="med" len="med"/>
                    </a:lnR>
                    <a:lnT w="9525" cap="flat" cmpd="sng" algn="ctr">
                      <a:solidFill>
                        <a:srgbClr val="DCE2E9"/>
                      </a:solidFill>
                      <a:prstDash val="solid"/>
                      <a:round/>
                      <a:headEnd type="none" w="med" len="med"/>
                      <a:tailEnd type="none" w="med" len="med"/>
                    </a:lnT>
                    <a:lnB w="9525" cap="flat" cmpd="sng" algn="ctr">
                      <a:solidFill>
                        <a:srgbClr val="DCE2E9"/>
                      </a:solidFill>
                      <a:prstDash val="solid"/>
                      <a:round/>
                      <a:headEnd type="none" w="med" len="med"/>
                      <a:tailEnd type="none" w="med" len="med"/>
                    </a:lnB>
                  </a:tcPr>
                </a:tc>
                <a:tc>
                  <a:txBody>
                    <a:bodyPr/>
                    <a:lstStyle/>
                    <a:p>
                      <a:pPr marL="0" indent="0" algn="ctr">
                        <a:buNone/>
                      </a:pPr>
                      <a:r>
                        <a:rPr lang="en-US" sz="1050" dirty="0">
                          <a:solidFill>
                            <a:srgbClr val="1F2733"/>
                          </a:solidFill>
                          <a:latin typeface="Calibri" pitchFamily="34" charset="0"/>
                          <a:ea typeface="Calibri" pitchFamily="34" charset="-122"/>
                          <a:cs typeface="Calibri" pitchFamily="34" charset="-120"/>
                        </a:rPr>
                        <a:t>0.99</a:t>
                      </a:r>
                      <a:endParaRPr lang="en-US" sz="1050" dirty="0">
                        <a:latin typeface="Calibri" charset="0"/>
                        <a:ea typeface="Calibri" charset="0"/>
                        <a:cs typeface="Calibri" charset="0"/>
                      </a:endParaRPr>
                    </a:p>
                  </a:txBody>
                  <a:tcPr anchor="ctr">
                    <a:lnL w="9525" cap="flat" cmpd="sng" algn="ctr">
                      <a:solidFill>
                        <a:srgbClr val="DCE2E9"/>
                      </a:solidFill>
                      <a:prstDash val="solid"/>
                      <a:round/>
                      <a:headEnd type="none" w="med" len="med"/>
                      <a:tailEnd type="none" w="med" len="med"/>
                    </a:lnL>
                    <a:lnR w="9525" cap="flat" cmpd="sng" algn="ctr">
                      <a:solidFill>
                        <a:srgbClr val="DCE2E9"/>
                      </a:solidFill>
                      <a:prstDash val="solid"/>
                      <a:round/>
                      <a:headEnd type="none" w="med" len="med"/>
                      <a:tailEnd type="none" w="med" len="med"/>
                    </a:lnR>
                    <a:lnT w="9525" cap="flat" cmpd="sng" algn="ctr">
                      <a:solidFill>
                        <a:srgbClr val="DCE2E9"/>
                      </a:solidFill>
                      <a:prstDash val="solid"/>
                      <a:round/>
                      <a:headEnd type="none" w="med" len="med"/>
                      <a:tailEnd type="none" w="med" len="med"/>
                    </a:lnT>
                    <a:lnB w="9525" cap="flat" cmpd="sng" algn="ctr">
                      <a:solidFill>
                        <a:srgbClr val="DCE2E9"/>
                      </a:solidFill>
                      <a:prstDash val="solid"/>
                      <a:round/>
                      <a:headEnd type="none" w="med" len="med"/>
                      <a:tailEnd type="none" w="med" len="med"/>
                    </a:lnB>
                  </a:tcPr>
                </a:tc>
                <a:tc>
                  <a:txBody>
                    <a:bodyPr/>
                    <a:lstStyle/>
                    <a:p>
                      <a:pPr marL="0" indent="0" algn="ctr">
                        <a:buNone/>
                      </a:pPr>
                      <a:r>
                        <a:rPr lang="en-US" sz="1050" dirty="0">
                          <a:solidFill>
                            <a:srgbClr val="1F2733"/>
                          </a:solidFill>
                          <a:latin typeface="Calibri" pitchFamily="34" charset="0"/>
                          <a:ea typeface="Calibri" pitchFamily="34" charset="-122"/>
                          <a:cs typeface="Calibri" pitchFamily="34" charset="-120"/>
                        </a:rPr>
                        <a:t>0.99</a:t>
                      </a:r>
                      <a:endParaRPr lang="en-US" sz="1050" dirty="0">
                        <a:latin typeface="Calibri" charset="0"/>
                        <a:ea typeface="Calibri" charset="0"/>
                        <a:cs typeface="Calibri" charset="0"/>
                      </a:endParaRPr>
                    </a:p>
                  </a:txBody>
                  <a:tcPr anchor="ctr">
                    <a:lnL w="9525" cap="flat" cmpd="sng" algn="ctr">
                      <a:solidFill>
                        <a:srgbClr val="DCE2E9"/>
                      </a:solidFill>
                      <a:prstDash val="solid"/>
                      <a:round/>
                      <a:headEnd type="none" w="med" len="med"/>
                      <a:tailEnd type="none" w="med" len="med"/>
                    </a:lnL>
                    <a:lnR w="9525" cap="flat" cmpd="sng" algn="ctr">
                      <a:solidFill>
                        <a:srgbClr val="DCE2E9"/>
                      </a:solidFill>
                      <a:prstDash val="solid"/>
                      <a:round/>
                      <a:headEnd type="none" w="med" len="med"/>
                      <a:tailEnd type="none" w="med" len="med"/>
                    </a:lnR>
                    <a:lnT w="9525" cap="flat" cmpd="sng" algn="ctr">
                      <a:solidFill>
                        <a:srgbClr val="DCE2E9"/>
                      </a:solidFill>
                      <a:prstDash val="solid"/>
                      <a:round/>
                      <a:headEnd type="none" w="med" len="med"/>
                      <a:tailEnd type="none" w="med" len="med"/>
                    </a:lnT>
                    <a:lnB w="9525" cap="flat" cmpd="sng" algn="ctr">
                      <a:solidFill>
                        <a:srgbClr val="DCE2E9"/>
                      </a:solidFill>
                      <a:prstDash val="solid"/>
                      <a:round/>
                      <a:headEnd type="none" w="med" len="med"/>
                      <a:tailEnd type="none" w="med" len="med"/>
                    </a:lnB>
                  </a:tcPr>
                </a:tc>
              </a:tr>
            </a:tbl>
          </a:graphicData>
        </a:graphic>
      </p:graphicFrame>
      <p:sp>
        <p:nvSpPr>
          <p:cNvPr id="21" name="Text 18"/>
          <p:cNvSpPr/>
          <p:nvPr/>
        </p:nvSpPr>
        <p:spPr>
          <a:xfrm>
            <a:off x="457200" y="6537960"/>
            <a:ext cx="6400800" cy="274320"/>
          </a:xfrm>
          <a:prstGeom prst="rect">
            <a:avLst/>
          </a:prstGeom>
          <a:noFill/>
          <a:ln/>
        </p:spPr>
        <p:txBody>
          <a:bodyPr wrap="square" rtlCol="0" anchor="ctr"/>
          <a:lstStyle/>
          <a:p>
            <a:r>
              <a:rPr lang="en-US" sz="900" b="1" dirty="0"/>
              <a:t>AI-Powered Public Infrastructure Issue Detection and Reporting System</a:t>
            </a:r>
          </a:p>
        </p:txBody>
      </p:sp>
      <p:sp>
        <p:nvSpPr>
          <p:cNvPr id="22" name="Text 19"/>
          <p:cNvSpPr/>
          <p:nvPr/>
        </p:nvSpPr>
        <p:spPr>
          <a:xfrm>
            <a:off x="11274552" y="6537960"/>
            <a:ext cx="457200" cy="274320"/>
          </a:xfrm>
          <a:prstGeom prst="rect">
            <a:avLst/>
          </a:prstGeom>
          <a:noFill/>
          <a:ln/>
        </p:spPr>
        <p:txBody>
          <a:bodyPr wrap="square"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7</a:t>
            </a:r>
            <a:endParaRPr lang="en-US" sz="90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9"/>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marL="0" indent="0">
              <a:buNone/>
            </a:pPr>
            <a:r>
              <a:rPr lang="en-US" sz="1200" b="1" kern="0" spc="200" dirty="0">
                <a:solidFill>
                  <a:srgbClr val="00867D"/>
                </a:solidFill>
                <a:latin typeface="Calibri" pitchFamily="34" charset="0"/>
                <a:ea typeface="Calibri" pitchFamily="34" charset="-122"/>
                <a:cs typeface="Calibri" pitchFamily="34" charset="-120"/>
              </a:rPr>
              <a:t>599 TEST SAMPLES EVALUATED</a:t>
            </a:r>
            <a:endParaRPr lang="en-US" sz="1200" dirty="0"/>
          </a:p>
        </p:txBody>
      </p:sp>
      <p:sp>
        <p:nvSpPr>
          <p:cNvPr id="3" name="Text 1"/>
          <p:cNvSpPr/>
          <p:nvPr/>
        </p:nvSpPr>
        <p:spPr>
          <a:xfrm>
            <a:off x="548640" y="621792"/>
            <a:ext cx="10515600" cy="685800"/>
          </a:xfrm>
          <a:prstGeom prst="rect">
            <a:avLst/>
          </a:prstGeom>
          <a:noFill/>
          <a:ln/>
        </p:spPr>
        <p:txBody>
          <a:bodyPr wrap="square" rtlCol="0" anchor="ctr"/>
          <a:lstStyle/>
          <a:p>
            <a:pPr marL="0" indent="0">
              <a:buNone/>
            </a:pPr>
            <a:r>
              <a:rPr lang="en-US" sz="3200" b="1" dirty="0">
                <a:solidFill>
                  <a:srgbClr val="1F2733"/>
                </a:solidFill>
                <a:latin typeface="Cambria" pitchFamily="34" charset="0"/>
                <a:ea typeface="Cambria" pitchFamily="34" charset="-122"/>
                <a:cs typeface="Cambria" pitchFamily="34" charset="-120"/>
              </a:rPr>
              <a:t>Confusion Matrix</a:t>
            </a:r>
            <a:endParaRPr lang="en-US" sz="3200" dirty="0"/>
          </a:p>
        </p:txBody>
      </p:sp>
      <p:sp>
        <p:nvSpPr>
          <p:cNvPr id="4" name="Text 2"/>
          <p:cNvSpPr/>
          <p:nvPr/>
        </p:nvSpPr>
        <p:spPr>
          <a:xfrm>
            <a:off x="3017520" y="1051560"/>
            <a:ext cx="3950208" cy="274320"/>
          </a:xfrm>
          <a:prstGeom prst="rect">
            <a:avLst/>
          </a:prstGeom>
          <a:noFill/>
          <a:ln/>
        </p:spPr>
        <p:txBody>
          <a:bodyPr wrap="square" rtlCol="0" anchor="ctr"/>
          <a:lstStyle/>
          <a:p>
            <a:pPr marL="0" indent="0" algn="ctr">
              <a:buNone/>
            </a:pPr>
            <a:r>
              <a:rPr lang="en-US" sz="1100" b="1" kern="0" spc="100" dirty="0">
                <a:solidFill>
                  <a:srgbClr val="00867D"/>
                </a:solidFill>
                <a:latin typeface="Calibri" pitchFamily="34" charset="0"/>
                <a:ea typeface="Calibri" pitchFamily="34" charset="-122"/>
                <a:cs typeface="Calibri" pitchFamily="34" charset="-120"/>
              </a:rPr>
              <a:t>PREDICTED →</a:t>
            </a:r>
            <a:endParaRPr lang="en-US" sz="1100" dirty="0"/>
          </a:p>
        </p:txBody>
      </p:sp>
      <p:sp>
        <p:nvSpPr>
          <p:cNvPr id="5" name="Text 3"/>
          <p:cNvSpPr/>
          <p:nvPr/>
        </p:nvSpPr>
        <p:spPr>
          <a:xfrm>
            <a:off x="3017520" y="1216152"/>
            <a:ext cx="987552" cy="347472"/>
          </a:xfrm>
          <a:prstGeom prst="rect">
            <a:avLst/>
          </a:prstGeom>
          <a:noFill/>
          <a:ln/>
        </p:spPr>
        <p:txBody>
          <a:bodyPr wrap="square" rtlCol="0" anchor="b"/>
          <a:lstStyle/>
          <a:p>
            <a:pPr marL="0" indent="0" algn="ctr">
              <a:buNone/>
            </a:pPr>
            <a:r>
              <a:rPr lang="en-US" sz="1000" b="1" dirty="0">
                <a:solidFill>
                  <a:srgbClr val="1F2733"/>
                </a:solidFill>
                <a:latin typeface="Calibri" pitchFamily="34" charset="0"/>
                <a:ea typeface="Calibri" pitchFamily="34" charset="-122"/>
                <a:cs typeface="Calibri" pitchFamily="34" charset="-120"/>
              </a:rPr>
              <a:t>Garbage</a:t>
            </a:r>
            <a:endParaRPr lang="en-US" sz="1000" dirty="0"/>
          </a:p>
        </p:txBody>
      </p:sp>
      <p:sp>
        <p:nvSpPr>
          <p:cNvPr id="6" name="Text 4"/>
          <p:cNvSpPr/>
          <p:nvPr/>
        </p:nvSpPr>
        <p:spPr>
          <a:xfrm>
            <a:off x="4005072" y="1216152"/>
            <a:ext cx="987552" cy="347472"/>
          </a:xfrm>
          <a:prstGeom prst="rect">
            <a:avLst/>
          </a:prstGeom>
          <a:noFill/>
          <a:ln/>
        </p:spPr>
        <p:txBody>
          <a:bodyPr wrap="square" rtlCol="0" anchor="b"/>
          <a:lstStyle/>
          <a:p>
            <a:pPr marL="0" indent="0" algn="ctr">
              <a:buNone/>
            </a:pPr>
            <a:r>
              <a:rPr lang="en-US" sz="1000" b="1" dirty="0">
                <a:solidFill>
                  <a:srgbClr val="1F2733"/>
                </a:solidFill>
                <a:latin typeface="Calibri" pitchFamily="34" charset="0"/>
                <a:ea typeface="Calibri" pitchFamily="34" charset="-122"/>
                <a:cs typeface="Calibri" pitchFamily="34" charset="-120"/>
              </a:rPr>
              <a:t>Normal</a:t>
            </a:r>
            <a:endParaRPr lang="en-US" sz="1000" dirty="0"/>
          </a:p>
        </p:txBody>
      </p:sp>
      <p:sp>
        <p:nvSpPr>
          <p:cNvPr id="7" name="Text 5"/>
          <p:cNvSpPr/>
          <p:nvPr/>
        </p:nvSpPr>
        <p:spPr>
          <a:xfrm>
            <a:off x="4992624" y="1216152"/>
            <a:ext cx="987552" cy="347472"/>
          </a:xfrm>
          <a:prstGeom prst="rect">
            <a:avLst/>
          </a:prstGeom>
          <a:noFill/>
          <a:ln/>
        </p:spPr>
        <p:txBody>
          <a:bodyPr wrap="square" rtlCol="0" anchor="b"/>
          <a:lstStyle/>
          <a:p>
            <a:pPr marL="0" indent="0" algn="ctr">
              <a:buNone/>
            </a:pPr>
            <a:r>
              <a:rPr lang="en-US" sz="1000" b="1" dirty="0">
                <a:solidFill>
                  <a:srgbClr val="1F2733"/>
                </a:solidFill>
                <a:latin typeface="Calibri" pitchFamily="34" charset="0"/>
                <a:ea typeface="Calibri" pitchFamily="34" charset="-122"/>
                <a:cs typeface="Calibri" pitchFamily="34" charset="-120"/>
              </a:rPr>
              <a:t>Pothole</a:t>
            </a:r>
            <a:endParaRPr lang="en-US" sz="1000" dirty="0"/>
          </a:p>
        </p:txBody>
      </p:sp>
      <p:sp>
        <p:nvSpPr>
          <p:cNvPr id="8" name="Text 6"/>
          <p:cNvSpPr/>
          <p:nvPr/>
        </p:nvSpPr>
        <p:spPr>
          <a:xfrm>
            <a:off x="5980176" y="1216152"/>
            <a:ext cx="987552" cy="347472"/>
          </a:xfrm>
          <a:prstGeom prst="rect">
            <a:avLst/>
          </a:prstGeom>
          <a:noFill/>
          <a:ln/>
        </p:spPr>
        <p:txBody>
          <a:bodyPr wrap="square" rtlCol="0" anchor="b"/>
          <a:lstStyle/>
          <a:p>
            <a:pPr marL="0" indent="0" algn="ctr">
              <a:buNone/>
            </a:pPr>
            <a:r>
              <a:rPr lang="en-US" sz="1000" b="1" dirty="0">
                <a:solidFill>
                  <a:srgbClr val="1F2733"/>
                </a:solidFill>
                <a:latin typeface="Calibri" pitchFamily="34" charset="0"/>
                <a:ea typeface="Calibri" pitchFamily="34" charset="-122"/>
                <a:cs typeface="Calibri" pitchFamily="34" charset="-120"/>
              </a:rPr>
              <a:t>Road Crack</a:t>
            </a:r>
            <a:endParaRPr lang="en-US" sz="1000" dirty="0"/>
          </a:p>
        </p:txBody>
      </p:sp>
      <p:sp>
        <p:nvSpPr>
          <p:cNvPr id="9" name="Text 7"/>
          <p:cNvSpPr/>
          <p:nvPr/>
        </p:nvSpPr>
        <p:spPr>
          <a:xfrm>
            <a:off x="640080" y="1216152"/>
            <a:ext cx="1463040" cy="347472"/>
          </a:xfrm>
          <a:prstGeom prst="rect">
            <a:avLst/>
          </a:prstGeom>
          <a:noFill/>
          <a:ln/>
        </p:spPr>
        <p:txBody>
          <a:bodyPr wrap="square" rtlCol="0" anchor="b"/>
          <a:lstStyle/>
          <a:p>
            <a:pPr marL="0" indent="0" algn="l">
              <a:buNone/>
            </a:pPr>
            <a:r>
              <a:rPr lang="en-US" sz="1100" b="1" kern="0" spc="100" dirty="0">
                <a:solidFill>
                  <a:srgbClr val="00867D"/>
                </a:solidFill>
                <a:latin typeface="Calibri" pitchFamily="34" charset="0"/>
                <a:ea typeface="Calibri" pitchFamily="34" charset="-122"/>
                <a:cs typeface="Calibri" pitchFamily="34" charset="-120"/>
              </a:rPr>
              <a:t>TRUE ↓</a:t>
            </a:r>
            <a:endParaRPr lang="en-US" sz="1100" dirty="0"/>
          </a:p>
        </p:txBody>
      </p:sp>
      <p:sp>
        <p:nvSpPr>
          <p:cNvPr id="10" name="Text 8"/>
          <p:cNvSpPr/>
          <p:nvPr/>
        </p:nvSpPr>
        <p:spPr>
          <a:xfrm>
            <a:off x="640080" y="1600200"/>
            <a:ext cx="2240280" cy="987552"/>
          </a:xfrm>
          <a:prstGeom prst="rect">
            <a:avLst/>
          </a:prstGeom>
          <a:noFill/>
          <a:ln/>
        </p:spPr>
        <p:txBody>
          <a:bodyPr wrap="square" rtlCol="0" anchor="ctr"/>
          <a:lstStyle/>
          <a:p>
            <a:pPr marL="0" indent="0" algn="r">
              <a:buNone/>
            </a:pPr>
            <a:r>
              <a:rPr lang="en-US" sz="1050" b="1" dirty="0">
                <a:solidFill>
                  <a:srgbClr val="1F2733"/>
                </a:solidFill>
                <a:latin typeface="Calibri" pitchFamily="34" charset="0"/>
                <a:ea typeface="Calibri" pitchFamily="34" charset="-122"/>
                <a:cs typeface="Calibri" pitchFamily="34" charset="-120"/>
              </a:rPr>
              <a:t>Garbage</a:t>
            </a:r>
            <a:endParaRPr lang="en-US" sz="1050" dirty="0"/>
          </a:p>
        </p:txBody>
      </p:sp>
      <p:sp>
        <p:nvSpPr>
          <p:cNvPr id="11" name="Shape 9"/>
          <p:cNvSpPr/>
          <p:nvPr/>
        </p:nvSpPr>
        <p:spPr>
          <a:xfrm>
            <a:off x="3017520" y="1600200"/>
            <a:ext cx="941832" cy="941832"/>
          </a:xfrm>
          <a:prstGeom prst="rect">
            <a:avLst/>
          </a:prstGeom>
          <a:solidFill>
            <a:srgbClr val="00B4A6"/>
          </a:solidFill>
          <a:ln w="9525">
            <a:solidFill>
              <a:srgbClr val="DCE2E9"/>
            </a:solidFill>
            <a:prstDash val="solid"/>
          </a:ln>
        </p:spPr>
      </p:sp>
      <p:sp>
        <p:nvSpPr>
          <p:cNvPr id="12" name="Text 10"/>
          <p:cNvSpPr/>
          <p:nvPr/>
        </p:nvSpPr>
        <p:spPr>
          <a:xfrm>
            <a:off x="3017520" y="1600200"/>
            <a:ext cx="941832" cy="941832"/>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145</a:t>
            </a:r>
            <a:endParaRPr lang="en-US" sz="1800" dirty="0"/>
          </a:p>
        </p:txBody>
      </p:sp>
      <p:sp>
        <p:nvSpPr>
          <p:cNvPr id="13" name="Shape 11"/>
          <p:cNvSpPr/>
          <p:nvPr/>
        </p:nvSpPr>
        <p:spPr>
          <a:xfrm>
            <a:off x="4005072" y="1600200"/>
            <a:ext cx="941832" cy="941832"/>
          </a:xfrm>
          <a:prstGeom prst="rect">
            <a:avLst/>
          </a:prstGeom>
          <a:solidFill>
            <a:srgbClr val="FFFFFF"/>
          </a:solidFill>
          <a:ln w="9525">
            <a:solidFill>
              <a:srgbClr val="DCE2E9"/>
            </a:solidFill>
            <a:prstDash val="solid"/>
          </a:ln>
        </p:spPr>
      </p:sp>
      <p:sp>
        <p:nvSpPr>
          <p:cNvPr id="14" name="Text 12"/>
          <p:cNvSpPr/>
          <p:nvPr/>
        </p:nvSpPr>
        <p:spPr>
          <a:xfrm>
            <a:off x="4005072" y="1600200"/>
            <a:ext cx="941832" cy="941832"/>
          </a:xfrm>
          <a:prstGeom prst="rect">
            <a:avLst/>
          </a:prstGeom>
          <a:noFill/>
          <a:ln/>
        </p:spPr>
        <p:txBody>
          <a:bodyPr wrap="square" lIns="0" tIns="0" rIns="0" bIns="0" rtlCol="0" anchor="ctr"/>
          <a:lstStyle/>
          <a:p>
            <a:pPr marL="0" indent="0" algn="ctr">
              <a:buNone/>
            </a:pPr>
            <a:r>
              <a:rPr lang="en-US" sz="1800" b="1" dirty="0">
                <a:solidFill>
                  <a:srgbClr val="B7BFCB"/>
                </a:solidFill>
                <a:latin typeface="Cambria" pitchFamily="34" charset="0"/>
                <a:ea typeface="Cambria" pitchFamily="34" charset="-122"/>
                <a:cs typeface="Cambria" pitchFamily="34" charset="-120"/>
              </a:rPr>
              <a:t>0</a:t>
            </a:r>
            <a:endParaRPr lang="en-US" sz="1800" dirty="0"/>
          </a:p>
        </p:txBody>
      </p:sp>
      <p:sp>
        <p:nvSpPr>
          <p:cNvPr id="15" name="Shape 13"/>
          <p:cNvSpPr/>
          <p:nvPr/>
        </p:nvSpPr>
        <p:spPr>
          <a:xfrm>
            <a:off x="4992624" y="1600200"/>
            <a:ext cx="941832" cy="941832"/>
          </a:xfrm>
          <a:prstGeom prst="rect">
            <a:avLst/>
          </a:prstGeom>
          <a:solidFill>
            <a:srgbClr val="FDEBD3"/>
          </a:solidFill>
          <a:ln w="9525">
            <a:solidFill>
              <a:srgbClr val="DCE2E9"/>
            </a:solidFill>
            <a:prstDash val="solid"/>
          </a:ln>
        </p:spPr>
      </p:sp>
      <p:sp>
        <p:nvSpPr>
          <p:cNvPr id="16" name="Text 14"/>
          <p:cNvSpPr/>
          <p:nvPr/>
        </p:nvSpPr>
        <p:spPr>
          <a:xfrm>
            <a:off x="4992624" y="1600200"/>
            <a:ext cx="941832" cy="941832"/>
          </a:xfrm>
          <a:prstGeom prst="rect">
            <a:avLst/>
          </a:prstGeom>
          <a:noFill/>
          <a:ln/>
        </p:spPr>
        <p:txBody>
          <a:bodyPr wrap="square" lIns="0" tIns="0" rIns="0" bIns="0" rtlCol="0" anchor="ctr"/>
          <a:lstStyle/>
          <a:p>
            <a:pPr marL="0" indent="0" algn="ctr">
              <a:buNone/>
            </a:pPr>
            <a:r>
              <a:rPr lang="en-US" sz="1800" b="1" dirty="0">
                <a:solidFill>
                  <a:srgbClr val="8A5A18"/>
                </a:solidFill>
                <a:latin typeface="Cambria" pitchFamily="34" charset="0"/>
                <a:ea typeface="Cambria" pitchFamily="34" charset="-122"/>
                <a:cs typeface="Cambria" pitchFamily="34" charset="-120"/>
              </a:rPr>
              <a:t>4</a:t>
            </a:r>
            <a:endParaRPr lang="en-US" sz="1800" dirty="0"/>
          </a:p>
        </p:txBody>
      </p:sp>
      <p:sp>
        <p:nvSpPr>
          <p:cNvPr id="17" name="Shape 15"/>
          <p:cNvSpPr/>
          <p:nvPr/>
        </p:nvSpPr>
        <p:spPr>
          <a:xfrm>
            <a:off x="5980176" y="1600200"/>
            <a:ext cx="941832" cy="941832"/>
          </a:xfrm>
          <a:prstGeom prst="rect">
            <a:avLst/>
          </a:prstGeom>
          <a:solidFill>
            <a:srgbClr val="FDEBD3"/>
          </a:solidFill>
          <a:ln w="9525">
            <a:solidFill>
              <a:srgbClr val="DCE2E9"/>
            </a:solidFill>
            <a:prstDash val="solid"/>
          </a:ln>
        </p:spPr>
      </p:sp>
      <p:sp>
        <p:nvSpPr>
          <p:cNvPr id="18" name="Text 16"/>
          <p:cNvSpPr/>
          <p:nvPr/>
        </p:nvSpPr>
        <p:spPr>
          <a:xfrm>
            <a:off x="5980176" y="1600200"/>
            <a:ext cx="941832" cy="941832"/>
          </a:xfrm>
          <a:prstGeom prst="rect">
            <a:avLst/>
          </a:prstGeom>
          <a:noFill/>
          <a:ln/>
        </p:spPr>
        <p:txBody>
          <a:bodyPr wrap="square" lIns="0" tIns="0" rIns="0" bIns="0" rtlCol="0" anchor="ctr"/>
          <a:lstStyle/>
          <a:p>
            <a:pPr marL="0" indent="0" algn="ctr">
              <a:buNone/>
            </a:pPr>
            <a:r>
              <a:rPr lang="en-US" sz="1800" b="1" dirty="0">
                <a:solidFill>
                  <a:srgbClr val="8A5A18"/>
                </a:solidFill>
                <a:latin typeface="Cambria" pitchFamily="34" charset="0"/>
                <a:ea typeface="Cambria" pitchFamily="34" charset="-122"/>
                <a:cs typeface="Cambria" pitchFamily="34" charset="-120"/>
              </a:rPr>
              <a:t>1</a:t>
            </a:r>
            <a:endParaRPr lang="en-US" sz="1800" dirty="0"/>
          </a:p>
        </p:txBody>
      </p:sp>
      <p:sp>
        <p:nvSpPr>
          <p:cNvPr id="19" name="Text 17"/>
          <p:cNvSpPr/>
          <p:nvPr/>
        </p:nvSpPr>
        <p:spPr>
          <a:xfrm>
            <a:off x="640080" y="2587752"/>
            <a:ext cx="2240280" cy="987552"/>
          </a:xfrm>
          <a:prstGeom prst="rect">
            <a:avLst/>
          </a:prstGeom>
          <a:noFill/>
          <a:ln/>
        </p:spPr>
        <p:txBody>
          <a:bodyPr wrap="square" rtlCol="0" anchor="ctr"/>
          <a:lstStyle/>
          <a:p>
            <a:pPr marL="0" indent="0" algn="r">
              <a:buNone/>
            </a:pPr>
            <a:r>
              <a:rPr lang="en-US" sz="1050" b="1" dirty="0">
                <a:solidFill>
                  <a:srgbClr val="1F2733"/>
                </a:solidFill>
                <a:latin typeface="Calibri" pitchFamily="34" charset="0"/>
                <a:ea typeface="Calibri" pitchFamily="34" charset="-122"/>
                <a:cs typeface="Calibri" pitchFamily="34" charset="-120"/>
              </a:rPr>
              <a:t>Normal</a:t>
            </a:r>
            <a:endParaRPr lang="en-US" sz="1050" dirty="0"/>
          </a:p>
        </p:txBody>
      </p:sp>
      <p:sp>
        <p:nvSpPr>
          <p:cNvPr id="20" name="Shape 18"/>
          <p:cNvSpPr/>
          <p:nvPr/>
        </p:nvSpPr>
        <p:spPr>
          <a:xfrm>
            <a:off x="3017520" y="2587752"/>
            <a:ext cx="941832" cy="941832"/>
          </a:xfrm>
          <a:prstGeom prst="rect">
            <a:avLst/>
          </a:prstGeom>
          <a:solidFill>
            <a:srgbClr val="FFFFFF"/>
          </a:solidFill>
          <a:ln w="9525">
            <a:solidFill>
              <a:srgbClr val="DCE2E9"/>
            </a:solidFill>
            <a:prstDash val="solid"/>
          </a:ln>
        </p:spPr>
      </p:sp>
      <p:sp>
        <p:nvSpPr>
          <p:cNvPr id="21" name="Text 19"/>
          <p:cNvSpPr/>
          <p:nvPr/>
        </p:nvSpPr>
        <p:spPr>
          <a:xfrm>
            <a:off x="3017520" y="2587752"/>
            <a:ext cx="941832" cy="941832"/>
          </a:xfrm>
          <a:prstGeom prst="rect">
            <a:avLst/>
          </a:prstGeom>
          <a:noFill/>
          <a:ln/>
        </p:spPr>
        <p:txBody>
          <a:bodyPr wrap="square" lIns="0" tIns="0" rIns="0" bIns="0" rtlCol="0" anchor="ctr"/>
          <a:lstStyle/>
          <a:p>
            <a:pPr marL="0" indent="0" algn="ctr">
              <a:buNone/>
            </a:pPr>
            <a:r>
              <a:rPr lang="en-US" sz="1800" b="1" dirty="0">
                <a:solidFill>
                  <a:srgbClr val="B7BFCB"/>
                </a:solidFill>
                <a:latin typeface="Cambria" pitchFamily="34" charset="0"/>
                <a:ea typeface="Cambria" pitchFamily="34" charset="-122"/>
                <a:cs typeface="Cambria" pitchFamily="34" charset="-120"/>
              </a:rPr>
              <a:t>0</a:t>
            </a:r>
            <a:endParaRPr lang="en-US" sz="1800" dirty="0"/>
          </a:p>
        </p:txBody>
      </p:sp>
      <p:sp>
        <p:nvSpPr>
          <p:cNvPr id="22" name="Shape 20"/>
          <p:cNvSpPr/>
          <p:nvPr/>
        </p:nvSpPr>
        <p:spPr>
          <a:xfrm>
            <a:off x="4005072" y="2587752"/>
            <a:ext cx="941832" cy="941832"/>
          </a:xfrm>
          <a:prstGeom prst="rect">
            <a:avLst/>
          </a:prstGeom>
          <a:solidFill>
            <a:srgbClr val="00B4A6"/>
          </a:solidFill>
          <a:ln w="9525">
            <a:solidFill>
              <a:srgbClr val="DCE2E9"/>
            </a:solidFill>
            <a:prstDash val="solid"/>
          </a:ln>
        </p:spPr>
      </p:sp>
      <p:sp>
        <p:nvSpPr>
          <p:cNvPr id="23" name="Text 21"/>
          <p:cNvSpPr/>
          <p:nvPr/>
        </p:nvSpPr>
        <p:spPr>
          <a:xfrm>
            <a:off x="4005072" y="2587752"/>
            <a:ext cx="941832" cy="941832"/>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147</a:t>
            </a:r>
            <a:endParaRPr lang="en-US" sz="1800" dirty="0"/>
          </a:p>
        </p:txBody>
      </p:sp>
      <p:sp>
        <p:nvSpPr>
          <p:cNvPr id="24" name="Shape 22"/>
          <p:cNvSpPr/>
          <p:nvPr/>
        </p:nvSpPr>
        <p:spPr>
          <a:xfrm>
            <a:off x="4992624" y="2587752"/>
            <a:ext cx="941832" cy="941832"/>
          </a:xfrm>
          <a:prstGeom prst="rect">
            <a:avLst/>
          </a:prstGeom>
          <a:solidFill>
            <a:srgbClr val="FDEBD3"/>
          </a:solidFill>
          <a:ln w="9525">
            <a:solidFill>
              <a:srgbClr val="DCE2E9"/>
            </a:solidFill>
            <a:prstDash val="solid"/>
          </a:ln>
        </p:spPr>
      </p:sp>
      <p:sp>
        <p:nvSpPr>
          <p:cNvPr id="25" name="Text 23"/>
          <p:cNvSpPr/>
          <p:nvPr/>
        </p:nvSpPr>
        <p:spPr>
          <a:xfrm>
            <a:off x="4992624" y="2587752"/>
            <a:ext cx="941832" cy="941832"/>
          </a:xfrm>
          <a:prstGeom prst="rect">
            <a:avLst/>
          </a:prstGeom>
          <a:noFill/>
          <a:ln/>
        </p:spPr>
        <p:txBody>
          <a:bodyPr wrap="square" lIns="0" tIns="0" rIns="0" bIns="0" rtlCol="0" anchor="ctr"/>
          <a:lstStyle/>
          <a:p>
            <a:pPr marL="0" indent="0" algn="ctr">
              <a:buNone/>
            </a:pPr>
            <a:r>
              <a:rPr lang="en-US" sz="1800" b="1" dirty="0">
                <a:solidFill>
                  <a:srgbClr val="8A5A18"/>
                </a:solidFill>
                <a:latin typeface="Cambria" pitchFamily="34" charset="0"/>
                <a:ea typeface="Cambria" pitchFamily="34" charset="-122"/>
                <a:cs typeface="Cambria" pitchFamily="34" charset="-120"/>
              </a:rPr>
              <a:t>2</a:t>
            </a:r>
            <a:endParaRPr lang="en-US" sz="1800" dirty="0"/>
          </a:p>
        </p:txBody>
      </p:sp>
      <p:sp>
        <p:nvSpPr>
          <p:cNvPr id="26" name="Shape 24"/>
          <p:cNvSpPr/>
          <p:nvPr/>
        </p:nvSpPr>
        <p:spPr>
          <a:xfrm>
            <a:off x="5980176" y="2587752"/>
            <a:ext cx="941832" cy="941832"/>
          </a:xfrm>
          <a:prstGeom prst="rect">
            <a:avLst/>
          </a:prstGeom>
          <a:solidFill>
            <a:srgbClr val="FDEBD3"/>
          </a:solidFill>
          <a:ln w="9525">
            <a:solidFill>
              <a:srgbClr val="DCE2E9"/>
            </a:solidFill>
            <a:prstDash val="solid"/>
          </a:ln>
        </p:spPr>
      </p:sp>
      <p:sp>
        <p:nvSpPr>
          <p:cNvPr id="27" name="Text 25"/>
          <p:cNvSpPr/>
          <p:nvPr/>
        </p:nvSpPr>
        <p:spPr>
          <a:xfrm>
            <a:off x="5980176" y="2587752"/>
            <a:ext cx="941832" cy="941832"/>
          </a:xfrm>
          <a:prstGeom prst="rect">
            <a:avLst/>
          </a:prstGeom>
          <a:noFill/>
          <a:ln/>
        </p:spPr>
        <p:txBody>
          <a:bodyPr wrap="square" lIns="0" tIns="0" rIns="0" bIns="0" rtlCol="0" anchor="ctr"/>
          <a:lstStyle/>
          <a:p>
            <a:pPr marL="0" indent="0" algn="ctr">
              <a:buNone/>
            </a:pPr>
            <a:r>
              <a:rPr lang="en-US" sz="1800" b="1" dirty="0">
                <a:solidFill>
                  <a:srgbClr val="8A5A18"/>
                </a:solidFill>
                <a:latin typeface="Cambria" pitchFamily="34" charset="0"/>
                <a:ea typeface="Cambria" pitchFamily="34" charset="-122"/>
                <a:cs typeface="Cambria" pitchFamily="34" charset="-120"/>
              </a:rPr>
              <a:t>1</a:t>
            </a:r>
            <a:endParaRPr lang="en-US" sz="1800" dirty="0"/>
          </a:p>
        </p:txBody>
      </p:sp>
      <p:sp>
        <p:nvSpPr>
          <p:cNvPr id="28" name="Text 26"/>
          <p:cNvSpPr/>
          <p:nvPr/>
        </p:nvSpPr>
        <p:spPr>
          <a:xfrm>
            <a:off x="640080" y="3575304"/>
            <a:ext cx="2240280" cy="987552"/>
          </a:xfrm>
          <a:prstGeom prst="rect">
            <a:avLst/>
          </a:prstGeom>
          <a:noFill/>
          <a:ln/>
        </p:spPr>
        <p:txBody>
          <a:bodyPr wrap="square" rtlCol="0" anchor="ctr"/>
          <a:lstStyle/>
          <a:p>
            <a:pPr marL="0" indent="0" algn="r">
              <a:buNone/>
            </a:pPr>
            <a:r>
              <a:rPr lang="en-US" sz="1050" b="1" dirty="0">
                <a:solidFill>
                  <a:srgbClr val="1F2733"/>
                </a:solidFill>
                <a:latin typeface="Calibri" pitchFamily="34" charset="0"/>
                <a:ea typeface="Calibri" pitchFamily="34" charset="-122"/>
                <a:cs typeface="Calibri" pitchFamily="34" charset="-120"/>
              </a:rPr>
              <a:t>Pothole</a:t>
            </a:r>
            <a:endParaRPr lang="en-US" sz="1050" dirty="0"/>
          </a:p>
        </p:txBody>
      </p:sp>
      <p:sp>
        <p:nvSpPr>
          <p:cNvPr id="29" name="Shape 27"/>
          <p:cNvSpPr/>
          <p:nvPr/>
        </p:nvSpPr>
        <p:spPr>
          <a:xfrm>
            <a:off x="3017520" y="3575304"/>
            <a:ext cx="941832" cy="941832"/>
          </a:xfrm>
          <a:prstGeom prst="rect">
            <a:avLst/>
          </a:prstGeom>
          <a:solidFill>
            <a:srgbClr val="FFFFFF"/>
          </a:solidFill>
          <a:ln w="9525">
            <a:solidFill>
              <a:srgbClr val="DCE2E9"/>
            </a:solidFill>
            <a:prstDash val="solid"/>
          </a:ln>
        </p:spPr>
      </p:sp>
      <p:sp>
        <p:nvSpPr>
          <p:cNvPr id="30" name="Text 28"/>
          <p:cNvSpPr/>
          <p:nvPr/>
        </p:nvSpPr>
        <p:spPr>
          <a:xfrm>
            <a:off x="3017520" y="3575304"/>
            <a:ext cx="941832" cy="941832"/>
          </a:xfrm>
          <a:prstGeom prst="rect">
            <a:avLst/>
          </a:prstGeom>
          <a:noFill/>
          <a:ln/>
        </p:spPr>
        <p:txBody>
          <a:bodyPr wrap="square" lIns="0" tIns="0" rIns="0" bIns="0" rtlCol="0" anchor="ctr"/>
          <a:lstStyle/>
          <a:p>
            <a:pPr marL="0" indent="0" algn="ctr">
              <a:buNone/>
            </a:pPr>
            <a:r>
              <a:rPr lang="en-US" sz="1800" b="1" dirty="0">
                <a:solidFill>
                  <a:srgbClr val="B7BFCB"/>
                </a:solidFill>
                <a:latin typeface="Cambria" pitchFamily="34" charset="0"/>
                <a:ea typeface="Cambria" pitchFamily="34" charset="-122"/>
                <a:cs typeface="Cambria" pitchFamily="34" charset="-120"/>
              </a:rPr>
              <a:t>0</a:t>
            </a:r>
            <a:endParaRPr lang="en-US" sz="1800" dirty="0"/>
          </a:p>
        </p:txBody>
      </p:sp>
      <p:sp>
        <p:nvSpPr>
          <p:cNvPr id="31" name="Shape 29"/>
          <p:cNvSpPr/>
          <p:nvPr/>
        </p:nvSpPr>
        <p:spPr>
          <a:xfrm>
            <a:off x="4005072" y="3575304"/>
            <a:ext cx="941832" cy="941832"/>
          </a:xfrm>
          <a:prstGeom prst="rect">
            <a:avLst/>
          </a:prstGeom>
          <a:solidFill>
            <a:srgbClr val="FFFFFF"/>
          </a:solidFill>
          <a:ln w="9525">
            <a:solidFill>
              <a:srgbClr val="DCE2E9"/>
            </a:solidFill>
            <a:prstDash val="solid"/>
          </a:ln>
        </p:spPr>
      </p:sp>
      <p:sp>
        <p:nvSpPr>
          <p:cNvPr id="32" name="Text 30"/>
          <p:cNvSpPr/>
          <p:nvPr/>
        </p:nvSpPr>
        <p:spPr>
          <a:xfrm>
            <a:off x="4005072" y="3575304"/>
            <a:ext cx="941832" cy="941832"/>
          </a:xfrm>
          <a:prstGeom prst="rect">
            <a:avLst/>
          </a:prstGeom>
          <a:noFill/>
          <a:ln/>
        </p:spPr>
        <p:txBody>
          <a:bodyPr wrap="square" lIns="0" tIns="0" rIns="0" bIns="0" rtlCol="0" anchor="ctr"/>
          <a:lstStyle/>
          <a:p>
            <a:pPr marL="0" indent="0" algn="ctr">
              <a:buNone/>
            </a:pPr>
            <a:r>
              <a:rPr lang="en-US" sz="1800" b="1" dirty="0">
                <a:solidFill>
                  <a:srgbClr val="B7BFCB"/>
                </a:solidFill>
                <a:latin typeface="Cambria" pitchFamily="34" charset="0"/>
                <a:ea typeface="Cambria" pitchFamily="34" charset="-122"/>
                <a:cs typeface="Cambria" pitchFamily="34" charset="-120"/>
              </a:rPr>
              <a:t>0</a:t>
            </a:r>
            <a:endParaRPr lang="en-US" sz="1800" dirty="0"/>
          </a:p>
        </p:txBody>
      </p:sp>
      <p:sp>
        <p:nvSpPr>
          <p:cNvPr id="33" name="Shape 31"/>
          <p:cNvSpPr/>
          <p:nvPr/>
        </p:nvSpPr>
        <p:spPr>
          <a:xfrm>
            <a:off x="4992624" y="3575304"/>
            <a:ext cx="941832" cy="941832"/>
          </a:xfrm>
          <a:prstGeom prst="rect">
            <a:avLst/>
          </a:prstGeom>
          <a:solidFill>
            <a:srgbClr val="00B4A6"/>
          </a:solidFill>
          <a:ln w="9525">
            <a:solidFill>
              <a:srgbClr val="DCE2E9"/>
            </a:solidFill>
            <a:prstDash val="solid"/>
          </a:ln>
        </p:spPr>
      </p:sp>
      <p:sp>
        <p:nvSpPr>
          <p:cNvPr id="34" name="Text 32"/>
          <p:cNvSpPr/>
          <p:nvPr/>
        </p:nvSpPr>
        <p:spPr>
          <a:xfrm>
            <a:off x="4992624" y="3575304"/>
            <a:ext cx="941832" cy="941832"/>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149</a:t>
            </a:r>
            <a:endParaRPr lang="en-US" sz="1800" dirty="0"/>
          </a:p>
        </p:txBody>
      </p:sp>
      <p:sp>
        <p:nvSpPr>
          <p:cNvPr id="35" name="Shape 33"/>
          <p:cNvSpPr/>
          <p:nvPr/>
        </p:nvSpPr>
        <p:spPr>
          <a:xfrm>
            <a:off x="5980176" y="3575304"/>
            <a:ext cx="941832" cy="941832"/>
          </a:xfrm>
          <a:prstGeom prst="rect">
            <a:avLst/>
          </a:prstGeom>
          <a:solidFill>
            <a:srgbClr val="FFFFFF"/>
          </a:solidFill>
          <a:ln w="9525">
            <a:solidFill>
              <a:srgbClr val="DCE2E9"/>
            </a:solidFill>
            <a:prstDash val="solid"/>
          </a:ln>
        </p:spPr>
      </p:sp>
      <p:sp>
        <p:nvSpPr>
          <p:cNvPr id="36" name="Text 34"/>
          <p:cNvSpPr/>
          <p:nvPr/>
        </p:nvSpPr>
        <p:spPr>
          <a:xfrm>
            <a:off x="5980176" y="3575304"/>
            <a:ext cx="941832" cy="941832"/>
          </a:xfrm>
          <a:prstGeom prst="rect">
            <a:avLst/>
          </a:prstGeom>
          <a:noFill/>
          <a:ln/>
        </p:spPr>
        <p:txBody>
          <a:bodyPr wrap="square" lIns="0" tIns="0" rIns="0" bIns="0" rtlCol="0" anchor="ctr"/>
          <a:lstStyle/>
          <a:p>
            <a:pPr marL="0" indent="0" algn="ctr">
              <a:buNone/>
            </a:pPr>
            <a:r>
              <a:rPr lang="en-US" sz="1800" b="1" dirty="0">
                <a:solidFill>
                  <a:srgbClr val="B7BFCB"/>
                </a:solidFill>
                <a:latin typeface="Cambria" pitchFamily="34" charset="0"/>
                <a:ea typeface="Cambria" pitchFamily="34" charset="-122"/>
                <a:cs typeface="Cambria" pitchFamily="34" charset="-120"/>
              </a:rPr>
              <a:t>0</a:t>
            </a:r>
            <a:endParaRPr lang="en-US" sz="1800" dirty="0"/>
          </a:p>
        </p:txBody>
      </p:sp>
      <p:sp>
        <p:nvSpPr>
          <p:cNvPr id="37" name="Text 35"/>
          <p:cNvSpPr/>
          <p:nvPr/>
        </p:nvSpPr>
        <p:spPr>
          <a:xfrm>
            <a:off x="640080" y="4562856"/>
            <a:ext cx="2240280" cy="987552"/>
          </a:xfrm>
          <a:prstGeom prst="rect">
            <a:avLst/>
          </a:prstGeom>
          <a:noFill/>
          <a:ln/>
        </p:spPr>
        <p:txBody>
          <a:bodyPr wrap="square" rtlCol="0" anchor="ctr"/>
          <a:lstStyle/>
          <a:p>
            <a:pPr marL="0" indent="0" algn="r">
              <a:buNone/>
            </a:pPr>
            <a:r>
              <a:rPr lang="en-US" sz="1050" b="1" dirty="0">
                <a:solidFill>
                  <a:srgbClr val="1F2733"/>
                </a:solidFill>
                <a:latin typeface="Calibri" pitchFamily="34" charset="0"/>
                <a:ea typeface="Calibri" pitchFamily="34" charset="-122"/>
                <a:cs typeface="Calibri" pitchFamily="34" charset="-120"/>
              </a:rPr>
              <a:t>Road Crack</a:t>
            </a:r>
            <a:endParaRPr lang="en-US" sz="1050" dirty="0"/>
          </a:p>
        </p:txBody>
      </p:sp>
      <p:sp>
        <p:nvSpPr>
          <p:cNvPr id="38" name="Shape 36"/>
          <p:cNvSpPr/>
          <p:nvPr/>
        </p:nvSpPr>
        <p:spPr>
          <a:xfrm>
            <a:off x="3017520" y="4562856"/>
            <a:ext cx="941832" cy="941832"/>
          </a:xfrm>
          <a:prstGeom prst="rect">
            <a:avLst/>
          </a:prstGeom>
          <a:solidFill>
            <a:srgbClr val="FFFFFF"/>
          </a:solidFill>
          <a:ln w="9525">
            <a:solidFill>
              <a:srgbClr val="DCE2E9"/>
            </a:solidFill>
            <a:prstDash val="solid"/>
          </a:ln>
        </p:spPr>
      </p:sp>
      <p:sp>
        <p:nvSpPr>
          <p:cNvPr id="39" name="Text 37"/>
          <p:cNvSpPr/>
          <p:nvPr/>
        </p:nvSpPr>
        <p:spPr>
          <a:xfrm>
            <a:off x="3017520" y="4562856"/>
            <a:ext cx="941832" cy="941832"/>
          </a:xfrm>
          <a:prstGeom prst="rect">
            <a:avLst/>
          </a:prstGeom>
          <a:noFill/>
          <a:ln/>
        </p:spPr>
        <p:txBody>
          <a:bodyPr wrap="square" lIns="0" tIns="0" rIns="0" bIns="0" rtlCol="0" anchor="ctr"/>
          <a:lstStyle/>
          <a:p>
            <a:pPr marL="0" indent="0" algn="ctr">
              <a:buNone/>
            </a:pPr>
            <a:r>
              <a:rPr lang="en-US" sz="1800" b="1" dirty="0">
                <a:solidFill>
                  <a:srgbClr val="B7BFCB"/>
                </a:solidFill>
                <a:latin typeface="Cambria" pitchFamily="34" charset="0"/>
                <a:ea typeface="Cambria" pitchFamily="34" charset="-122"/>
                <a:cs typeface="Cambria" pitchFamily="34" charset="-120"/>
              </a:rPr>
              <a:t>0</a:t>
            </a:r>
            <a:endParaRPr lang="en-US" sz="1800" dirty="0"/>
          </a:p>
        </p:txBody>
      </p:sp>
      <p:sp>
        <p:nvSpPr>
          <p:cNvPr id="40" name="Shape 38"/>
          <p:cNvSpPr/>
          <p:nvPr/>
        </p:nvSpPr>
        <p:spPr>
          <a:xfrm>
            <a:off x="4005072" y="4562856"/>
            <a:ext cx="941832" cy="941832"/>
          </a:xfrm>
          <a:prstGeom prst="rect">
            <a:avLst/>
          </a:prstGeom>
          <a:solidFill>
            <a:srgbClr val="FDEBD3"/>
          </a:solidFill>
          <a:ln w="9525">
            <a:solidFill>
              <a:srgbClr val="DCE2E9"/>
            </a:solidFill>
            <a:prstDash val="solid"/>
          </a:ln>
        </p:spPr>
      </p:sp>
      <p:sp>
        <p:nvSpPr>
          <p:cNvPr id="41" name="Text 39"/>
          <p:cNvSpPr/>
          <p:nvPr/>
        </p:nvSpPr>
        <p:spPr>
          <a:xfrm>
            <a:off x="4005072" y="4562856"/>
            <a:ext cx="941832" cy="941832"/>
          </a:xfrm>
          <a:prstGeom prst="rect">
            <a:avLst/>
          </a:prstGeom>
          <a:noFill/>
          <a:ln/>
        </p:spPr>
        <p:txBody>
          <a:bodyPr wrap="square" lIns="0" tIns="0" rIns="0" bIns="0" rtlCol="0" anchor="ctr"/>
          <a:lstStyle/>
          <a:p>
            <a:pPr marL="0" indent="0" algn="ctr">
              <a:buNone/>
            </a:pPr>
            <a:r>
              <a:rPr lang="en-US" sz="1800" b="1" dirty="0">
                <a:solidFill>
                  <a:srgbClr val="8A5A18"/>
                </a:solidFill>
                <a:latin typeface="Cambria" pitchFamily="34" charset="0"/>
                <a:ea typeface="Cambria" pitchFamily="34" charset="-122"/>
                <a:cs typeface="Cambria" pitchFamily="34" charset="-120"/>
              </a:rPr>
              <a:t>2</a:t>
            </a:r>
            <a:endParaRPr lang="en-US" sz="1800" dirty="0"/>
          </a:p>
        </p:txBody>
      </p:sp>
      <p:sp>
        <p:nvSpPr>
          <p:cNvPr id="42" name="Shape 40"/>
          <p:cNvSpPr/>
          <p:nvPr/>
        </p:nvSpPr>
        <p:spPr>
          <a:xfrm>
            <a:off x="4992624" y="4562856"/>
            <a:ext cx="941832" cy="941832"/>
          </a:xfrm>
          <a:prstGeom prst="rect">
            <a:avLst/>
          </a:prstGeom>
          <a:solidFill>
            <a:srgbClr val="FFFFFF"/>
          </a:solidFill>
          <a:ln w="9525">
            <a:solidFill>
              <a:srgbClr val="DCE2E9"/>
            </a:solidFill>
            <a:prstDash val="solid"/>
          </a:ln>
        </p:spPr>
      </p:sp>
      <p:sp>
        <p:nvSpPr>
          <p:cNvPr id="43" name="Text 41"/>
          <p:cNvSpPr/>
          <p:nvPr/>
        </p:nvSpPr>
        <p:spPr>
          <a:xfrm>
            <a:off x="4992624" y="4562856"/>
            <a:ext cx="941832" cy="941832"/>
          </a:xfrm>
          <a:prstGeom prst="rect">
            <a:avLst/>
          </a:prstGeom>
          <a:noFill/>
          <a:ln/>
        </p:spPr>
        <p:txBody>
          <a:bodyPr wrap="square" lIns="0" tIns="0" rIns="0" bIns="0" rtlCol="0" anchor="ctr"/>
          <a:lstStyle/>
          <a:p>
            <a:pPr marL="0" indent="0" algn="ctr">
              <a:buNone/>
            </a:pPr>
            <a:r>
              <a:rPr lang="en-US" sz="1800" b="1" dirty="0">
                <a:solidFill>
                  <a:srgbClr val="B7BFCB"/>
                </a:solidFill>
                <a:latin typeface="Cambria" pitchFamily="34" charset="0"/>
                <a:ea typeface="Cambria" pitchFamily="34" charset="-122"/>
                <a:cs typeface="Cambria" pitchFamily="34" charset="-120"/>
              </a:rPr>
              <a:t>0</a:t>
            </a:r>
            <a:endParaRPr lang="en-US" sz="1800" dirty="0"/>
          </a:p>
        </p:txBody>
      </p:sp>
      <p:sp>
        <p:nvSpPr>
          <p:cNvPr id="44" name="Shape 42"/>
          <p:cNvSpPr/>
          <p:nvPr/>
        </p:nvSpPr>
        <p:spPr>
          <a:xfrm>
            <a:off x="5980176" y="4562856"/>
            <a:ext cx="941832" cy="941832"/>
          </a:xfrm>
          <a:prstGeom prst="rect">
            <a:avLst/>
          </a:prstGeom>
          <a:solidFill>
            <a:srgbClr val="00B4A6"/>
          </a:solidFill>
          <a:ln w="9525">
            <a:solidFill>
              <a:srgbClr val="DCE2E9"/>
            </a:solidFill>
            <a:prstDash val="solid"/>
          </a:ln>
        </p:spPr>
      </p:sp>
      <p:sp>
        <p:nvSpPr>
          <p:cNvPr id="45" name="Text 43"/>
          <p:cNvSpPr/>
          <p:nvPr/>
        </p:nvSpPr>
        <p:spPr>
          <a:xfrm>
            <a:off x="5980176" y="4562856"/>
            <a:ext cx="941832" cy="941832"/>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148</a:t>
            </a:r>
            <a:endParaRPr lang="en-US" sz="1800" dirty="0"/>
          </a:p>
        </p:txBody>
      </p:sp>
      <p:sp>
        <p:nvSpPr>
          <p:cNvPr id="46" name="Text 44"/>
          <p:cNvSpPr/>
          <p:nvPr/>
        </p:nvSpPr>
        <p:spPr>
          <a:xfrm>
            <a:off x="640080" y="5824728"/>
            <a:ext cx="10881360" cy="502920"/>
          </a:xfrm>
          <a:prstGeom prst="rect">
            <a:avLst/>
          </a:prstGeom>
          <a:noFill/>
          <a:ln/>
        </p:spPr>
        <p:txBody>
          <a:bodyPr wrap="square" rtlCol="0" anchor="ctr"/>
          <a:lstStyle/>
          <a:p>
            <a:pPr marL="0" indent="0">
              <a:lnSpc>
                <a:spcPct val="115000"/>
              </a:lnSpc>
              <a:buNone/>
            </a:pPr>
            <a:r>
              <a:rPr lang="en-US" sz="1200" b="1" dirty="0">
                <a:solidFill>
                  <a:srgbClr val="1F2733"/>
                </a:solidFill>
                <a:latin typeface="Calibri" pitchFamily="34" charset="0"/>
                <a:ea typeface="Calibri" pitchFamily="34" charset="-122"/>
                <a:cs typeface="Calibri" pitchFamily="34" charset="-120"/>
              </a:rPr>
              <a:t>Diagonal cells (dark teal) </a:t>
            </a:r>
            <a:r>
              <a:rPr lang="en-US" sz="1200" dirty="0">
                <a:solidFill>
                  <a:srgbClr val="5B6472"/>
                </a:solidFill>
                <a:latin typeface="Calibri" pitchFamily="34" charset="0"/>
                <a:ea typeface="Calibri" pitchFamily="34" charset="-122"/>
                <a:cs typeface="Calibri" pitchFamily="34" charset="-120"/>
              </a:rPr>
              <a:t>= correct predictions. </a:t>
            </a:r>
            <a:r>
              <a:rPr lang="en-US" sz="1200" b="1" dirty="0">
                <a:solidFill>
                  <a:srgbClr val="1F2733"/>
                </a:solidFill>
                <a:latin typeface="Calibri" pitchFamily="34" charset="0"/>
                <a:ea typeface="Calibri" pitchFamily="34" charset="-122"/>
                <a:cs typeface="Calibri" pitchFamily="34" charset="-120"/>
              </a:rPr>
              <a:t>Off-diagonal cells </a:t>
            </a:r>
            <a:r>
              <a:rPr lang="en-US" sz="1200" dirty="0">
                <a:solidFill>
                  <a:srgbClr val="5B6472"/>
                </a:solidFill>
                <a:latin typeface="Calibri" pitchFamily="34" charset="0"/>
                <a:ea typeface="Calibri" pitchFamily="34" charset="-122"/>
                <a:cs typeface="Calibri" pitchFamily="34" charset="-120"/>
              </a:rPr>
              <a:t>= misclassifications, e.g. 4 garbage images predicted as pothole, 2 normal images predicted as pothole.</a:t>
            </a:r>
            <a:endParaRPr lang="en-US" sz="1200" dirty="0"/>
          </a:p>
        </p:txBody>
      </p:sp>
      <p:sp>
        <p:nvSpPr>
          <p:cNvPr id="47" name="Text 45"/>
          <p:cNvSpPr/>
          <p:nvPr/>
        </p:nvSpPr>
        <p:spPr>
          <a:xfrm>
            <a:off x="457200" y="6537960"/>
            <a:ext cx="6400800" cy="274320"/>
          </a:xfrm>
          <a:prstGeom prst="rect">
            <a:avLst/>
          </a:prstGeom>
          <a:noFill/>
          <a:ln/>
        </p:spPr>
        <p:txBody>
          <a:bodyPr wrap="square" rtlCol="0" anchor="ctr"/>
          <a:lstStyle/>
          <a:p>
            <a:r>
              <a:rPr lang="en-US" sz="900" b="1" dirty="0"/>
              <a:t>AI-Powered Public Infrastructure Issue Detection and Reporting System</a:t>
            </a:r>
          </a:p>
        </p:txBody>
      </p:sp>
      <p:sp>
        <p:nvSpPr>
          <p:cNvPr id="48" name="Text 46"/>
          <p:cNvSpPr/>
          <p:nvPr/>
        </p:nvSpPr>
        <p:spPr>
          <a:xfrm>
            <a:off x="11274552" y="6537960"/>
            <a:ext cx="457200" cy="274320"/>
          </a:xfrm>
          <a:prstGeom prst="rect">
            <a:avLst/>
          </a:prstGeom>
          <a:noFill/>
          <a:ln/>
        </p:spPr>
        <p:txBody>
          <a:bodyPr wrap="square"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8</a:t>
            </a:r>
            <a:endParaRPr lang="en-US" sz="90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9"/>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marL="0" indent="0">
              <a:buNone/>
            </a:pPr>
            <a:r>
              <a:rPr lang="en-US" sz="1200" b="1" kern="0" spc="200" dirty="0">
                <a:solidFill>
                  <a:srgbClr val="00867D"/>
                </a:solidFill>
                <a:latin typeface="Calibri" pitchFamily="34" charset="0"/>
                <a:ea typeface="Calibri" pitchFamily="34" charset="-122"/>
                <a:cs typeface="Calibri" pitchFamily="34" charset="-120"/>
              </a:rPr>
              <a:t>FROM UPLOAD TO RECOMMENDATION</a:t>
            </a:r>
            <a:endParaRPr lang="en-US" sz="1200" dirty="0"/>
          </a:p>
        </p:txBody>
      </p:sp>
      <p:sp>
        <p:nvSpPr>
          <p:cNvPr id="3" name="Text 1"/>
          <p:cNvSpPr/>
          <p:nvPr/>
        </p:nvSpPr>
        <p:spPr>
          <a:xfrm>
            <a:off x="548640" y="621792"/>
            <a:ext cx="10515600" cy="685800"/>
          </a:xfrm>
          <a:prstGeom prst="rect">
            <a:avLst/>
          </a:prstGeom>
          <a:noFill/>
          <a:ln/>
        </p:spPr>
        <p:txBody>
          <a:bodyPr wrap="square" rtlCol="0" anchor="ctr"/>
          <a:lstStyle/>
          <a:p>
            <a:pPr marL="0" indent="0">
              <a:buNone/>
            </a:pPr>
            <a:r>
              <a:rPr lang="en-US" sz="3200" b="1" dirty="0">
                <a:solidFill>
                  <a:srgbClr val="1F2733"/>
                </a:solidFill>
                <a:latin typeface="Cambria" pitchFamily="34" charset="0"/>
                <a:ea typeface="Cambria" pitchFamily="34" charset="-122"/>
                <a:cs typeface="Cambria" pitchFamily="34" charset="-120"/>
              </a:rPr>
              <a:t>Streamlit Application</a:t>
            </a:r>
            <a:endParaRPr lang="en-US" sz="3200" dirty="0"/>
          </a:p>
        </p:txBody>
      </p:sp>
      <p:sp>
        <p:nvSpPr>
          <p:cNvPr id="4" name="Shape 2"/>
          <p:cNvSpPr/>
          <p:nvPr/>
        </p:nvSpPr>
        <p:spPr>
          <a:xfrm>
            <a:off x="640080" y="1783080"/>
            <a:ext cx="1661160" cy="1234440"/>
          </a:xfrm>
          <a:prstGeom prst="roundRect">
            <a:avLst>
              <a:gd name="adj" fmla="val 5926"/>
            </a:avLst>
          </a:prstGeom>
          <a:solidFill>
            <a:srgbClr val="1B2A4A"/>
          </a:solidFill>
          <a:ln/>
        </p:spPr>
      </p:sp>
      <p:sp>
        <p:nvSpPr>
          <p:cNvPr id="5" name="Text 3"/>
          <p:cNvSpPr/>
          <p:nvPr/>
        </p:nvSpPr>
        <p:spPr>
          <a:xfrm>
            <a:off x="685800" y="1783080"/>
            <a:ext cx="1569720" cy="1234440"/>
          </a:xfrm>
          <a:prstGeom prst="rect">
            <a:avLst/>
          </a:prstGeom>
          <a:noFill/>
          <a:ln/>
        </p:spPr>
        <p:txBody>
          <a:bodyPr wrap="square" rtlCol="0" anchor="ctr"/>
          <a:lstStyle/>
          <a:p>
            <a:pPr marL="0" indent="0" algn="ctr">
              <a:lnSpc>
                <a:spcPct val="105000"/>
              </a:lnSpc>
              <a:buNone/>
            </a:pPr>
            <a:r>
              <a:rPr lang="en-US" sz="1050" b="1" dirty="0">
                <a:solidFill>
                  <a:srgbClr val="FFFFFF"/>
                </a:solidFill>
                <a:latin typeface="Calibri" pitchFamily="34" charset="0"/>
                <a:ea typeface="Calibri" pitchFamily="34" charset="-122"/>
                <a:cs typeface="Calibri" pitchFamily="34" charset="-120"/>
              </a:rPr>
              <a:t>Upload</a:t>
            </a:r>
            <a:endParaRPr lang="en-US" sz="1050" dirty="0"/>
          </a:p>
          <a:p>
            <a:pPr marL="0" indent="0" algn="ctr">
              <a:lnSpc>
                <a:spcPct val="105000"/>
              </a:lnSpc>
              <a:buNone/>
            </a:pPr>
            <a:r>
              <a:rPr lang="en-US" sz="1050" b="1" dirty="0">
                <a:solidFill>
                  <a:srgbClr val="FFFFFF"/>
                </a:solidFill>
                <a:latin typeface="Calibri" pitchFamily="34" charset="0"/>
                <a:ea typeface="Calibri" pitchFamily="34" charset="-122"/>
                <a:cs typeface="Calibri" pitchFamily="34" charset="-120"/>
              </a:rPr>
              <a:t>Image</a:t>
            </a:r>
            <a:endParaRPr lang="en-US" sz="1050" dirty="0"/>
          </a:p>
        </p:txBody>
      </p:sp>
      <p:sp>
        <p:nvSpPr>
          <p:cNvPr id="6" name="Text 4"/>
          <p:cNvSpPr/>
          <p:nvPr/>
        </p:nvSpPr>
        <p:spPr>
          <a:xfrm>
            <a:off x="2301240" y="1783080"/>
            <a:ext cx="201168" cy="1234440"/>
          </a:xfrm>
          <a:prstGeom prst="rect">
            <a:avLst/>
          </a:prstGeom>
          <a:noFill/>
          <a:ln/>
        </p:spPr>
        <p:txBody>
          <a:bodyPr wrap="square" lIns="0" tIns="0" rIns="0" bIns="0" rtlCol="0" anchor="ctr"/>
          <a:lstStyle/>
          <a:p>
            <a:pPr marL="0" indent="0" algn="ctr">
              <a:buNone/>
            </a:pPr>
            <a:r>
              <a:rPr lang="en-US" sz="1400" dirty="0">
                <a:solidFill>
                  <a:srgbClr val="5B6472"/>
                </a:solidFill>
                <a:latin typeface="Calibri" pitchFamily="34" charset="0"/>
                <a:ea typeface="Calibri" pitchFamily="34" charset="-122"/>
                <a:cs typeface="Calibri" pitchFamily="34" charset="-120"/>
              </a:rPr>
              <a:t>→</a:t>
            </a:r>
            <a:endParaRPr lang="en-US" sz="1400" dirty="0"/>
          </a:p>
        </p:txBody>
      </p:sp>
      <p:sp>
        <p:nvSpPr>
          <p:cNvPr id="7" name="Shape 5"/>
          <p:cNvSpPr/>
          <p:nvPr/>
        </p:nvSpPr>
        <p:spPr>
          <a:xfrm>
            <a:off x="2502408" y="1783080"/>
            <a:ext cx="1661160" cy="1234440"/>
          </a:xfrm>
          <a:prstGeom prst="roundRect">
            <a:avLst>
              <a:gd name="adj" fmla="val 5926"/>
            </a:avLst>
          </a:prstGeom>
          <a:solidFill>
            <a:srgbClr val="1B2A4A"/>
          </a:solidFill>
          <a:ln/>
        </p:spPr>
      </p:sp>
      <p:sp>
        <p:nvSpPr>
          <p:cNvPr id="8" name="Text 6"/>
          <p:cNvSpPr/>
          <p:nvPr/>
        </p:nvSpPr>
        <p:spPr>
          <a:xfrm>
            <a:off x="2548128" y="1783080"/>
            <a:ext cx="1569720" cy="1234440"/>
          </a:xfrm>
          <a:prstGeom prst="rect">
            <a:avLst/>
          </a:prstGeom>
          <a:noFill/>
          <a:ln/>
        </p:spPr>
        <p:txBody>
          <a:bodyPr wrap="square" rtlCol="0" anchor="ctr"/>
          <a:lstStyle/>
          <a:p>
            <a:pPr marL="0" indent="0" algn="ctr">
              <a:lnSpc>
                <a:spcPct val="105000"/>
              </a:lnSpc>
              <a:buNone/>
            </a:pPr>
            <a:r>
              <a:rPr lang="en-US" sz="1050" b="1" dirty="0">
                <a:solidFill>
                  <a:srgbClr val="FFFFFF"/>
                </a:solidFill>
                <a:latin typeface="Calibri" pitchFamily="34" charset="0"/>
                <a:ea typeface="Calibri" pitchFamily="34" charset="-122"/>
                <a:cs typeface="Calibri" pitchFamily="34" charset="-120"/>
              </a:rPr>
              <a:t>Image</a:t>
            </a:r>
            <a:endParaRPr lang="en-US" sz="1050" dirty="0"/>
          </a:p>
          <a:p>
            <a:pPr marL="0" indent="0" algn="ctr">
              <a:lnSpc>
                <a:spcPct val="105000"/>
              </a:lnSpc>
              <a:buNone/>
            </a:pPr>
            <a:r>
              <a:rPr lang="en-US" sz="1050" b="1" dirty="0">
                <a:solidFill>
                  <a:srgbClr val="FFFFFF"/>
                </a:solidFill>
                <a:latin typeface="Calibri" pitchFamily="34" charset="0"/>
                <a:ea typeface="Calibri" pitchFamily="34" charset="-122"/>
                <a:cs typeface="Calibri" pitchFamily="34" charset="-120"/>
              </a:rPr>
              <a:t>Preprocessing</a:t>
            </a:r>
            <a:endParaRPr lang="en-US" sz="1050" dirty="0"/>
          </a:p>
        </p:txBody>
      </p:sp>
      <p:sp>
        <p:nvSpPr>
          <p:cNvPr id="9" name="Text 7"/>
          <p:cNvSpPr/>
          <p:nvPr/>
        </p:nvSpPr>
        <p:spPr>
          <a:xfrm>
            <a:off x="4163568" y="1783080"/>
            <a:ext cx="201168" cy="1234440"/>
          </a:xfrm>
          <a:prstGeom prst="rect">
            <a:avLst/>
          </a:prstGeom>
          <a:noFill/>
          <a:ln/>
        </p:spPr>
        <p:txBody>
          <a:bodyPr wrap="square" lIns="0" tIns="0" rIns="0" bIns="0" rtlCol="0" anchor="ctr"/>
          <a:lstStyle/>
          <a:p>
            <a:pPr marL="0" indent="0" algn="ctr">
              <a:buNone/>
            </a:pPr>
            <a:r>
              <a:rPr lang="en-US" sz="1400" dirty="0">
                <a:solidFill>
                  <a:srgbClr val="5B6472"/>
                </a:solidFill>
                <a:latin typeface="Calibri" pitchFamily="34" charset="0"/>
                <a:ea typeface="Calibri" pitchFamily="34" charset="-122"/>
                <a:cs typeface="Calibri" pitchFamily="34" charset="-120"/>
              </a:rPr>
              <a:t>→</a:t>
            </a:r>
            <a:endParaRPr lang="en-US" sz="1400" dirty="0"/>
          </a:p>
        </p:txBody>
      </p:sp>
      <p:sp>
        <p:nvSpPr>
          <p:cNvPr id="10" name="Shape 8"/>
          <p:cNvSpPr/>
          <p:nvPr/>
        </p:nvSpPr>
        <p:spPr>
          <a:xfrm>
            <a:off x="4364736" y="1783080"/>
            <a:ext cx="1661160" cy="1234440"/>
          </a:xfrm>
          <a:prstGeom prst="roundRect">
            <a:avLst>
              <a:gd name="adj" fmla="val 5926"/>
            </a:avLst>
          </a:prstGeom>
          <a:solidFill>
            <a:srgbClr val="00B4A6"/>
          </a:solidFill>
          <a:ln/>
        </p:spPr>
      </p:sp>
      <p:sp>
        <p:nvSpPr>
          <p:cNvPr id="11" name="Text 9"/>
          <p:cNvSpPr/>
          <p:nvPr/>
        </p:nvSpPr>
        <p:spPr>
          <a:xfrm>
            <a:off x="4410456" y="1783080"/>
            <a:ext cx="1569720" cy="1234440"/>
          </a:xfrm>
          <a:prstGeom prst="rect">
            <a:avLst/>
          </a:prstGeom>
          <a:noFill/>
          <a:ln/>
        </p:spPr>
        <p:txBody>
          <a:bodyPr wrap="square" rtlCol="0" anchor="ctr"/>
          <a:lstStyle/>
          <a:p>
            <a:pPr marL="0" indent="0" algn="ctr">
              <a:lnSpc>
                <a:spcPct val="105000"/>
              </a:lnSpc>
              <a:buNone/>
            </a:pPr>
            <a:r>
              <a:rPr lang="en-US" sz="1050" b="1" dirty="0">
                <a:solidFill>
                  <a:srgbClr val="FFFFFF"/>
                </a:solidFill>
                <a:latin typeface="Calibri" pitchFamily="34" charset="0"/>
                <a:ea typeface="Calibri" pitchFamily="34" charset="-122"/>
                <a:cs typeface="Calibri" pitchFamily="34" charset="-120"/>
              </a:rPr>
              <a:t>AI Model</a:t>
            </a:r>
            <a:endParaRPr lang="en-US" sz="1050" dirty="0"/>
          </a:p>
          <a:p>
            <a:pPr marL="0" indent="0" algn="ctr">
              <a:lnSpc>
                <a:spcPct val="105000"/>
              </a:lnSpc>
              <a:buNone/>
            </a:pPr>
            <a:r>
              <a:rPr lang="en-US" sz="1050" b="1" dirty="0">
                <a:solidFill>
                  <a:srgbClr val="FFFFFF"/>
                </a:solidFill>
                <a:latin typeface="Calibri" pitchFamily="34" charset="0"/>
                <a:ea typeface="Calibri" pitchFamily="34" charset="-122"/>
                <a:cs typeface="Calibri" pitchFamily="34" charset="-120"/>
              </a:rPr>
              <a:t>(MobileNetV2)</a:t>
            </a:r>
            <a:endParaRPr lang="en-US" sz="1050" dirty="0"/>
          </a:p>
        </p:txBody>
      </p:sp>
      <p:sp>
        <p:nvSpPr>
          <p:cNvPr id="12" name="Text 10"/>
          <p:cNvSpPr/>
          <p:nvPr/>
        </p:nvSpPr>
        <p:spPr>
          <a:xfrm>
            <a:off x="6025896" y="1783080"/>
            <a:ext cx="201168" cy="1234440"/>
          </a:xfrm>
          <a:prstGeom prst="rect">
            <a:avLst/>
          </a:prstGeom>
          <a:noFill/>
          <a:ln/>
        </p:spPr>
        <p:txBody>
          <a:bodyPr wrap="square" lIns="0" tIns="0" rIns="0" bIns="0" rtlCol="0" anchor="ctr"/>
          <a:lstStyle/>
          <a:p>
            <a:pPr marL="0" indent="0" algn="ctr">
              <a:buNone/>
            </a:pPr>
            <a:r>
              <a:rPr lang="en-US" sz="1400" dirty="0">
                <a:solidFill>
                  <a:srgbClr val="5B6472"/>
                </a:solidFill>
                <a:latin typeface="Calibri" pitchFamily="34" charset="0"/>
                <a:ea typeface="Calibri" pitchFamily="34" charset="-122"/>
                <a:cs typeface="Calibri" pitchFamily="34" charset="-120"/>
              </a:rPr>
              <a:t>→</a:t>
            </a:r>
            <a:endParaRPr lang="en-US" sz="1400" dirty="0"/>
          </a:p>
        </p:txBody>
      </p:sp>
      <p:sp>
        <p:nvSpPr>
          <p:cNvPr id="13" name="Shape 11"/>
          <p:cNvSpPr/>
          <p:nvPr/>
        </p:nvSpPr>
        <p:spPr>
          <a:xfrm>
            <a:off x="6227064" y="1783080"/>
            <a:ext cx="1661160" cy="1234440"/>
          </a:xfrm>
          <a:prstGeom prst="roundRect">
            <a:avLst>
              <a:gd name="adj" fmla="val 5926"/>
            </a:avLst>
          </a:prstGeom>
          <a:solidFill>
            <a:srgbClr val="1B2A4A"/>
          </a:solidFill>
          <a:ln/>
        </p:spPr>
      </p:sp>
      <p:sp>
        <p:nvSpPr>
          <p:cNvPr id="14" name="Text 12"/>
          <p:cNvSpPr/>
          <p:nvPr/>
        </p:nvSpPr>
        <p:spPr>
          <a:xfrm>
            <a:off x="6272784" y="1783080"/>
            <a:ext cx="1569720" cy="1234440"/>
          </a:xfrm>
          <a:prstGeom prst="rect">
            <a:avLst/>
          </a:prstGeom>
          <a:noFill/>
          <a:ln/>
        </p:spPr>
        <p:txBody>
          <a:bodyPr wrap="square" rtlCol="0" anchor="ctr"/>
          <a:lstStyle/>
          <a:p>
            <a:pPr marL="0" indent="0" algn="ctr">
              <a:lnSpc>
                <a:spcPct val="105000"/>
              </a:lnSpc>
              <a:buNone/>
            </a:pPr>
            <a:r>
              <a:rPr lang="en-US" sz="1050" b="1" dirty="0">
                <a:solidFill>
                  <a:srgbClr val="FFFFFF"/>
                </a:solidFill>
                <a:latin typeface="Calibri" pitchFamily="34" charset="0"/>
                <a:ea typeface="Calibri" pitchFamily="34" charset="-122"/>
                <a:cs typeface="Calibri" pitchFamily="34" charset="-120"/>
              </a:rPr>
              <a:t>Prediction</a:t>
            </a:r>
            <a:endParaRPr lang="en-US" sz="1050" dirty="0"/>
          </a:p>
        </p:txBody>
      </p:sp>
      <p:sp>
        <p:nvSpPr>
          <p:cNvPr id="15" name="Text 13"/>
          <p:cNvSpPr/>
          <p:nvPr/>
        </p:nvSpPr>
        <p:spPr>
          <a:xfrm>
            <a:off x="7888224" y="1783080"/>
            <a:ext cx="201168" cy="1234440"/>
          </a:xfrm>
          <a:prstGeom prst="rect">
            <a:avLst/>
          </a:prstGeom>
          <a:noFill/>
          <a:ln/>
        </p:spPr>
        <p:txBody>
          <a:bodyPr wrap="square" lIns="0" tIns="0" rIns="0" bIns="0" rtlCol="0" anchor="ctr"/>
          <a:lstStyle/>
          <a:p>
            <a:pPr marL="0" indent="0" algn="ctr">
              <a:buNone/>
            </a:pPr>
            <a:r>
              <a:rPr lang="en-US" sz="1400" dirty="0">
                <a:solidFill>
                  <a:srgbClr val="5B6472"/>
                </a:solidFill>
                <a:latin typeface="Calibri" pitchFamily="34" charset="0"/>
                <a:ea typeface="Calibri" pitchFamily="34" charset="-122"/>
                <a:cs typeface="Calibri" pitchFamily="34" charset="-120"/>
              </a:rPr>
              <a:t>→</a:t>
            </a:r>
            <a:endParaRPr lang="en-US" sz="1400" dirty="0"/>
          </a:p>
        </p:txBody>
      </p:sp>
      <p:sp>
        <p:nvSpPr>
          <p:cNvPr id="16" name="Shape 14"/>
          <p:cNvSpPr/>
          <p:nvPr/>
        </p:nvSpPr>
        <p:spPr>
          <a:xfrm>
            <a:off x="8089392" y="1783080"/>
            <a:ext cx="1661160" cy="1234440"/>
          </a:xfrm>
          <a:prstGeom prst="roundRect">
            <a:avLst>
              <a:gd name="adj" fmla="val 5926"/>
            </a:avLst>
          </a:prstGeom>
          <a:solidFill>
            <a:srgbClr val="1B2A4A"/>
          </a:solidFill>
          <a:ln/>
        </p:spPr>
      </p:sp>
      <p:sp>
        <p:nvSpPr>
          <p:cNvPr id="17" name="Text 15"/>
          <p:cNvSpPr/>
          <p:nvPr/>
        </p:nvSpPr>
        <p:spPr>
          <a:xfrm>
            <a:off x="8135112" y="1783080"/>
            <a:ext cx="1569720" cy="1234440"/>
          </a:xfrm>
          <a:prstGeom prst="rect">
            <a:avLst/>
          </a:prstGeom>
          <a:noFill/>
          <a:ln/>
        </p:spPr>
        <p:txBody>
          <a:bodyPr wrap="square" rtlCol="0" anchor="ctr"/>
          <a:lstStyle/>
          <a:p>
            <a:pPr marL="0" indent="0" algn="ctr">
              <a:lnSpc>
                <a:spcPct val="105000"/>
              </a:lnSpc>
              <a:buNone/>
            </a:pPr>
            <a:r>
              <a:rPr lang="en-US" sz="1050" b="1" dirty="0">
                <a:solidFill>
                  <a:srgbClr val="FFFFFF"/>
                </a:solidFill>
                <a:latin typeface="Calibri" pitchFamily="34" charset="0"/>
                <a:ea typeface="Calibri" pitchFamily="34" charset="-122"/>
                <a:cs typeface="Calibri" pitchFamily="34" charset="-120"/>
              </a:rPr>
              <a:t>Confidence</a:t>
            </a:r>
            <a:endParaRPr lang="en-US" sz="1050" dirty="0"/>
          </a:p>
          <a:p>
            <a:pPr marL="0" indent="0" algn="ctr">
              <a:lnSpc>
                <a:spcPct val="105000"/>
              </a:lnSpc>
              <a:buNone/>
            </a:pPr>
            <a:r>
              <a:rPr lang="en-US" sz="1050" b="1" dirty="0">
                <a:solidFill>
                  <a:srgbClr val="FFFFFF"/>
                </a:solidFill>
                <a:latin typeface="Calibri" pitchFamily="34" charset="0"/>
                <a:ea typeface="Calibri" pitchFamily="34" charset="-122"/>
                <a:cs typeface="Calibri" pitchFamily="34" charset="-120"/>
              </a:rPr>
              <a:t>Score</a:t>
            </a:r>
            <a:endParaRPr lang="en-US" sz="1050" dirty="0"/>
          </a:p>
        </p:txBody>
      </p:sp>
      <p:sp>
        <p:nvSpPr>
          <p:cNvPr id="18" name="Text 16"/>
          <p:cNvSpPr/>
          <p:nvPr/>
        </p:nvSpPr>
        <p:spPr>
          <a:xfrm>
            <a:off x="9750552" y="1783080"/>
            <a:ext cx="201168" cy="1234440"/>
          </a:xfrm>
          <a:prstGeom prst="rect">
            <a:avLst/>
          </a:prstGeom>
          <a:noFill/>
          <a:ln/>
        </p:spPr>
        <p:txBody>
          <a:bodyPr wrap="square" lIns="0" tIns="0" rIns="0" bIns="0" rtlCol="0" anchor="ctr"/>
          <a:lstStyle/>
          <a:p>
            <a:pPr marL="0" indent="0" algn="ctr">
              <a:buNone/>
            </a:pPr>
            <a:r>
              <a:rPr lang="en-US" sz="1400" dirty="0">
                <a:solidFill>
                  <a:srgbClr val="5B6472"/>
                </a:solidFill>
                <a:latin typeface="Calibri" pitchFamily="34" charset="0"/>
                <a:ea typeface="Calibri" pitchFamily="34" charset="-122"/>
                <a:cs typeface="Calibri" pitchFamily="34" charset="-120"/>
              </a:rPr>
              <a:t>→</a:t>
            </a:r>
            <a:endParaRPr lang="en-US" sz="1400" dirty="0"/>
          </a:p>
        </p:txBody>
      </p:sp>
      <p:sp>
        <p:nvSpPr>
          <p:cNvPr id="19" name="Shape 17"/>
          <p:cNvSpPr/>
          <p:nvPr/>
        </p:nvSpPr>
        <p:spPr>
          <a:xfrm>
            <a:off x="9951720" y="1783080"/>
            <a:ext cx="1661160" cy="1234440"/>
          </a:xfrm>
          <a:prstGeom prst="roundRect">
            <a:avLst>
              <a:gd name="adj" fmla="val 5926"/>
            </a:avLst>
          </a:prstGeom>
          <a:solidFill>
            <a:srgbClr val="1B2A4A"/>
          </a:solidFill>
          <a:ln/>
        </p:spPr>
      </p:sp>
      <p:sp>
        <p:nvSpPr>
          <p:cNvPr id="20" name="Text 18"/>
          <p:cNvSpPr/>
          <p:nvPr/>
        </p:nvSpPr>
        <p:spPr>
          <a:xfrm>
            <a:off x="9997440" y="1783080"/>
            <a:ext cx="1569720" cy="1234440"/>
          </a:xfrm>
          <a:prstGeom prst="rect">
            <a:avLst/>
          </a:prstGeom>
          <a:noFill/>
          <a:ln/>
        </p:spPr>
        <p:txBody>
          <a:bodyPr wrap="square" rtlCol="0" anchor="ctr"/>
          <a:lstStyle/>
          <a:p>
            <a:pPr marL="0" indent="0" algn="ctr">
              <a:lnSpc>
                <a:spcPct val="105000"/>
              </a:lnSpc>
              <a:buNone/>
            </a:pPr>
            <a:r>
              <a:rPr lang="en-US" sz="1050" b="1" dirty="0">
                <a:solidFill>
                  <a:srgbClr val="FFFFFF"/>
                </a:solidFill>
                <a:latin typeface="Calibri" pitchFamily="34" charset="0"/>
                <a:ea typeface="Calibri" pitchFamily="34" charset="-122"/>
                <a:cs typeface="Calibri" pitchFamily="34" charset="-120"/>
              </a:rPr>
              <a:t>Recommended</a:t>
            </a:r>
            <a:endParaRPr lang="en-US" sz="1050" dirty="0"/>
          </a:p>
          <a:p>
            <a:pPr marL="0" indent="0" algn="ctr">
              <a:lnSpc>
                <a:spcPct val="105000"/>
              </a:lnSpc>
              <a:buNone/>
            </a:pPr>
            <a:r>
              <a:rPr lang="en-US" sz="1050" b="1" dirty="0">
                <a:solidFill>
                  <a:srgbClr val="FFFFFF"/>
                </a:solidFill>
                <a:latin typeface="Calibri" pitchFamily="34" charset="0"/>
                <a:ea typeface="Calibri" pitchFamily="34" charset="-122"/>
                <a:cs typeface="Calibri" pitchFamily="34" charset="-120"/>
              </a:rPr>
              <a:t>Action</a:t>
            </a:r>
            <a:endParaRPr lang="en-US" sz="1050" dirty="0"/>
          </a:p>
        </p:txBody>
      </p:sp>
      <p:sp>
        <p:nvSpPr>
          <p:cNvPr id="22" name="Shape 20"/>
          <p:cNvSpPr/>
          <p:nvPr/>
        </p:nvSpPr>
        <p:spPr>
          <a:xfrm>
            <a:off x="640080" y="3429000"/>
            <a:ext cx="10881360" cy="411480"/>
          </a:xfrm>
          <a:prstGeom prst="rect">
            <a:avLst/>
          </a:prstGeom>
          <a:solidFill>
            <a:srgbClr val="1B2A4A"/>
          </a:solidFill>
          <a:ln/>
        </p:spPr>
      </p:sp>
      <p:sp>
        <p:nvSpPr>
          <p:cNvPr id="23" name="Text 21"/>
          <p:cNvSpPr/>
          <p:nvPr/>
        </p:nvSpPr>
        <p:spPr>
          <a:xfrm>
            <a:off x="868680" y="3429000"/>
            <a:ext cx="7315200" cy="411480"/>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AI Public Infrastructure Detector</a:t>
            </a:r>
            <a:endParaRPr lang="en-US" sz="1250" dirty="0"/>
          </a:p>
        </p:txBody>
      </p:sp>
      <p:sp>
        <p:nvSpPr>
          <p:cNvPr id="25" name="Text 23"/>
          <p:cNvSpPr/>
          <p:nvPr/>
        </p:nvSpPr>
        <p:spPr>
          <a:xfrm>
            <a:off x="914400" y="4023360"/>
            <a:ext cx="4206240" cy="2011680"/>
          </a:xfrm>
          <a:prstGeom prst="rect">
            <a:avLst/>
          </a:prstGeom>
          <a:noFill/>
          <a:ln/>
        </p:spPr>
        <p:txBody>
          <a:bodyPr wrap="square" rtlCol="0" anchor="ctr"/>
          <a:lstStyle/>
          <a:p>
            <a:pPr marL="0" indent="0" algn="ctr">
              <a:buNone/>
            </a:pPr>
            <a:endParaRPr lang="en-US" sz="1200" dirty="0"/>
          </a:p>
        </p:txBody>
      </p:sp>
      <p:sp>
        <p:nvSpPr>
          <p:cNvPr id="27" name="Text 25"/>
          <p:cNvSpPr/>
          <p:nvPr/>
        </p:nvSpPr>
        <p:spPr>
          <a:xfrm>
            <a:off x="5623560" y="4023360"/>
            <a:ext cx="5486400" cy="566928"/>
          </a:xfrm>
          <a:prstGeom prst="rect">
            <a:avLst/>
          </a:prstGeom>
          <a:noFill/>
          <a:ln/>
        </p:spPr>
        <p:txBody>
          <a:bodyPr wrap="square" rtlCol="0" anchor="ctr"/>
          <a:lstStyle/>
          <a:p>
            <a:pPr marL="0" indent="0">
              <a:buNone/>
            </a:pPr>
            <a:endParaRPr lang="en-US" sz="1300" dirty="0"/>
          </a:p>
        </p:txBody>
      </p:sp>
      <p:sp>
        <p:nvSpPr>
          <p:cNvPr id="29" name="Text 27"/>
          <p:cNvSpPr/>
          <p:nvPr/>
        </p:nvSpPr>
        <p:spPr>
          <a:xfrm>
            <a:off x="5623560" y="4709160"/>
            <a:ext cx="5486400" cy="566928"/>
          </a:xfrm>
          <a:prstGeom prst="rect">
            <a:avLst/>
          </a:prstGeom>
          <a:noFill/>
          <a:ln/>
        </p:spPr>
        <p:txBody>
          <a:bodyPr wrap="square" rtlCol="0" anchor="ctr"/>
          <a:lstStyle/>
          <a:p>
            <a:pPr marL="0" indent="0">
              <a:buNone/>
            </a:pPr>
            <a:endParaRPr lang="en-US" sz="1250" dirty="0"/>
          </a:p>
        </p:txBody>
      </p:sp>
      <p:sp>
        <p:nvSpPr>
          <p:cNvPr id="31" name="Text 29"/>
          <p:cNvSpPr/>
          <p:nvPr/>
        </p:nvSpPr>
        <p:spPr>
          <a:xfrm>
            <a:off x="5623560" y="5394960"/>
            <a:ext cx="5486400" cy="566928"/>
          </a:xfrm>
          <a:prstGeom prst="rect">
            <a:avLst/>
          </a:prstGeom>
          <a:noFill/>
          <a:ln/>
        </p:spPr>
        <p:txBody>
          <a:bodyPr wrap="square" rtlCol="0" anchor="ctr"/>
          <a:lstStyle/>
          <a:p>
            <a:pPr marL="0" indent="0">
              <a:buNone/>
            </a:pPr>
            <a:endParaRPr lang="en-US" sz="1250" dirty="0"/>
          </a:p>
        </p:txBody>
      </p:sp>
      <p:sp>
        <p:nvSpPr>
          <p:cNvPr id="32" name="Text 30"/>
          <p:cNvSpPr/>
          <p:nvPr/>
        </p:nvSpPr>
        <p:spPr>
          <a:xfrm>
            <a:off x="868680" y="6108192"/>
            <a:ext cx="5486400" cy="274320"/>
          </a:xfrm>
          <a:prstGeom prst="rect">
            <a:avLst/>
          </a:prstGeom>
          <a:noFill/>
          <a:ln/>
        </p:spPr>
        <p:txBody>
          <a:bodyPr wrap="square" rtlCol="0" anchor="ctr"/>
          <a:lstStyle/>
          <a:p>
            <a:pPr marL="0" indent="0">
              <a:buNone/>
            </a:pPr>
            <a:endParaRPr lang="en-US" sz="950" dirty="0"/>
          </a:p>
        </p:txBody>
      </p:sp>
      <p:sp>
        <p:nvSpPr>
          <p:cNvPr id="33" name="Text 31"/>
          <p:cNvSpPr/>
          <p:nvPr/>
        </p:nvSpPr>
        <p:spPr>
          <a:xfrm>
            <a:off x="457200" y="6537960"/>
            <a:ext cx="6400800" cy="274320"/>
          </a:xfrm>
          <a:prstGeom prst="rect">
            <a:avLst/>
          </a:prstGeom>
          <a:noFill/>
          <a:ln/>
        </p:spPr>
        <p:txBody>
          <a:bodyPr wrap="square" rtlCol="0" anchor="ctr"/>
          <a:lstStyle/>
          <a:p>
            <a:r>
              <a:rPr lang="en-US" sz="900" b="1" dirty="0"/>
              <a:t>AI-Powered Public Infrastructure Issue Detection and Reporting System</a:t>
            </a:r>
          </a:p>
        </p:txBody>
      </p:sp>
      <p:sp>
        <p:nvSpPr>
          <p:cNvPr id="34" name="Text 32"/>
          <p:cNvSpPr/>
          <p:nvPr/>
        </p:nvSpPr>
        <p:spPr>
          <a:xfrm>
            <a:off x="11274552" y="6537960"/>
            <a:ext cx="457200" cy="274320"/>
          </a:xfrm>
          <a:prstGeom prst="rect">
            <a:avLst/>
          </a:prstGeom>
          <a:noFill/>
          <a:ln/>
        </p:spPr>
        <p:txBody>
          <a:bodyPr wrap="square"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9</a:t>
            </a:r>
            <a:endParaRPr lang="en-US" sz="900" dirty="0"/>
          </a:p>
        </p:txBody>
      </p:sp>
      <p:pic>
        <p:nvPicPr>
          <p:cNvPr id="36" name="Picture 3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0080" y="3904488"/>
            <a:ext cx="10972800" cy="2633472"/>
          </a:xfrm>
          <a:prstGeom prst="rect">
            <a:avLst/>
          </a:prstGeom>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9"/>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marL="0" indent="0">
              <a:buNone/>
            </a:pPr>
            <a:r>
              <a:rPr lang="en-US" sz="1200" b="1" kern="0" spc="200" dirty="0">
                <a:solidFill>
                  <a:srgbClr val="00867D"/>
                </a:solidFill>
                <a:latin typeface="Calibri" pitchFamily="34" charset="0"/>
                <a:ea typeface="Calibri" pitchFamily="34" charset="-122"/>
                <a:cs typeface="Calibri" pitchFamily="34" charset="-120"/>
              </a:rPr>
              <a:t>EXAMPLE PREDICTIONS BY CATEGORY</a:t>
            </a:r>
            <a:endParaRPr lang="en-US" sz="1200" dirty="0"/>
          </a:p>
        </p:txBody>
      </p:sp>
      <p:sp>
        <p:nvSpPr>
          <p:cNvPr id="3" name="Text 1"/>
          <p:cNvSpPr/>
          <p:nvPr/>
        </p:nvSpPr>
        <p:spPr>
          <a:xfrm>
            <a:off x="548640" y="621792"/>
            <a:ext cx="10515600" cy="685800"/>
          </a:xfrm>
          <a:prstGeom prst="rect">
            <a:avLst/>
          </a:prstGeom>
          <a:noFill/>
          <a:ln/>
        </p:spPr>
        <p:txBody>
          <a:bodyPr wrap="square" rtlCol="0" anchor="ctr"/>
          <a:lstStyle/>
          <a:p>
            <a:pPr marL="0" indent="0">
              <a:buNone/>
            </a:pPr>
            <a:r>
              <a:rPr lang="en-US" sz="3200" b="1" dirty="0">
                <a:solidFill>
                  <a:srgbClr val="1F2733"/>
                </a:solidFill>
                <a:latin typeface="Cambria" pitchFamily="34" charset="0"/>
                <a:ea typeface="Cambria" pitchFamily="34" charset="-122"/>
                <a:cs typeface="Cambria" pitchFamily="34" charset="-120"/>
              </a:rPr>
              <a:t>Demonstration</a:t>
            </a:r>
            <a:endParaRPr lang="en-US" sz="3200" dirty="0"/>
          </a:p>
        </p:txBody>
      </p:sp>
      <p:sp>
        <p:nvSpPr>
          <p:cNvPr id="6" name="Text 4"/>
          <p:cNvSpPr/>
          <p:nvPr/>
        </p:nvSpPr>
        <p:spPr>
          <a:xfrm>
            <a:off x="868680" y="1920240"/>
            <a:ext cx="1417320" cy="1417320"/>
          </a:xfrm>
          <a:prstGeom prst="rect">
            <a:avLst/>
          </a:prstGeom>
          <a:noFill/>
          <a:ln/>
        </p:spPr>
        <p:txBody>
          <a:bodyPr wrap="square" rtlCol="0" anchor="ctr"/>
          <a:lstStyle/>
          <a:p>
            <a:pPr marL="0" indent="0" algn="ctr">
              <a:buNone/>
            </a:pPr>
            <a:endParaRPr lang="en-US" sz="1000" dirty="0"/>
          </a:p>
        </p:txBody>
      </p:sp>
      <p:sp>
        <p:nvSpPr>
          <p:cNvPr id="7" name="Text 5"/>
          <p:cNvSpPr/>
          <p:nvPr/>
        </p:nvSpPr>
        <p:spPr>
          <a:xfrm>
            <a:off x="2468880" y="1947672"/>
            <a:ext cx="3200400" cy="274320"/>
          </a:xfrm>
          <a:prstGeom prst="rect">
            <a:avLst/>
          </a:prstGeom>
          <a:noFill/>
          <a:ln/>
        </p:spPr>
        <p:txBody>
          <a:bodyPr wrap="square" rtlCol="0" anchor="ctr"/>
          <a:lstStyle/>
          <a:p>
            <a:pPr marL="0" indent="0">
              <a:buNone/>
            </a:pPr>
            <a:endParaRPr lang="en-US" sz="950" dirty="0"/>
          </a:p>
        </p:txBody>
      </p:sp>
      <p:sp>
        <p:nvSpPr>
          <p:cNvPr id="8" name="Text 6"/>
          <p:cNvSpPr/>
          <p:nvPr/>
        </p:nvSpPr>
        <p:spPr>
          <a:xfrm>
            <a:off x="2468880" y="2240280"/>
            <a:ext cx="3200400" cy="502920"/>
          </a:xfrm>
          <a:prstGeom prst="rect">
            <a:avLst/>
          </a:prstGeom>
          <a:noFill/>
          <a:ln/>
        </p:spPr>
        <p:txBody>
          <a:bodyPr wrap="square" rtlCol="0" anchor="ctr"/>
          <a:lstStyle/>
          <a:p>
            <a:endParaRPr lang="en-US" sz="2200" dirty="0"/>
          </a:p>
        </p:txBody>
      </p:sp>
      <p:sp>
        <p:nvSpPr>
          <p:cNvPr id="9" name="Text 7"/>
          <p:cNvSpPr/>
          <p:nvPr/>
        </p:nvSpPr>
        <p:spPr>
          <a:xfrm>
            <a:off x="2468880" y="2788920"/>
            <a:ext cx="3200400" cy="548640"/>
          </a:xfrm>
          <a:prstGeom prst="rect">
            <a:avLst/>
          </a:prstGeom>
          <a:noFill/>
          <a:ln/>
        </p:spPr>
        <p:txBody>
          <a:bodyPr wrap="square" rtlCol="0" anchor="ctr"/>
          <a:lstStyle/>
          <a:p>
            <a:pPr marL="0" indent="0">
              <a:buNone/>
            </a:pPr>
            <a:endParaRPr lang="en-US" sz="1000" dirty="0"/>
          </a:p>
        </p:txBody>
      </p:sp>
      <p:sp>
        <p:nvSpPr>
          <p:cNvPr id="11" name="Shape 9"/>
          <p:cNvSpPr/>
          <p:nvPr/>
        </p:nvSpPr>
        <p:spPr>
          <a:xfrm>
            <a:off x="6446520" y="1920240"/>
            <a:ext cx="1417320" cy="1417320"/>
          </a:xfrm>
          <a:prstGeom prst="roundRect">
            <a:avLst>
              <a:gd name="adj" fmla="val 3871"/>
            </a:avLst>
          </a:prstGeom>
          <a:solidFill>
            <a:srgbClr val="F0F2F6"/>
          </a:solidFill>
          <a:ln w="12700">
            <a:solidFill>
              <a:srgbClr val="DCE2E9"/>
            </a:solidFill>
            <a:prstDash val="dash"/>
          </a:ln>
        </p:spPr>
      </p:sp>
      <p:sp>
        <p:nvSpPr>
          <p:cNvPr id="12" name="Text 10"/>
          <p:cNvSpPr/>
          <p:nvPr/>
        </p:nvSpPr>
        <p:spPr>
          <a:xfrm>
            <a:off x="6355080" y="1920240"/>
            <a:ext cx="1417320" cy="1417320"/>
          </a:xfrm>
          <a:prstGeom prst="rect">
            <a:avLst/>
          </a:prstGeom>
          <a:noFill/>
          <a:ln/>
        </p:spPr>
        <p:txBody>
          <a:bodyPr wrap="square" rtlCol="0" anchor="ctr"/>
          <a:lstStyle/>
          <a:p>
            <a:pPr marL="0" indent="0" algn="ctr">
              <a:buNone/>
            </a:pPr>
            <a:r>
              <a:rPr lang="en-US" sz="1000" i="1" dirty="0">
                <a:solidFill>
                  <a:srgbClr val="5B6472"/>
                </a:solidFill>
                <a:latin typeface="Calibri" pitchFamily="34" charset="0"/>
                <a:ea typeface="Calibri" pitchFamily="34" charset="-122"/>
                <a:cs typeface="Calibri" pitchFamily="34" charset="-120"/>
              </a:rPr>
              <a:t>Image</a:t>
            </a:r>
            <a:endParaRPr lang="en-US" sz="1000" dirty="0"/>
          </a:p>
        </p:txBody>
      </p:sp>
      <p:sp>
        <p:nvSpPr>
          <p:cNvPr id="13" name="Text 11"/>
          <p:cNvSpPr/>
          <p:nvPr/>
        </p:nvSpPr>
        <p:spPr>
          <a:xfrm>
            <a:off x="7955280" y="1947672"/>
            <a:ext cx="3200400" cy="274320"/>
          </a:xfrm>
          <a:prstGeom prst="rect">
            <a:avLst/>
          </a:prstGeom>
          <a:noFill/>
          <a:ln/>
        </p:spPr>
        <p:txBody>
          <a:bodyPr wrap="square" rtlCol="0" anchor="ctr"/>
          <a:lstStyle/>
          <a:p>
            <a:pPr marL="0" indent="0">
              <a:buNone/>
            </a:pPr>
            <a:r>
              <a:rPr lang="en-US" sz="950" b="1" kern="0" spc="100" dirty="0">
                <a:solidFill>
                  <a:srgbClr val="00867D"/>
                </a:solidFill>
                <a:latin typeface="Calibri" pitchFamily="34" charset="0"/>
                <a:ea typeface="Calibri" pitchFamily="34" charset="-122"/>
                <a:cs typeface="Calibri" pitchFamily="34" charset="-120"/>
              </a:rPr>
              <a:t>Example Prediction</a:t>
            </a:r>
            <a:endParaRPr lang="en-US" sz="950" dirty="0"/>
          </a:p>
        </p:txBody>
      </p:sp>
      <p:sp>
        <p:nvSpPr>
          <p:cNvPr id="14" name="Text 12"/>
          <p:cNvSpPr/>
          <p:nvPr/>
        </p:nvSpPr>
        <p:spPr>
          <a:xfrm>
            <a:off x="7955280" y="2240280"/>
            <a:ext cx="3200400" cy="502920"/>
          </a:xfrm>
          <a:prstGeom prst="rect">
            <a:avLst/>
          </a:prstGeom>
          <a:noFill/>
          <a:ln/>
        </p:spPr>
        <p:txBody>
          <a:bodyPr wrap="square" rtlCol="0" anchor="ctr"/>
          <a:lstStyle/>
          <a:p>
            <a:pPr marL="0" indent="0">
              <a:buNone/>
            </a:pPr>
            <a:r>
              <a:rPr lang="en-US" sz="2200" b="1" dirty="0">
                <a:solidFill>
                  <a:srgbClr val="1B2A4A"/>
                </a:solidFill>
                <a:latin typeface="Cambria" pitchFamily="34" charset="0"/>
                <a:ea typeface="Cambria" pitchFamily="34" charset="-122"/>
                <a:cs typeface="Cambria" pitchFamily="34" charset="-120"/>
              </a:rPr>
              <a:t>Normal</a:t>
            </a:r>
            <a:endParaRPr lang="en-US" sz="2200" dirty="0"/>
          </a:p>
        </p:txBody>
      </p:sp>
      <p:sp>
        <p:nvSpPr>
          <p:cNvPr id="15" name="Text 13"/>
          <p:cNvSpPr/>
          <p:nvPr/>
        </p:nvSpPr>
        <p:spPr>
          <a:xfrm>
            <a:off x="7955280" y="2788920"/>
            <a:ext cx="3200400" cy="548640"/>
          </a:xfrm>
          <a:prstGeom prst="rect">
            <a:avLst/>
          </a:prstGeom>
          <a:noFill/>
          <a:ln/>
        </p:spPr>
        <p:txBody>
          <a:bodyPr wrap="square" rtlCol="0" anchor="ctr"/>
          <a:lstStyle/>
          <a:p>
            <a:pPr marL="0" indent="0">
              <a:buNone/>
            </a:pPr>
            <a:r>
              <a:rPr lang="en-US" sz="1000" i="1" dirty="0">
                <a:solidFill>
                  <a:srgbClr val="5B6472"/>
                </a:solidFill>
                <a:latin typeface="Calibri" pitchFamily="34" charset="0"/>
                <a:ea typeface="Calibri" pitchFamily="34" charset="-122"/>
                <a:cs typeface="Calibri" pitchFamily="34" charset="-120"/>
              </a:rPr>
              <a:t>Predicted category shown by the app for this class</a:t>
            </a:r>
            <a:endParaRPr lang="en-US" sz="1000" dirty="0"/>
          </a:p>
        </p:txBody>
      </p:sp>
      <p:sp>
        <p:nvSpPr>
          <p:cNvPr id="18" name="Text 16"/>
          <p:cNvSpPr/>
          <p:nvPr/>
        </p:nvSpPr>
        <p:spPr>
          <a:xfrm>
            <a:off x="868680" y="4069080"/>
            <a:ext cx="1417320" cy="1417320"/>
          </a:xfrm>
          <a:prstGeom prst="rect">
            <a:avLst/>
          </a:prstGeom>
          <a:noFill/>
          <a:ln/>
        </p:spPr>
        <p:txBody>
          <a:bodyPr wrap="square" rtlCol="0" anchor="ctr"/>
          <a:lstStyle/>
          <a:p>
            <a:pPr marL="0" indent="0" algn="ctr">
              <a:buNone/>
            </a:pPr>
            <a:endParaRPr lang="en-US" sz="1000" dirty="0"/>
          </a:p>
        </p:txBody>
      </p:sp>
      <p:sp>
        <p:nvSpPr>
          <p:cNvPr id="20" name="Text 18"/>
          <p:cNvSpPr/>
          <p:nvPr/>
        </p:nvSpPr>
        <p:spPr>
          <a:xfrm>
            <a:off x="2468880" y="4389120"/>
            <a:ext cx="3200400" cy="502920"/>
          </a:xfrm>
          <a:prstGeom prst="rect">
            <a:avLst/>
          </a:prstGeom>
          <a:noFill/>
          <a:ln/>
        </p:spPr>
        <p:txBody>
          <a:bodyPr wrap="square" rtlCol="0" anchor="ctr"/>
          <a:lstStyle/>
          <a:p>
            <a:pPr marL="0" indent="0">
              <a:buNone/>
            </a:pPr>
            <a:endParaRPr lang="en-US" sz="2200" dirty="0"/>
          </a:p>
        </p:txBody>
      </p:sp>
      <p:sp>
        <p:nvSpPr>
          <p:cNvPr id="21" name="Text 19"/>
          <p:cNvSpPr/>
          <p:nvPr/>
        </p:nvSpPr>
        <p:spPr>
          <a:xfrm>
            <a:off x="2468880" y="4937760"/>
            <a:ext cx="3200400" cy="548640"/>
          </a:xfrm>
          <a:prstGeom prst="rect">
            <a:avLst/>
          </a:prstGeom>
          <a:noFill/>
          <a:ln/>
        </p:spPr>
        <p:txBody>
          <a:bodyPr wrap="square" rtlCol="0" anchor="ctr"/>
          <a:lstStyle/>
          <a:p>
            <a:pPr marL="0" indent="0">
              <a:buNone/>
            </a:pPr>
            <a:endParaRPr lang="en-US" sz="1000" dirty="0"/>
          </a:p>
        </p:txBody>
      </p:sp>
      <p:sp>
        <p:nvSpPr>
          <p:cNvPr id="24" name="Text 22"/>
          <p:cNvSpPr/>
          <p:nvPr/>
        </p:nvSpPr>
        <p:spPr>
          <a:xfrm>
            <a:off x="6355080" y="4069080"/>
            <a:ext cx="1417320" cy="1417320"/>
          </a:xfrm>
          <a:prstGeom prst="rect">
            <a:avLst/>
          </a:prstGeom>
          <a:noFill/>
          <a:ln/>
        </p:spPr>
        <p:txBody>
          <a:bodyPr wrap="square" rtlCol="0" anchor="ctr"/>
          <a:lstStyle/>
          <a:p>
            <a:pPr marL="0" indent="0" algn="ctr">
              <a:buNone/>
            </a:pPr>
            <a:endParaRPr lang="en-US" sz="1000" dirty="0"/>
          </a:p>
        </p:txBody>
      </p:sp>
      <p:sp>
        <p:nvSpPr>
          <p:cNvPr id="25" name="Text 23"/>
          <p:cNvSpPr/>
          <p:nvPr/>
        </p:nvSpPr>
        <p:spPr>
          <a:xfrm>
            <a:off x="7955280" y="4096512"/>
            <a:ext cx="3200400" cy="274320"/>
          </a:xfrm>
          <a:prstGeom prst="rect">
            <a:avLst/>
          </a:prstGeom>
          <a:noFill/>
          <a:ln/>
        </p:spPr>
        <p:txBody>
          <a:bodyPr wrap="square" rtlCol="0" anchor="ctr"/>
          <a:lstStyle/>
          <a:p>
            <a:pPr marL="0" indent="0">
              <a:buNone/>
            </a:pPr>
            <a:endParaRPr lang="en-US" sz="950" dirty="0"/>
          </a:p>
        </p:txBody>
      </p:sp>
      <p:sp>
        <p:nvSpPr>
          <p:cNvPr id="26" name="Text 24"/>
          <p:cNvSpPr/>
          <p:nvPr/>
        </p:nvSpPr>
        <p:spPr>
          <a:xfrm>
            <a:off x="7955280" y="4389120"/>
            <a:ext cx="3200400" cy="502920"/>
          </a:xfrm>
          <a:prstGeom prst="rect">
            <a:avLst/>
          </a:prstGeom>
          <a:noFill/>
          <a:ln/>
        </p:spPr>
        <p:txBody>
          <a:bodyPr wrap="square" rtlCol="0" anchor="ctr"/>
          <a:lstStyle/>
          <a:p>
            <a:pPr marL="0" indent="0">
              <a:buNone/>
            </a:pPr>
            <a:endParaRPr lang="en-US" sz="2200" dirty="0"/>
          </a:p>
        </p:txBody>
      </p:sp>
      <p:sp>
        <p:nvSpPr>
          <p:cNvPr id="27" name="Text 25"/>
          <p:cNvSpPr/>
          <p:nvPr/>
        </p:nvSpPr>
        <p:spPr>
          <a:xfrm>
            <a:off x="7955280" y="4937760"/>
            <a:ext cx="3200400" cy="548640"/>
          </a:xfrm>
          <a:prstGeom prst="rect">
            <a:avLst/>
          </a:prstGeom>
          <a:noFill/>
          <a:ln/>
        </p:spPr>
        <p:txBody>
          <a:bodyPr wrap="square" rtlCol="0" anchor="ctr"/>
          <a:lstStyle/>
          <a:p>
            <a:pPr marL="0" indent="0">
              <a:buNone/>
            </a:pPr>
            <a:endParaRPr lang="en-US" sz="1000" dirty="0"/>
          </a:p>
        </p:txBody>
      </p:sp>
      <p:sp>
        <p:nvSpPr>
          <p:cNvPr id="28" name="Text 26"/>
          <p:cNvSpPr/>
          <p:nvPr/>
        </p:nvSpPr>
        <p:spPr>
          <a:xfrm>
            <a:off x="640080" y="5989320"/>
            <a:ext cx="10881360" cy="365760"/>
          </a:xfrm>
          <a:prstGeom prst="rect">
            <a:avLst/>
          </a:prstGeom>
          <a:noFill/>
          <a:ln/>
        </p:spPr>
        <p:txBody>
          <a:bodyPr wrap="square" rtlCol="0" anchor="ctr"/>
          <a:lstStyle/>
          <a:p>
            <a:pPr marL="0" indent="0">
              <a:buNone/>
            </a:pPr>
            <a:endParaRPr lang="en-US" sz="1050" dirty="0"/>
          </a:p>
        </p:txBody>
      </p:sp>
      <p:sp>
        <p:nvSpPr>
          <p:cNvPr id="29" name="Text 27"/>
          <p:cNvSpPr/>
          <p:nvPr/>
        </p:nvSpPr>
        <p:spPr>
          <a:xfrm>
            <a:off x="457200" y="6537960"/>
            <a:ext cx="6400800" cy="274320"/>
          </a:xfrm>
          <a:prstGeom prst="rect">
            <a:avLst/>
          </a:prstGeom>
          <a:noFill/>
          <a:ln/>
        </p:spPr>
        <p:txBody>
          <a:bodyPr wrap="square" rtlCol="0" anchor="ctr"/>
          <a:lstStyle/>
          <a:p>
            <a:r>
              <a:rPr lang="en-US" sz="900" b="1" dirty="0"/>
              <a:t>AI-Powered Public Infrastructure Issue Detection and Reporting System</a:t>
            </a:r>
          </a:p>
        </p:txBody>
      </p:sp>
      <p:sp>
        <p:nvSpPr>
          <p:cNvPr id="30" name="Text 28"/>
          <p:cNvSpPr/>
          <p:nvPr/>
        </p:nvSpPr>
        <p:spPr>
          <a:xfrm>
            <a:off x="11274552" y="6537960"/>
            <a:ext cx="457200" cy="274320"/>
          </a:xfrm>
          <a:prstGeom prst="rect">
            <a:avLst/>
          </a:prstGeom>
          <a:noFill/>
          <a:ln/>
        </p:spPr>
        <p:txBody>
          <a:bodyPr wrap="square"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10</a:t>
            </a:r>
            <a:endParaRPr lang="en-US" sz="900" dirty="0"/>
          </a:p>
        </p:txBody>
      </p:sp>
      <p:pic>
        <p:nvPicPr>
          <p:cNvPr id="31" name="Picture 3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7895" y="4146669"/>
            <a:ext cx="5658545" cy="1890723"/>
          </a:xfrm>
          <a:prstGeom prst="rect">
            <a:avLst/>
          </a:prstGeom>
        </p:spPr>
      </p:pic>
      <p:pic>
        <p:nvPicPr>
          <p:cNvPr id="33" name="Picture 3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64218" y="4063354"/>
            <a:ext cx="5411651" cy="2023131"/>
          </a:xfrm>
          <a:prstGeom prst="rect">
            <a:avLst/>
          </a:prstGeom>
        </p:spPr>
      </p:pic>
      <p:pic>
        <p:nvPicPr>
          <p:cNvPr id="34" name="Picture 3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47895" y="1467477"/>
            <a:ext cx="11373545" cy="2496266"/>
          </a:xfrm>
          <a:prstGeom prst="rect">
            <a:avLst/>
          </a:prstGeo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9"/>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marL="0" indent="0">
              <a:buNone/>
            </a:pPr>
            <a:r>
              <a:rPr lang="en-US" sz="1200" b="1" kern="0" spc="200" dirty="0">
                <a:solidFill>
                  <a:srgbClr val="00867D"/>
                </a:solidFill>
                <a:latin typeface="Calibri" pitchFamily="34" charset="0"/>
                <a:ea typeface="Calibri" pitchFamily="34" charset="-122"/>
                <a:cs typeface="Calibri" pitchFamily="34" charset="-120"/>
              </a:rPr>
              <a:t>HONEST ASSESSMENT</a:t>
            </a:r>
            <a:endParaRPr lang="en-US" sz="1200" dirty="0"/>
          </a:p>
        </p:txBody>
      </p:sp>
      <p:sp>
        <p:nvSpPr>
          <p:cNvPr id="3" name="Text 1"/>
          <p:cNvSpPr/>
          <p:nvPr/>
        </p:nvSpPr>
        <p:spPr>
          <a:xfrm>
            <a:off x="548640" y="621792"/>
            <a:ext cx="10515600" cy="685800"/>
          </a:xfrm>
          <a:prstGeom prst="rect">
            <a:avLst/>
          </a:prstGeom>
          <a:noFill/>
          <a:ln/>
        </p:spPr>
        <p:txBody>
          <a:bodyPr wrap="square" rtlCol="0" anchor="ctr"/>
          <a:lstStyle/>
          <a:p>
            <a:pPr marL="0" indent="0">
              <a:buNone/>
            </a:pPr>
            <a:r>
              <a:rPr lang="en-US" sz="3200" b="1" dirty="0">
                <a:solidFill>
                  <a:srgbClr val="1F2733"/>
                </a:solidFill>
                <a:latin typeface="Cambria" pitchFamily="34" charset="0"/>
                <a:ea typeface="Cambria" pitchFamily="34" charset="-122"/>
                <a:cs typeface="Cambria" pitchFamily="34" charset="-120"/>
              </a:rPr>
              <a:t>Limitations &amp; Future Work</a:t>
            </a:r>
            <a:endParaRPr lang="en-US" sz="3200" dirty="0"/>
          </a:p>
        </p:txBody>
      </p:sp>
      <p:sp>
        <p:nvSpPr>
          <p:cNvPr id="4" name="Shape 2"/>
          <p:cNvSpPr/>
          <p:nvPr/>
        </p:nvSpPr>
        <p:spPr>
          <a:xfrm>
            <a:off x="640080" y="1691640"/>
            <a:ext cx="5257800" cy="4434840"/>
          </a:xfrm>
          <a:prstGeom prst="roundRect">
            <a:avLst>
              <a:gd name="adj" fmla="val 1649"/>
            </a:avLst>
          </a:prstGeom>
          <a:solidFill>
            <a:srgbClr val="FFFFFF"/>
          </a:solidFill>
          <a:ln w="15875">
            <a:solidFill>
              <a:srgbClr val="E0912F"/>
            </a:solidFill>
            <a:prstDash val="solid"/>
          </a:ln>
        </p:spPr>
      </p:sp>
      <p:sp>
        <p:nvSpPr>
          <p:cNvPr id="5" name="Text 3"/>
          <p:cNvSpPr/>
          <p:nvPr/>
        </p:nvSpPr>
        <p:spPr>
          <a:xfrm>
            <a:off x="914400" y="1874520"/>
            <a:ext cx="4572000" cy="365760"/>
          </a:xfrm>
          <a:prstGeom prst="rect">
            <a:avLst/>
          </a:prstGeom>
          <a:noFill/>
          <a:ln/>
        </p:spPr>
        <p:txBody>
          <a:bodyPr wrap="square" rtlCol="0" anchor="ctr"/>
          <a:lstStyle/>
          <a:p>
            <a:pPr marL="0" indent="0">
              <a:buNone/>
            </a:pPr>
            <a:r>
              <a:rPr lang="en-US" sz="1600" b="1" dirty="0">
                <a:solidFill>
                  <a:srgbClr val="8A5A18"/>
                </a:solidFill>
                <a:latin typeface="Cambria" pitchFamily="34" charset="0"/>
                <a:ea typeface="Cambria" pitchFamily="34" charset="-122"/>
                <a:cs typeface="Cambria" pitchFamily="34" charset="-120"/>
              </a:rPr>
              <a:t>Limitations</a:t>
            </a:r>
            <a:endParaRPr lang="en-US" sz="1600" dirty="0"/>
          </a:p>
        </p:txBody>
      </p:sp>
      <p:sp>
        <p:nvSpPr>
          <p:cNvPr id="6" name="Text 4"/>
          <p:cNvSpPr/>
          <p:nvPr/>
        </p:nvSpPr>
        <p:spPr>
          <a:xfrm>
            <a:off x="914400" y="2286000"/>
            <a:ext cx="4754880" cy="2834640"/>
          </a:xfrm>
          <a:prstGeom prst="rect">
            <a:avLst/>
          </a:prstGeom>
          <a:noFill/>
          <a:ln/>
        </p:spPr>
        <p:txBody>
          <a:bodyPr wrap="square" rtlCol="0" anchor="ctr"/>
          <a:lstStyle/>
          <a:p>
            <a:pPr marL="342900" indent="-342900">
              <a:spcAft>
                <a:spcPts val="1400"/>
              </a:spcAft>
              <a:buSzPct val="100000"/>
              <a:buChar char="●"/>
            </a:pPr>
            <a:r>
              <a:rPr lang="en-US" sz="1300" dirty="0">
                <a:solidFill>
                  <a:srgbClr val="1F2733"/>
                </a:solidFill>
                <a:latin typeface="Calibri" pitchFamily="34" charset="0"/>
                <a:ea typeface="Calibri" pitchFamily="34" charset="-122"/>
                <a:cs typeface="Calibri" pitchFamily="34" charset="-120"/>
              </a:rPr>
              <a:t>Class imbalance (pothole = 991 images)</a:t>
            </a:r>
            <a:endParaRPr lang="en-US" sz="1300" dirty="0"/>
          </a:p>
          <a:p>
            <a:pPr marL="342900" indent="-342900">
              <a:spcAft>
                <a:spcPts val="1400"/>
              </a:spcAft>
              <a:buSzPct val="100000"/>
              <a:buChar char="●"/>
            </a:pPr>
            <a:r>
              <a:rPr lang="en-US" sz="1300" dirty="0">
                <a:solidFill>
                  <a:srgbClr val="1F2733"/>
                </a:solidFill>
                <a:latin typeface="Calibri" pitchFamily="34" charset="0"/>
                <a:ea typeface="Calibri" pitchFamily="34" charset="-122"/>
                <a:cs typeface="Calibri" pitchFamily="34" charset="-120"/>
              </a:rPr>
              <a:t>Limited training time</a:t>
            </a:r>
            <a:endParaRPr lang="en-US" sz="1300" dirty="0"/>
          </a:p>
          <a:p>
            <a:pPr marL="342900" indent="-342900">
              <a:spcAft>
                <a:spcPts val="1400"/>
              </a:spcAft>
              <a:buSzPct val="100000"/>
              <a:buChar char="●"/>
            </a:pPr>
            <a:r>
              <a:rPr lang="en-US" sz="1300" dirty="0">
                <a:solidFill>
                  <a:srgbClr val="1F2733"/>
                </a:solidFill>
                <a:latin typeface="Calibri" pitchFamily="34" charset="0"/>
                <a:ea typeface="Calibri" pitchFamily="34" charset="-122"/>
                <a:cs typeface="Calibri" pitchFamily="34" charset="-120"/>
              </a:rPr>
              <a:t>CPU-based training only</a:t>
            </a:r>
            <a:endParaRPr lang="en-US" sz="1300" dirty="0"/>
          </a:p>
          <a:p>
            <a:pPr marL="342900" indent="-342900">
              <a:spcAft>
                <a:spcPts val="1400"/>
              </a:spcAft>
              <a:buSzPct val="100000"/>
              <a:buChar char="●"/>
            </a:pPr>
            <a:r>
              <a:rPr lang="en-US" sz="1300" dirty="0">
                <a:solidFill>
                  <a:srgbClr val="1F2733"/>
                </a:solidFill>
                <a:latin typeface="Calibri" pitchFamily="34" charset="0"/>
                <a:ea typeface="Calibri" pitchFamily="34" charset="-122"/>
                <a:cs typeface="Calibri" pitchFamily="34" charset="-120"/>
              </a:rPr>
              <a:t>Some individual images misclassified</a:t>
            </a:r>
            <a:endParaRPr lang="en-US" sz="1300" dirty="0"/>
          </a:p>
          <a:p>
            <a:pPr marL="342900" indent="-342900">
              <a:spcAft>
                <a:spcPts val="1400"/>
              </a:spcAft>
              <a:buSzPct val="100000"/>
              <a:buChar char="●"/>
            </a:pPr>
            <a:r>
              <a:rPr lang="en-US" sz="1300" dirty="0">
                <a:solidFill>
                  <a:srgbClr val="1F2733"/>
                </a:solidFill>
                <a:latin typeface="Calibri" pitchFamily="34" charset="0"/>
                <a:ea typeface="Calibri" pitchFamily="34" charset="-122"/>
                <a:cs typeface="Calibri" pitchFamily="34" charset="-120"/>
              </a:rPr>
              <a:t>Source datasets differ in visual style</a:t>
            </a:r>
            <a:endParaRPr lang="en-US" sz="1300" dirty="0"/>
          </a:p>
        </p:txBody>
      </p:sp>
      <p:sp>
        <p:nvSpPr>
          <p:cNvPr id="7" name="Text 5"/>
          <p:cNvSpPr/>
          <p:nvPr/>
        </p:nvSpPr>
        <p:spPr>
          <a:xfrm>
            <a:off x="914400" y="5166360"/>
            <a:ext cx="4754880" cy="868680"/>
          </a:xfrm>
          <a:prstGeom prst="rect">
            <a:avLst/>
          </a:prstGeom>
          <a:noFill/>
          <a:ln/>
        </p:spPr>
        <p:txBody>
          <a:bodyPr wrap="square" rtlCol="0" anchor="ctr"/>
          <a:lstStyle/>
          <a:p>
            <a:pPr marL="0" indent="0">
              <a:lnSpc>
                <a:spcPct val="115000"/>
              </a:lnSpc>
              <a:buNone/>
            </a:pPr>
            <a:r>
              <a:rPr lang="en-US" sz="1050" i="1" dirty="0">
                <a:solidFill>
                  <a:srgbClr val="5B6472"/>
                </a:solidFill>
                <a:latin typeface="Calibri" pitchFamily="34" charset="0"/>
                <a:ea typeface="Calibri" pitchFamily="34" charset="-122"/>
                <a:cs typeface="Calibri" pitchFamily="34" charset="-120"/>
              </a:rPr>
              <a:t>Note: during manual testing, at least one known pothole image was predicted as road crack with high confidence — showing that individual predictions can still be wrong even with high overall accuracy.</a:t>
            </a:r>
            <a:endParaRPr lang="en-US" sz="1050" dirty="0"/>
          </a:p>
        </p:txBody>
      </p:sp>
      <p:sp>
        <p:nvSpPr>
          <p:cNvPr id="8" name="Shape 6"/>
          <p:cNvSpPr/>
          <p:nvPr/>
        </p:nvSpPr>
        <p:spPr>
          <a:xfrm>
            <a:off x="6263640" y="1691640"/>
            <a:ext cx="5257800" cy="4434840"/>
          </a:xfrm>
          <a:prstGeom prst="roundRect">
            <a:avLst>
              <a:gd name="adj" fmla="val 1649"/>
            </a:avLst>
          </a:prstGeom>
          <a:solidFill>
            <a:srgbClr val="1B2A4A"/>
          </a:solidFill>
          <a:ln/>
        </p:spPr>
      </p:sp>
      <p:sp>
        <p:nvSpPr>
          <p:cNvPr id="9" name="Text 7"/>
          <p:cNvSpPr/>
          <p:nvPr/>
        </p:nvSpPr>
        <p:spPr>
          <a:xfrm>
            <a:off x="6537960" y="1874520"/>
            <a:ext cx="4572000" cy="365760"/>
          </a:xfrm>
          <a:prstGeom prst="rect">
            <a:avLst/>
          </a:prstGeom>
          <a:noFill/>
          <a:ln/>
        </p:spPr>
        <p:txBody>
          <a:bodyPr wrap="square" rtlCol="0" anchor="ctr"/>
          <a:lstStyle/>
          <a:p>
            <a:pPr marL="0" indent="0">
              <a:buNone/>
            </a:pPr>
            <a:r>
              <a:rPr lang="en-US" sz="1600" b="1" dirty="0">
                <a:solidFill>
                  <a:srgbClr val="00B4A6"/>
                </a:solidFill>
                <a:latin typeface="Cambria" pitchFamily="34" charset="0"/>
                <a:ea typeface="Cambria" pitchFamily="34" charset="-122"/>
                <a:cs typeface="Cambria" pitchFamily="34" charset="-120"/>
              </a:rPr>
              <a:t>Future Work</a:t>
            </a:r>
            <a:endParaRPr lang="en-US" sz="1600" dirty="0"/>
          </a:p>
        </p:txBody>
      </p:sp>
      <p:sp>
        <p:nvSpPr>
          <p:cNvPr id="10" name="Text 8"/>
          <p:cNvSpPr/>
          <p:nvPr/>
        </p:nvSpPr>
        <p:spPr>
          <a:xfrm>
            <a:off x="6537960" y="2286000"/>
            <a:ext cx="4754880" cy="3657600"/>
          </a:xfrm>
          <a:prstGeom prst="rect">
            <a:avLst/>
          </a:prstGeom>
          <a:noFill/>
          <a:ln/>
        </p:spPr>
        <p:txBody>
          <a:bodyPr wrap="square" rtlCol="0" anchor="ctr"/>
          <a:lstStyle/>
          <a:p>
            <a:r>
              <a:rPr lang="en-US" sz="2000" b="1" dirty="0">
                <a:solidFill>
                  <a:schemeClr val="bg1"/>
                </a:solidFill>
              </a:rPr>
              <a:t>From AI Classification to Smart Infrastructure </a:t>
            </a:r>
            <a:r>
              <a:rPr lang="en-US" sz="2000" b="1" dirty="0" smtClean="0">
                <a:solidFill>
                  <a:schemeClr val="bg1"/>
                </a:solidFill>
              </a:rPr>
              <a:t>Monitoring:</a:t>
            </a:r>
          </a:p>
          <a:p>
            <a:pPr marL="342900" indent="-342900">
              <a:buFont typeface="Arial" panose="020B0604020202020204" pitchFamily="34" charset="0"/>
              <a:buChar char="•"/>
            </a:pPr>
            <a:endParaRPr lang="en-US" sz="2000" b="1" dirty="0">
              <a:solidFill>
                <a:schemeClr val="bg1"/>
              </a:solidFill>
            </a:endParaRPr>
          </a:p>
          <a:p>
            <a:pPr marL="342900" indent="-342900">
              <a:buFont typeface="Arial" panose="020B0604020202020204" pitchFamily="34" charset="0"/>
              <a:buChar char="•"/>
            </a:pPr>
            <a:r>
              <a:rPr lang="en-US" sz="2000" b="1" dirty="0">
                <a:solidFill>
                  <a:schemeClr val="bg1"/>
                </a:solidFill>
              </a:rPr>
              <a:t>GPS-Based Location </a:t>
            </a:r>
            <a:r>
              <a:rPr lang="en-US" sz="2000" b="1" dirty="0" smtClean="0">
                <a:solidFill>
                  <a:schemeClr val="bg1"/>
                </a:solidFill>
              </a:rPr>
              <a:t>Detection</a:t>
            </a:r>
          </a:p>
          <a:p>
            <a:pPr marL="342900" indent="-342900">
              <a:buFont typeface="Arial" panose="020B0604020202020204" pitchFamily="34" charset="0"/>
              <a:buChar char="•"/>
            </a:pPr>
            <a:r>
              <a:rPr lang="en-US" sz="2000" b="1" dirty="0" smtClean="0">
                <a:solidFill>
                  <a:schemeClr val="bg1"/>
                </a:solidFill>
              </a:rPr>
              <a:t>Responsible Department Assignment</a:t>
            </a:r>
            <a:endParaRPr lang="en-US" sz="2000" dirty="0">
              <a:solidFill>
                <a:schemeClr val="bg1"/>
              </a:solidFill>
            </a:endParaRPr>
          </a:p>
          <a:p>
            <a:pPr marL="342900" indent="-342900">
              <a:buFont typeface="Arial" panose="020B0604020202020204" pitchFamily="34" charset="0"/>
              <a:buChar char="•"/>
            </a:pPr>
            <a:r>
              <a:rPr lang="en-US" sz="2000" b="1" dirty="0" smtClean="0">
                <a:solidFill>
                  <a:schemeClr val="bg1"/>
                </a:solidFill>
              </a:rPr>
              <a:t>One-Click Complaint Submission</a:t>
            </a:r>
            <a:endParaRPr lang="en-US" sz="2000" dirty="0" smtClean="0">
              <a:solidFill>
                <a:schemeClr val="bg1"/>
              </a:solidFill>
            </a:endParaRPr>
          </a:p>
          <a:p>
            <a:pPr marL="342900" indent="-342900">
              <a:buFont typeface="Arial" panose="020B0604020202020204" pitchFamily="34" charset="0"/>
              <a:buChar char="•"/>
            </a:pPr>
            <a:r>
              <a:rPr lang="en-US" sz="2000" b="1" dirty="0" smtClean="0">
                <a:solidFill>
                  <a:schemeClr val="bg1"/>
                </a:solidFill>
              </a:rPr>
              <a:t>Municipal </a:t>
            </a:r>
            <a:r>
              <a:rPr lang="en-US" sz="2000" b="1" dirty="0">
                <a:solidFill>
                  <a:schemeClr val="bg1"/>
                </a:solidFill>
              </a:rPr>
              <a:t>Authority </a:t>
            </a:r>
            <a:r>
              <a:rPr lang="en-US" sz="2000" b="1" dirty="0" smtClean="0">
                <a:solidFill>
                  <a:schemeClr val="bg1"/>
                </a:solidFill>
              </a:rPr>
              <a:t>Dashboard</a:t>
            </a:r>
            <a:endParaRPr lang="en-US" sz="2000" dirty="0" smtClean="0">
              <a:solidFill>
                <a:schemeClr val="bg1"/>
              </a:solidFill>
            </a:endParaRPr>
          </a:p>
          <a:p>
            <a:pPr marL="342900" indent="-342900">
              <a:buFont typeface="Arial" panose="020B0604020202020204" pitchFamily="34" charset="0"/>
              <a:buChar char="•"/>
            </a:pPr>
            <a:r>
              <a:rPr lang="en-US" sz="2000" b="1" dirty="0" smtClean="0">
                <a:solidFill>
                  <a:schemeClr val="bg1"/>
                </a:solidFill>
              </a:rPr>
              <a:t>Automatic </a:t>
            </a:r>
            <a:r>
              <a:rPr lang="en-US" sz="2000" b="1" dirty="0">
                <a:solidFill>
                  <a:schemeClr val="bg1"/>
                </a:solidFill>
              </a:rPr>
              <a:t>Complaint </a:t>
            </a:r>
            <a:r>
              <a:rPr lang="en-US" sz="2000" b="1" dirty="0" smtClean="0">
                <a:solidFill>
                  <a:schemeClr val="bg1"/>
                </a:solidFill>
              </a:rPr>
              <a:t>Tracking</a:t>
            </a:r>
            <a:endParaRPr lang="en-US" sz="2000" dirty="0" smtClean="0">
              <a:solidFill>
                <a:schemeClr val="bg1"/>
              </a:solidFill>
            </a:endParaRPr>
          </a:p>
          <a:p>
            <a:pPr marL="342900" indent="-342900">
              <a:buFont typeface="Arial" panose="020B0604020202020204" pitchFamily="34" charset="0"/>
              <a:buChar char="•"/>
            </a:pPr>
            <a:r>
              <a:rPr lang="en-US" sz="2000" b="1" dirty="0" smtClean="0">
                <a:solidFill>
                  <a:schemeClr val="bg1"/>
                </a:solidFill>
              </a:rPr>
              <a:t>Mobile Application</a:t>
            </a:r>
          </a:p>
          <a:p>
            <a:pPr marL="342900" indent="-342900">
              <a:buFont typeface="Arial" panose="020B0604020202020204" pitchFamily="34" charset="0"/>
              <a:buChar char="•"/>
            </a:pPr>
            <a:r>
              <a:rPr lang="en-US" sz="2000" b="1" dirty="0" smtClean="0">
                <a:solidFill>
                  <a:schemeClr val="bg1"/>
                </a:solidFill>
              </a:rPr>
              <a:t>Real-Time </a:t>
            </a:r>
            <a:r>
              <a:rPr lang="en-US" sz="2000" b="1" dirty="0">
                <a:solidFill>
                  <a:schemeClr val="bg1"/>
                </a:solidFill>
              </a:rPr>
              <a:t>CCTV Monitoring</a:t>
            </a:r>
            <a:r>
              <a:rPr lang="en-US" sz="1200" dirty="0">
                <a:solidFill>
                  <a:schemeClr val="bg1"/>
                </a:solidFill>
              </a:rPr>
              <a:t/>
            </a:r>
            <a:br>
              <a:rPr lang="en-US" sz="1200" dirty="0">
                <a:solidFill>
                  <a:schemeClr val="bg1"/>
                </a:solidFill>
              </a:rPr>
            </a:br>
            <a:endParaRPr lang="en-US" sz="1200" dirty="0">
              <a:solidFill>
                <a:schemeClr val="bg1"/>
              </a:solidFill>
            </a:endParaRPr>
          </a:p>
        </p:txBody>
      </p:sp>
      <p:sp>
        <p:nvSpPr>
          <p:cNvPr id="11" name="Text 9"/>
          <p:cNvSpPr/>
          <p:nvPr/>
        </p:nvSpPr>
        <p:spPr>
          <a:xfrm>
            <a:off x="457200" y="6537960"/>
            <a:ext cx="6400800" cy="274320"/>
          </a:xfrm>
          <a:prstGeom prst="rect">
            <a:avLst/>
          </a:prstGeom>
          <a:noFill/>
          <a:ln/>
        </p:spPr>
        <p:txBody>
          <a:bodyPr wrap="square" rtlCol="0" anchor="ctr"/>
          <a:lstStyle/>
          <a:p>
            <a:r>
              <a:rPr lang="en-US" sz="900" b="1" dirty="0"/>
              <a:t>AI-Powered Public Infrastructure Issue Detection and Reporting System</a:t>
            </a:r>
          </a:p>
        </p:txBody>
      </p:sp>
      <p:sp>
        <p:nvSpPr>
          <p:cNvPr id="12" name="Text 10"/>
          <p:cNvSpPr/>
          <p:nvPr/>
        </p:nvSpPr>
        <p:spPr>
          <a:xfrm>
            <a:off x="11274552" y="6537960"/>
            <a:ext cx="457200" cy="274320"/>
          </a:xfrm>
          <a:prstGeom prst="rect">
            <a:avLst/>
          </a:prstGeom>
          <a:noFill/>
          <a:ln/>
        </p:spPr>
        <p:txBody>
          <a:bodyPr wrap="square"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11</a:t>
            </a:r>
            <a:endParaRPr lang="en-US" sz="900"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1645920" y="4206240"/>
            <a:ext cx="4754880" cy="4754880"/>
          </a:xfrm>
          <a:prstGeom prst="ellipse">
            <a:avLst/>
          </a:prstGeom>
          <a:solidFill>
            <a:srgbClr val="121D33"/>
          </a:solidFill>
          <a:ln/>
        </p:spPr>
      </p:sp>
      <p:sp>
        <p:nvSpPr>
          <p:cNvPr id="3" name="Text 1"/>
          <p:cNvSpPr/>
          <p:nvPr/>
        </p:nvSpPr>
        <p:spPr>
          <a:xfrm>
            <a:off x="822960" y="685800"/>
            <a:ext cx="7315200" cy="320040"/>
          </a:xfrm>
          <a:prstGeom prst="rect">
            <a:avLst/>
          </a:prstGeom>
          <a:noFill/>
          <a:ln/>
        </p:spPr>
        <p:txBody>
          <a:bodyPr wrap="square" rtlCol="0" anchor="ctr"/>
          <a:lstStyle/>
          <a:p>
            <a:pPr marL="0" indent="0">
              <a:buNone/>
            </a:pPr>
            <a:r>
              <a:rPr lang="en-US" sz="1300" b="1" kern="0" spc="200" dirty="0">
                <a:solidFill>
                  <a:srgbClr val="00B4A6"/>
                </a:solidFill>
                <a:latin typeface="Calibri" pitchFamily="34" charset="0"/>
                <a:ea typeface="Calibri" pitchFamily="34" charset="-122"/>
                <a:cs typeface="Calibri" pitchFamily="34" charset="-120"/>
              </a:rPr>
              <a:t>CONCLUSION</a:t>
            </a:r>
            <a:endParaRPr lang="en-US" sz="1300" dirty="0"/>
          </a:p>
        </p:txBody>
      </p:sp>
      <p:sp>
        <p:nvSpPr>
          <p:cNvPr id="4" name="Text 2"/>
          <p:cNvSpPr/>
          <p:nvPr/>
        </p:nvSpPr>
        <p:spPr>
          <a:xfrm>
            <a:off x="777240" y="960120"/>
            <a:ext cx="9144000" cy="68580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What We Built</a:t>
            </a:r>
            <a:endParaRPr lang="en-US" sz="3200" dirty="0"/>
          </a:p>
        </p:txBody>
      </p:sp>
      <p:sp>
        <p:nvSpPr>
          <p:cNvPr id="5" name="Text 3"/>
          <p:cNvSpPr/>
          <p:nvPr/>
        </p:nvSpPr>
        <p:spPr>
          <a:xfrm>
            <a:off x="822960" y="1828800"/>
            <a:ext cx="6583680" cy="3108960"/>
          </a:xfrm>
          <a:prstGeom prst="rect">
            <a:avLst/>
          </a:prstGeom>
          <a:noFill/>
          <a:ln/>
        </p:spPr>
        <p:txBody>
          <a:bodyPr wrap="square" rtlCol="0" anchor="ctr"/>
          <a:lstStyle/>
          <a:p>
            <a:pPr marL="342900" indent="-342900">
              <a:spcAft>
                <a:spcPts val="1400"/>
              </a:spcAft>
              <a:buSzPct val="100000"/>
              <a:buChar char="✓"/>
            </a:pPr>
            <a:r>
              <a:rPr lang="en-US" sz="1450" dirty="0">
                <a:solidFill>
                  <a:srgbClr val="E7ECF5"/>
                </a:solidFill>
                <a:latin typeface="Calibri" pitchFamily="34" charset="0"/>
                <a:ea typeface="Calibri" pitchFamily="34" charset="-122"/>
                <a:cs typeface="Calibri" pitchFamily="34" charset="-120"/>
              </a:rPr>
              <a:t>Built an end-to-end AI computer vision system</a:t>
            </a:r>
            <a:endParaRPr lang="en-US" sz="1450" dirty="0"/>
          </a:p>
          <a:p>
            <a:pPr marL="342900" indent="-342900">
              <a:spcAft>
                <a:spcPts val="1400"/>
              </a:spcAft>
              <a:buSzPct val="100000"/>
              <a:buChar char="✓"/>
            </a:pPr>
            <a:r>
              <a:rPr lang="en-US" sz="1450" dirty="0">
                <a:solidFill>
                  <a:srgbClr val="E7ECF5"/>
                </a:solidFill>
                <a:latin typeface="Calibri" pitchFamily="34" charset="0"/>
                <a:ea typeface="Calibri" pitchFamily="34" charset="-122"/>
                <a:cs typeface="Calibri" pitchFamily="34" charset="-120"/>
              </a:rPr>
              <a:t>Combined multiple public datasets into one</a:t>
            </a:r>
            <a:endParaRPr lang="en-US" sz="1450" dirty="0"/>
          </a:p>
          <a:p>
            <a:pPr marL="342900" indent="-342900">
              <a:spcAft>
                <a:spcPts val="1400"/>
              </a:spcAft>
              <a:buSzPct val="100000"/>
              <a:buChar char="✓"/>
            </a:pPr>
            <a:r>
              <a:rPr lang="en-US" sz="1450" dirty="0">
                <a:solidFill>
                  <a:srgbClr val="E7ECF5"/>
                </a:solidFill>
                <a:latin typeface="Calibri" pitchFamily="34" charset="0"/>
                <a:ea typeface="Calibri" pitchFamily="34" charset="-122"/>
                <a:cs typeface="Calibri" pitchFamily="34" charset="-120"/>
              </a:rPr>
              <a:t>Used MobileNetV2 transfer learning</a:t>
            </a:r>
            <a:endParaRPr lang="en-US" sz="1450" dirty="0"/>
          </a:p>
          <a:p>
            <a:pPr marL="342900" indent="-342900">
              <a:spcAft>
                <a:spcPts val="1400"/>
              </a:spcAft>
              <a:buSzPct val="100000"/>
              <a:buChar char="✓"/>
            </a:pPr>
            <a:r>
              <a:rPr lang="en-US" sz="1450" dirty="0">
                <a:solidFill>
                  <a:srgbClr val="E7ECF5"/>
                </a:solidFill>
                <a:latin typeface="Calibri" pitchFamily="34" charset="0"/>
                <a:ea typeface="Calibri" pitchFamily="34" charset="-122"/>
                <a:cs typeface="Calibri" pitchFamily="34" charset="-120"/>
              </a:rPr>
              <a:t>Achieved 98.33% test accuracy</a:t>
            </a:r>
            <a:endParaRPr lang="en-US" sz="1450" dirty="0"/>
          </a:p>
          <a:p>
            <a:pPr marL="342900" indent="-342900">
              <a:spcAft>
                <a:spcPts val="1400"/>
              </a:spcAft>
              <a:buSzPct val="100000"/>
              <a:buChar char="✓"/>
            </a:pPr>
            <a:r>
              <a:rPr lang="en-US" sz="1450" dirty="0">
                <a:solidFill>
                  <a:srgbClr val="E7ECF5"/>
                </a:solidFill>
                <a:latin typeface="Calibri" pitchFamily="34" charset="0"/>
                <a:ea typeface="Calibri" pitchFamily="34" charset="-122"/>
                <a:cs typeface="Calibri" pitchFamily="34" charset="-120"/>
              </a:rPr>
              <a:t>Developed a working Streamlit application</a:t>
            </a:r>
            <a:endParaRPr lang="en-US" sz="1450" dirty="0"/>
          </a:p>
          <a:p>
            <a:pPr marL="342900" indent="-342900">
              <a:spcAft>
                <a:spcPts val="1400"/>
              </a:spcAft>
              <a:buSzPct val="100000"/>
              <a:buChar char="✓"/>
            </a:pPr>
            <a:r>
              <a:rPr lang="en-US" sz="1450" dirty="0">
                <a:solidFill>
                  <a:srgbClr val="E7ECF5"/>
                </a:solidFill>
                <a:latin typeface="Calibri" pitchFamily="34" charset="0"/>
                <a:ea typeface="Calibri" pitchFamily="34" charset="-122"/>
                <a:cs typeface="Calibri" pitchFamily="34" charset="-120"/>
              </a:rPr>
              <a:t>Demonstrated potential for automated infrastructure inspection</a:t>
            </a:r>
            <a:endParaRPr lang="en-US" sz="1450" dirty="0"/>
          </a:p>
        </p:txBody>
      </p:sp>
      <p:sp>
        <p:nvSpPr>
          <p:cNvPr id="6" name="Shape 4"/>
          <p:cNvSpPr/>
          <p:nvPr/>
        </p:nvSpPr>
        <p:spPr>
          <a:xfrm>
            <a:off x="7863840" y="1828800"/>
            <a:ext cx="3566160" cy="1828800"/>
          </a:xfrm>
          <a:prstGeom prst="roundRect">
            <a:avLst>
              <a:gd name="adj" fmla="val 5000"/>
            </a:avLst>
          </a:prstGeom>
          <a:solidFill>
            <a:srgbClr val="121D33"/>
          </a:solidFill>
          <a:ln w="12700">
            <a:solidFill>
              <a:srgbClr val="00B4A6"/>
            </a:solidFill>
            <a:prstDash val="solid"/>
          </a:ln>
        </p:spPr>
      </p:sp>
      <p:sp>
        <p:nvSpPr>
          <p:cNvPr id="7" name="Text 5"/>
          <p:cNvSpPr/>
          <p:nvPr/>
        </p:nvSpPr>
        <p:spPr>
          <a:xfrm>
            <a:off x="7863840" y="2011680"/>
            <a:ext cx="3566160" cy="868680"/>
          </a:xfrm>
          <a:prstGeom prst="rect">
            <a:avLst/>
          </a:prstGeom>
          <a:noFill/>
          <a:ln/>
        </p:spPr>
        <p:txBody>
          <a:bodyPr wrap="square" rtlCol="0" anchor="ctr"/>
          <a:lstStyle/>
          <a:p>
            <a:pPr marL="0" indent="0" algn="ctr">
              <a:buNone/>
            </a:pPr>
            <a:r>
              <a:rPr lang="en-US" sz="4000" b="1" dirty="0">
                <a:solidFill>
                  <a:srgbClr val="00B4A6"/>
                </a:solidFill>
                <a:latin typeface="Cambria" pitchFamily="34" charset="0"/>
                <a:ea typeface="Cambria" pitchFamily="34" charset="-122"/>
                <a:cs typeface="Cambria" pitchFamily="34" charset="-120"/>
              </a:rPr>
              <a:t>98.33%</a:t>
            </a:r>
            <a:endParaRPr lang="en-US" sz="4000" dirty="0"/>
          </a:p>
        </p:txBody>
      </p:sp>
      <p:sp>
        <p:nvSpPr>
          <p:cNvPr id="8" name="Text 6"/>
          <p:cNvSpPr/>
          <p:nvPr/>
        </p:nvSpPr>
        <p:spPr>
          <a:xfrm>
            <a:off x="7863840" y="2834640"/>
            <a:ext cx="3566160" cy="457200"/>
          </a:xfrm>
          <a:prstGeom prst="rect">
            <a:avLst/>
          </a:prstGeom>
          <a:noFill/>
          <a:ln/>
        </p:spPr>
        <p:txBody>
          <a:bodyPr wrap="square" rtlCol="0" anchor="ctr"/>
          <a:lstStyle/>
          <a:p>
            <a:pPr marL="0" indent="0" algn="ctr">
              <a:buNone/>
            </a:pPr>
            <a:r>
              <a:rPr lang="en-US" sz="1250" dirty="0">
                <a:solidFill>
                  <a:srgbClr val="AEB9CC"/>
                </a:solidFill>
                <a:latin typeface="Calibri" pitchFamily="34" charset="0"/>
                <a:ea typeface="Calibri" pitchFamily="34" charset="-122"/>
                <a:cs typeface="Calibri" pitchFamily="34" charset="-120"/>
              </a:rPr>
              <a:t>Test Accuracy</a:t>
            </a:r>
            <a:endParaRPr lang="en-US" sz="1250" dirty="0"/>
          </a:p>
        </p:txBody>
      </p:sp>
      <p:sp>
        <p:nvSpPr>
          <p:cNvPr id="9" name="Shape 7"/>
          <p:cNvSpPr/>
          <p:nvPr/>
        </p:nvSpPr>
        <p:spPr>
          <a:xfrm>
            <a:off x="822960" y="5394960"/>
            <a:ext cx="10515600" cy="0"/>
          </a:xfrm>
          <a:prstGeom prst="line">
            <a:avLst/>
          </a:prstGeom>
          <a:noFill/>
          <a:ln w="12700">
            <a:solidFill>
              <a:srgbClr val="3A4A6B"/>
            </a:solidFill>
            <a:prstDash val="solid"/>
          </a:ln>
        </p:spPr>
      </p:sp>
      <p:sp>
        <p:nvSpPr>
          <p:cNvPr id="10" name="Text 8"/>
          <p:cNvSpPr/>
          <p:nvPr/>
        </p:nvSpPr>
        <p:spPr>
          <a:xfrm>
            <a:off x="822960" y="5577840"/>
            <a:ext cx="5486400" cy="548640"/>
          </a:xfrm>
          <a:prstGeom prst="rect">
            <a:avLst/>
          </a:prstGeom>
          <a:noFill/>
          <a:ln/>
        </p:spPr>
        <p:txBody>
          <a:bodyPr wrap="square"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Thank You</a:t>
            </a:r>
            <a:endParaRPr lang="en-US" sz="2600" dirty="0"/>
          </a:p>
        </p:txBody>
      </p:sp>
      <p:sp>
        <p:nvSpPr>
          <p:cNvPr id="11" name="Text 9"/>
          <p:cNvSpPr/>
          <p:nvPr/>
        </p:nvSpPr>
        <p:spPr>
          <a:xfrm>
            <a:off x="822960" y="6126480"/>
            <a:ext cx="5486400" cy="457200"/>
          </a:xfrm>
          <a:prstGeom prst="rect">
            <a:avLst/>
          </a:prstGeom>
          <a:noFill/>
          <a:ln/>
        </p:spPr>
        <p:txBody>
          <a:bodyPr wrap="square" rtlCol="0" anchor="ctr"/>
          <a:lstStyle/>
          <a:p>
            <a:pPr marL="0" indent="0">
              <a:buNone/>
            </a:pPr>
            <a:r>
              <a:rPr lang="en-US" sz="1600" i="1" dirty="0">
                <a:solidFill>
                  <a:srgbClr val="CADCFC"/>
                </a:solidFill>
                <a:latin typeface="Calibri" pitchFamily="34" charset="0"/>
                <a:ea typeface="Calibri" pitchFamily="34" charset="-122"/>
                <a:cs typeface="Calibri" pitchFamily="34" charset="-120"/>
              </a:rPr>
              <a:t>Questions?</a:t>
            </a:r>
            <a:endParaRPr lang="en-US" sz="1600" dirty="0"/>
          </a:p>
        </p:txBody>
      </p:sp>
      <p:sp>
        <p:nvSpPr>
          <p:cNvPr id="12" name="Text 10"/>
          <p:cNvSpPr/>
          <p:nvPr/>
        </p:nvSpPr>
        <p:spPr>
          <a:xfrm>
            <a:off x="457200" y="6537960"/>
            <a:ext cx="2438400" cy="320040"/>
          </a:xfrm>
          <a:prstGeom prst="rect">
            <a:avLst/>
          </a:prstGeom>
          <a:noFill/>
          <a:ln/>
        </p:spPr>
        <p:txBody>
          <a:bodyPr wrap="square" rtlCol="0" anchor="ctr"/>
          <a:lstStyle/>
          <a:p>
            <a:r>
              <a:rPr lang="en-US" sz="900" b="1" dirty="0">
                <a:solidFill>
                  <a:schemeClr val="bg1">
                    <a:lumMod val="85000"/>
                  </a:schemeClr>
                </a:solidFill>
              </a:rPr>
              <a:t>AI-Powered Public Infrastructure Issue Detection and Reporting System</a:t>
            </a:r>
          </a:p>
        </p:txBody>
      </p:sp>
      <p:sp>
        <p:nvSpPr>
          <p:cNvPr id="13" name="Text 11"/>
          <p:cNvSpPr/>
          <p:nvPr/>
        </p:nvSpPr>
        <p:spPr>
          <a:xfrm>
            <a:off x="11274552" y="6537960"/>
            <a:ext cx="457200" cy="274320"/>
          </a:xfrm>
          <a:prstGeom prst="rect">
            <a:avLst/>
          </a:prstGeom>
          <a:noFill/>
          <a:ln/>
        </p:spPr>
        <p:txBody>
          <a:bodyPr wrap="square" rtlCol="0" anchor="ctr"/>
          <a:lstStyle/>
          <a:p>
            <a:pPr marL="0" indent="0" algn="r">
              <a:buNone/>
            </a:pPr>
            <a:r>
              <a:rPr lang="en-US" sz="900" dirty="0">
                <a:solidFill>
                  <a:srgbClr val="8C97AA"/>
                </a:solidFill>
                <a:latin typeface="Calibri" pitchFamily="34" charset="0"/>
                <a:ea typeface="Calibri" pitchFamily="34" charset="-122"/>
                <a:cs typeface="Calibri" pitchFamily="34" charset="-120"/>
              </a:rPr>
              <a:t>12</a:t>
            </a:r>
            <a:endParaRPr lang="en-US" sz="900"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821</TotalTime>
  <Words>1756</Words>
  <Application>Microsoft Office PowerPoint</Application>
  <PresentationFormat>Widescreen</PresentationFormat>
  <Paragraphs>282</Paragraphs>
  <Slides>12</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Microsoft account</cp:lastModifiedBy>
  <cp:revision>9</cp:revision>
  <dcterms:created xsi:type="dcterms:W3CDTF">2026-08-08T16:13:51Z</dcterms:created>
  <dcterms:modified xsi:type="dcterms:W3CDTF">2026-08-09T17:14:46Z</dcterms:modified>
</cp:coreProperties>
</file>