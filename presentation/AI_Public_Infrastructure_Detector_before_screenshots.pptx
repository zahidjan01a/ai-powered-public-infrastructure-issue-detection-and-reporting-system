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MUNICIPAL CIVIC TECHNOLOGY · AI / COMPUTER VISION &amp;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AI-Powered Public Infrastructure Issue Detection &amp; Reporting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Empowering Citizens: From Smartphone Photos to Official Municipal Work Orders in Real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77639"/>
            <a:ext cx="10360152" cy="731520"/>
          </a:xfrm>
          <a:prstGeom prst="roundRect">
            <a:avLst/>
          </a:prstGeom>
          <a:solidFill>
            <a:srgbClr val="1C254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🎯 Unified AI Detection Classes:   🗑️ Garbage Accumulation   |   ✅ Normal Roadways   |   🕳️ Asphalt Potholes   |   🚧 Road Surface Cracks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Author: Zahid Jan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BS Computer Science  ·  University of Engineering and Technology, Mardan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Big Picture: Automated Civic Issue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🔴 The Real-World Friction</a:t>
            </a:r>
          </a:p>
          <a:p>
            <a:pPr>
              <a:spcAft>
                <a:spcPts val="1200"/>
              </a:spcAft>
              <a:defRPr sz="1100" i="1">
                <a:solidFill>
                  <a:srgbClr val="64748B"/>
                </a:solidFill>
              </a:defRPr>
            </a:pPr>
            <a:r>
              <a:t>Manual Inspections are Broken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Delayed Hazard Discovery: Potholes and cracks expand rapidly before municipal patrols notice.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Citizen Reporting Barriers: Residents do not know which city department handles which issue.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Unstructured Complaints: Phone calls and vague texts lack visual proof and exact locations.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Administrative Backlog: City workers spend hours manually triaging mixed citizen inquiries.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🟢 What We Built</a:t>
            </a:r>
          </a:p>
          <a:p>
            <a:pPr>
              <a:spcAft>
                <a:spcPts val="1200"/>
              </a:spcAft>
              <a:defRPr sz="1100" i="1">
                <a:solidFill>
                  <a:srgbClr val="64748B"/>
                </a:solidFill>
              </a:defRPr>
            </a:pPr>
            <a:r>
              <a:t>CivicAlert AI Portal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✓ 98.33% Vision Accuracy: MobileNetV2 verifies road defects and garbage accumulation in milliseconds.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✓ Automated Department Routing: Connects defects to Sanitation, Public Works, or Highways.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✓ Real-Time Gemini AI: Formats official, professional citizen grievance petitions live.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✓ 1-Click Ticket Submission: Issues municipal reference numbers (#REF-2026-XXX) with repair SLAs.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🔵 Key Outcomes</a:t>
            </a:r>
          </a:p>
          <a:p>
            <a:pPr>
              <a:spcAft>
                <a:spcPts val="1200"/>
              </a:spcAft>
              <a:defRPr sz="1100" i="1">
                <a:solidFill>
                  <a:srgbClr val="64748B"/>
                </a:solidFill>
              </a:defRPr>
            </a:pPr>
            <a:r>
              <a:t>Tangible Civic Results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⚡ 60-Second Reporting: Citizens file formal complaints on the spot from any phone or PC.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⏱️ 24-72h Target Turnaround: Clear SLA deadlines assigned to responsible municipal teams.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📊 Zero Manual Sorting: Municipal desks receive pre-classified, verified work orders with photos.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🛡️ Empowered Communities: Citizens receive downloadable proof receipts and tracking IDs.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Why Public Infrastructure Reporting Fails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🗑️ Garbage Accumulation</a:t>
            </a:r>
          </a:p>
          <a:p>
            <a:pPr>
              <a:spcAft>
                <a:spcPts val="1000"/>
              </a:spcAft>
              <a:defRPr sz="950" i="1">
                <a:solidFill>
                  <a:srgbClr val="64748B"/>
                </a:solidFill>
              </a:defRPr>
            </a:pPr>
            <a:r>
              <a:t>Public Health &amp; Civic Blight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Overflowing street dumpsters and open waste piles attract pests and vectors.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Creates foul odors and groundwater runoff contamination.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Citizens don't know whether city sanitation or private contractors are responsible.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Traditional phone hotlines leave complaints unresolved for weeks.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14600" cy="4572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🕳️ Asphalt Potholes</a:t>
            </a:r>
          </a:p>
          <a:p>
            <a:pPr>
              <a:spcAft>
                <a:spcPts val="1000"/>
              </a:spcAft>
              <a:defRPr sz="950" i="1">
                <a:solidFill>
                  <a:srgbClr val="64748B"/>
                </a:solidFill>
              </a:defRPr>
            </a:pPr>
            <a:r>
              <a:t>Traffic Hazards &amp; Vehicle Damage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Subsurface erosion creates deep craters on busy roads.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Severe tire blowouts, wheel rim bending, and suspension breakdown.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High risk of tipping and life-threatening injury for motorcyclists and cyclists.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Delayed patching triples municipal road resurfacing costs over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45720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B45309"/>
                </a:solidFill>
              </a:defRPr>
            </a:pPr>
            <a:r>
              <a:t>🚧 Surface Cracks</a:t>
            </a:r>
          </a:p>
          <a:p>
            <a:pPr>
              <a:spcAft>
                <a:spcPts val="1000"/>
              </a:spcAft>
              <a:defRPr sz="950" i="1">
                <a:solidFill>
                  <a:srgbClr val="64748B"/>
                </a:solidFill>
              </a:defRPr>
            </a:pPr>
            <a:r>
              <a:t>Silent Infrastructure Failure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Longitudinal and alligator cracking allows rainwater infiltration.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Freeze-thaw weather cycles expand cracks into major pothole clusters.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Requires early preventative sealing to save public tax dollars.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Often ignored until major structural pavement collapse occurs.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146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📋 Citizen Disconnect</a:t>
            </a:r>
          </a:p>
          <a:p>
            <a:pPr>
              <a:spcAft>
                <a:spcPts val="1000"/>
              </a:spcAft>
              <a:defRPr sz="950" i="1">
                <a:solidFill>
                  <a:srgbClr val="64748B"/>
                </a:solidFill>
              </a:defRPr>
            </a:pPr>
            <a:r>
              <a:t>Reporting Bottlenecks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Normal citizens find official municipal websites confusing and bureaucratic.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No automated visual proof or verification of the reported issue.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Citizens receive no tracking number, ticket confirmation, or SLA timeline.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Result: Frustration and widespread municipal disengagement.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Objectives: From AI Classifier to Civic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463040"/>
            <a:ext cx="9875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Unified Dataset Assembly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Combine multiple disparate public benchmarks into a single multi-class infrastructure dataset totaling 56,916 images.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685800" cy="777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423160"/>
            <a:ext cx="9875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Transfer Learning Vision Engine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Leverage MobileNetV2 pretrained on ImageNet to achieve high classification accuracy (&gt;98%) on standard CPU hardware.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685800" cy="777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383280"/>
            <a:ext cx="9875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Four-Class Operational Triage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Accurately classify incoming photos into Garbage, Normal Roads, Potholes, and Road Surface Cracks.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685800" cy="7772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4343400"/>
            <a:ext cx="9875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Automated Department Routing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Connect classified visual issues directly to designated municipal departments with target turnaround SLAs.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685800" cy="777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5303520"/>
            <a:ext cx="9875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Generative AI Reporting &amp; 1-Click Submit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Integrate real-time Google Gemini LLM to draft formal grievance petitions and issue official tracking tickets.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DATASET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56,916 Images Across 4 Unified Infrastructure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5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📊 Full Aggregated Dataset (56,916 Images)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Combined from public computer vision benchmarks on Kaggle: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Normal Infrastructure: 20,410 images (35.9%) — Intact pavements &amp; sidewalks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Road Surface Cracks: 20,000 images (35.1%) — Longitudinal &amp; alligator fissures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Garbage Accumulation: 15,515 images (27.3%) — Solid municipal refuse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Asphalt Potholes: 991 images (1.7%) — Cavities and road craters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Nominal 70 / 15 / 15 Partition: 39,841 Train · 8,537 Val · 8,538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059669"/>
                </a:solidFill>
              </a:defRPr>
            </a:pPr>
            <a:r>
              <a:t>⚖️ Balanced Experimental Subset (3,991 Images)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Why Balancing was Necessary: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Extreme Pothole Imbalance: Potholes accounted for only 1.7% of the raw data. The model would ignore potholes without re-balancing.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Stratified Sampling: Sampled 1,000 images each from Garbage, Normal, and Road Crack + all 991 Potholes = 3,991 balanced images.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Experimental Splits: 70% Train (2,793) · 15% Validation (599) · 15% Test (599).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Live Data Augmentation: Rotation (±20°), zoom (±20%), width/height shifts, and horizontal flips to prevent overfitting.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AI VISION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MobileNetV2 Transfer Learning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Input Image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224 × 224 × 3 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3736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463040"/>
            <a:ext cx="1554480" cy="914400"/>
          </a:xfrm>
          <a:prstGeom prst="roundRect">
            <a:avLst/>
          </a:prstGeom>
          <a:solidFill>
            <a:srgbClr val="0B132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MobileNetV2 Base</a:t>
            </a:r>
          </a:p>
          <a:p>
            <a:pPr algn="ctr">
              <a:defRPr sz="900">
                <a:solidFill>
                  <a:srgbClr val="93C5FD"/>
                </a:solidFill>
              </a:defRPr>
            </a:pPr>
            <a:r>
              <a:t>Frozen ImageNet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73736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Global Avg Pool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1280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73736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146304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Dropout (0.3)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Regularization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173736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46304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Dense 128 (ReLU)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Custom 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173736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463040"/>
            <a:ext cx="1554480" cy="914400"/>
          </a:xfrm>
          <a:prstGeom prst="roundRect">
            <a:avLst/>
          </a:prstGeom>
          <a:solidFill>
            <a:srgbClr val="0B132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Softmax 4-Class</a:t>
            </a:r>
          </a:p>
          <a:p>
            <a:pPr algn="ctr">
              <a:defRPr sz="900">
                <a:solidFill>
                  <a:srgbClr val="93C5FD"/>
                </a:solidFill>
              </a:defRPr>
            </a:pPr>
            <a:r>
              <a:t>Category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43200"/>
            <a:ext cx="51206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⚙️ Parameter Breakdown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Total Model Parameters: 2,751,438 (10.50 MB)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Frozen Base Parameters: 2,257,984 (8.61 MB) — Preserves ImageNet knowledge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Trainable Head Parameters: 164,484 (642.52 KB) — Fine-tuned on infrastructure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Optimizer &amp; Loss Function: Adam (lr=0.001) + Categorical Crossentropy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Inference Latency: ~35ms per image on standard CPU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212080" cy="329184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💡 Why Choose MobileNetV2?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Depthwise Separable Convolutions: Dramatically cuts computations while retaining spatial feature detection accuracy.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Inverted Residual Bottlenecks: Maintains representational power across thin bottleneck layers.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CPU-Optimized Architecture: Runs smoothly on municipal laptops, Raspberry Pi edge units, and web servers without needing expensive GPUs.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Compact Footprint: Model file is only 11.6 MB, enabling fast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TRAINING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Model Performance &amp; Benchmark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59669"/>
                </a:solidFill>
              </a:defRPr>
            </a:pPr>
            <a:r>
              <a:t>98.33%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Test Accuracy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Evaluated on 599 unseen test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99.00%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Validation Accuracy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Peak validation checkpoint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9333EA"/>
                </a:solidFill>
              </a:defRPr>
            </a:pPr>
            <a:r>
              <a:t>94.59%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Training Accuracy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Single epoch with data augmentation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</a:defRPr>
            </a:pPr>
            <a:r>
              <a:t>0.0415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Test Crossentropy Loss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Low error rate across all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725912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🔍 Training Context &amp; Computational Rationale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Why only 1 Epoch? Training was executed on a native Windows CPU environment (TensorFlow 2.21, without GPU acceleration). To respect timeframe and CPU compute limitations, training was constrained to 1 epoch.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Why did it achieve 98.33% in just 1 epoch? The MobileNetV2 base model arrived with rich pretrained ImageNet visual weights. Only the top dense layers needed fine-tuning, which converged almost immediately on the balanced 3,991-image dataset.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Balanced Class Weighting: Balanced weights were calculated via Scikit-Learn (Garbage: 0.998, Normal: 0.998, Pothole: 1.008, Road Crack: 0.998) to ensure equal penalization for pothole errors.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Regularization: Two 30% Dropout layers and EarlyStopping monitored validation loss to guarantee the model avoided overfitting.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EVALUATION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Confusion Matrix Analysis (599 Unseen Test Images)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8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350" b="1">
                <a:solidFill>
                  <a:srgbClr val="2563EB"/>
                </a:solidFill>
              </a:defRPr>
            </a:pPr>
            <a:r>
              <a:t>🎯 Test Confusion Matrix (599 Samples)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Garbage (True: 150): 145 Correct | 0 Normal | 4 Pothole | 1 Crack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Normal (True: 150): 0 Garbage | 147 Correct | 2 Pothole | 1 Crack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Pothole (True: 149): 0 Garbage | 0 Normal | 149 Correct | 0 Crack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Road Crack (True: 150): 0 Garbage | 2 Normal | 0 Pothole | 148 Correct</a:t>
            </a:r>
          </a:p>
          <a:p>
            <a:pPr>
              <a:spcBef>
                <a:spcPts val="1000"/>
              </a:spcBef>
              <a:defRPr sz="1050" b="1">
                <a:solidFill>
                  <a:srgbClr val="059669"/>
                </a:solidFill>
              </a:defRPr>
            </a:pPr>
            <a:r>
              <a:t>✨ Outstanding Pothole Recall: 149 / 149 (100% of potholes correctly flagged!)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37760" cy="45720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350" b="1">
                <a:solidFill>
                  <a:srgbClr val="2563EB"/>
                </a:solidFill>
              </a:defRPr>
            </a:pPr>
            <a:r>
              <a:t>📈 Class-by-Class Classification Report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Garbage:</a:t>
            </a:r>
            <a:br/>
            <a:r>
              <a:t>  Precision: 1.00  ·  Recall: 0.99  ·  F1-Score: 1.00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Normal Road:</a:t>
            </a:r>
            <a:br/>
            <a:r>
              <a:t>  Precision: 0.99  ·  Recall: 0.98  ·  F1-Score: 0.99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Asphalt Pothole:</a:t>
            </a:r>
            <a:br/>
            <a:r>
              <a:t>  Precision: 0.99  ·  Recall: 1.00  ·  F1-Score: 0.99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Road Crack:</a:t>
            </a:r>
            <a:br/>
            <a:r>
              <a:t>  Precision: 0.99  ·  Recall: 1.00  ·  F1-Score: 1.00</a:t>
            </a:r>
          </a:p>
          <a:p>
            <a:pPr>
              <a:spcBef>
                <a:spcPts val="600"/>
              </a:spcBef>
              <a:defRPr sz="1050" b="1">
                <a:solidFill>
                  <a:srgbClr val="2563EB"/>
                </a:solidFill>
              </a:defRPr>
            </a:pPr>
            <a:r>
              <a:t>Overall Model Macro Average: 0.99 Precision / 0.99 Recall / 0.99 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WHAT WE HAD 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Initial Prototype &amp; Its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DC2626"/>
                </a:solidFill>
              </a:defRPr>
            </a:pPr>
            <a:r>
              <a:t>❌ 1. Raw Prediction Labels Only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The initial model only predicted bare single-word class labels (e.g. 'pothole' or 'garbage'). It did not explain the severity, structural risks, or technical cause of the defect to the citizen.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103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DC2626"/>
                </a:solidFill>
              </a:defRPr>
            </a:pPr>
            <a:r>
              <a:t>❌ 2. Generic Static Warning Text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Only provided simple pre-written messages (e.g. 'A pothole was detected; road may need repair'). Every report looked identical, with zero contextual intelligence or localized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DC2626"/>
                </a:solidFill>
              </a:defRPr>
            </a:pPr>
            <a:r>
              <a:t>❌ 3. Zero Municipal Department Routing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Citizens were left completely in the dark. The app gave no guidance on whether to call the Sanitation Department, Public Works, or State Highways. Issues were easily lost or misrouted.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2103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DC2626"/>
                </a:solidFill>
              </a:defRPr>
            </a:pPr>
            <a:r>
              <a:t>❌ 4. Confusing Coordinates &amp; No Submission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Displayed raw numerical fields (Latitude: 40.712800, Longitude: -74.006000) that non-technical citizens disliked. Crucially, there was no button to submit the complaint or get a tracking ticket!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2: WHAT WE BUILT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CivicAlert AI — The Complete Citizen Service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10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059669"/>
                </a:solidFill>
              </a:defRPr>
            </a:pPr>
            <a:r>
              <a:t>✅ 1. Modern Citizen Web Portal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Transformed the interface into a sleek, responsive civic reporting portal (CivicAlert AI). Designed specifically for regular citizens with intuitive step-by-step progress and zero clutter.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103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059669"/>
                </a:solidFill>
              </a:defRPr>
            </a:pPr>
            <a:r>
              <a:t>✅ 2. Automated Department Routing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Instantly routes issues to the exact responsible municipal department (Waste Management, Public Works, Highways) with assigned operating units and realistic turnaround SLAs (24-72h).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059669"/>
                </a:solidFill>
              </a:defRPr>
            </a:pPr>
            <a:r>
              <a:t>✅ 3. Real-Time Google Gemini LLM Reports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Queries Google Gemini in real time using the citizen's photo and location to write a formal, polished citizen grievance petition addressed directly to the responsible municipal department 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2103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059669"/>
                </a:solidFill>
              </a:defRPr>
            </a:pPr>
            <a:r>
              <a:t>✅ 4. 1-Click Submit &amp; Official Reference Tickets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Citizens click 'Submit Report' and immediately receive an official Municipal Reference Ticket (#REF-2026-WMD-SAN-84920), priority status, and a downloadable receipt (.txt) to follow up!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CITIZEN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How It Works: 5-Step Citizen Reporting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0116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STEP 1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📸 Snap &amp; Tag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Citizen takes a road photograph and enters a friendly street address (e.g. 'Main Market Road'). Background GPS checks location authenticity.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383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63040"/>
            <a:ext cx="201168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STEP 2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🔍 AI Diagnosis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MobileNetV2 neural vision model verifies the condition in milliseconds with 98.33% accuracy (Garbage, Normal, Pothole, Crack).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383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2011680" cy="438912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9333EA"/>
                </a:solidFill>
              </a:defRPr>
            </a:pPr>
            <a:r>
              <a:t>STEP 3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🏛️ Dept Routing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System automatically maps the defect to the correct authority (e.g. Solid Waste &amp; Sanitation) and sets the repair turnaround SLA.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383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1463040"/>
            <a:ext cx="20116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STEP 4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📝 Live AI Report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Google Gemini AI drafts a formal citizen grievance petition addressed directly to the municipal department head.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59" y="3383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463040"/>
            <a:ext cx="201168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STEP 5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🚀 Submit &amp; Ticket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Citizen clicks 'Submit' in 1 click! Receives an official Municipal Reference Ticket (#REF-2026-XXX) with downloadable proof.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LIVE SYSTEM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Recommended Screenshots to Capture from the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12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📸 Screenshot 1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Portal Landing &amp; Upload</a:t>
            </a:r>
          </a:p>
          <a:p>
            <a:pPr>
              <a:spcBef>
                <a:spcPts val="18000"/>
              </a:spcBef>
              <a:defRPr sz="850">
                <a:solidFill>
                  <a:srgbClr val="64748B"/>
                </a:solidFill>
              </a:defRPr>
            </a:pPr>
            <a:r>
              <a:t>Capture: Top navigation header, drag-and-drop image upload box, and the friendly 'Street Address or Area Name' text input.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77440"/>
            <a:ext cx="2240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[ Insert Screenshot 1 Here ]</a:t>
            </a:r>
            <a:br/>
            <a:br/>
            <a:r>
              <a:t>Landing Screen showing Photo Uploader &amp; Street Address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🔍 Screenshot 2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AI Diagnosis &amp; Confidence</a:t>
            </a:r>
          </a:p>
          <a:p>
            <a:pPr>
              <a:spcBef>
                <a:spcPts val="18000"/>
              </a:spcBef>
              <a:defRPr sz="850">
                <a:solidFill>
                  <a:srgbClr val="64748B"/>
                </a:solidFill>
              </a:defRPr>
            </a:pPr>
            <a:r>
              <a:t>Capture: Uploaded photograph displayed alongside the AI verification card (e.g. 'Pothole 99.12%') and 4-class progress bars.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377440"/>
            <a:ext cx="2240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[ Insert Screenshot 2 Here ]</a:t>
            </a:r>
            <a:br/>
            <a:br/>
            <a:r>
              <a:t>AI Verification Card with Category &amp; Confidence Meter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🏛️ Screenshot 3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Department Routing &amp; SLA</a:t>
            </a:r>
          </a:p>
          <a:p>
            <a:pPr>
              <a:spcBef>
                <a:spcPts val="18000"/>
              </a:spcBef>
              <a:defRPr sz="850">
                <a:solidFill>
                  <a:srgbClr val="64748B"/>
                </a:solidFill>
              </a:defRPr>
            </a:pPr>
            <a:r>
              <a:t>Capture: Designated Municipal Authority card (e.g. Public Works / Waste Management), urgency badge, and target turnaround SLA.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377440"/>
            <a:ext cx="2240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[ Insert Screenshot 3 Here ]</a:t>
            </a:r>
            <a:br/>
            <a:br/>
            <a:r>
              <a:t>Department Routing Card with Operational SLA &amp; Helpline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🎫 Screenshot 4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Official Ticket &amp; Receipt</a:t>
            </a:r>
          </a:p>
          <a:p>
            <a:pPr>
              <a:spcBef>
                <a:spcPts val="18000"/>
              </a:spcBef>
              <a:defRPr sz="850">
                <a:solidFill>
                  <a:srgbClr val="64748B"/>
                </a:solidFill>
              </a:defRPr>
            </a:pPr>
            <a:r>
              <a:t>Capture: Green submission confirmation card showing Reference Ticket (#REF-2026-XXX) and 'Download Receipt' button.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377440"/>
            <a:ext cx="2240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[ Insert Screenshot 4 Here ]</a:t>
            </a:r>
            <a:br/>
            <a:br/>
            <a:r>
              <a:t>Success Confirmation Ticket with Reference ID &amp; Download Receipt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3: WHAT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Future Roadmap: Scaling to City-Wide Smart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t>📹 1. Automated CCTV on Buses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Active Mobile Surveillance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Mount AI vision edge cameras on municipal buses, street sweepers, and waste trucks.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Continuously scan asphalt roads while vehicles navigate their daily routes.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Automatically detect and flag potholes and cracks without waiting for citizens to report.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Eliminates manual inspection costs across thousands of road kilometers.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📱 2. Native Mobile Citizen App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Cross-Platform iOS &amp; Android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Native smartphone application with 1-tap camera capture and automated GPS tagging.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Instant push notifications when city repair crews update ticket status (e.g. 'Crew Dispatched', 'Repaired').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Offline photo queueing: stores photos when offline and submits automatically upon reconnecting.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Voice-guided multi-lingual grievance submission for broader accessibility.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9333EA"/>
                </a:solidFill>
              </a:defRPr>
            </a:pPr>
            <a:r>
              <a:t>🗺️ 3. Municipal GIS Heatmap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City Engineer Command Center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Centralized administrative GIS map dashboard for municipal engineers and mayors.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Live defect clustering: heatmaps highlight deteriorating corridors needing full resurfacing.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Direct integration with municipal Open311 APIs for automated crew dispatch.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Predictive analytics to forecast pavement failure before major potholes emerge.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Key Takeaways: Empowering Citizens &amp; Municipalities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AI-Powered Public Infrastructure Issue Detection &amp; Citizen Reporting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14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🏆 Summary of Project Achievements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1. High-Accuracy AI Vision (98.33% Accuracy)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MobileNetV2 transfer learning accurately classifies garbage, potholes, road cracks, and normal infrastructure in ~35ms on CPU.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2. Automated Municipal Department Routing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Directs issues straight to the responsible authority (Sanitation, Public Works, Highways) with clear repair turnaround SLAs.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3. Real-Time Generative AI Reporting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Google Gemini LLM turns citizen photos and street names into formal, actionable grievance petitions in real time.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4. End-to-End Citizen Empowerment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Citizens can photograph an issue, enter an address, and file an official municipal tracking ticket with a downloadable receipt in under 60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566160" cy="4572000"/>
          </a:xfrm>
          <a:prstGeom prst="roundRect">
            <a:avLst/>
          </a:prstGeom>
          <a:solidFill>
            <a:srgbClr val="0B132B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Aft>
                <a:spcPts val="1600"/>
              </a:spcAft>
              <a:defRPr sz="1600" b="1">
                <a:solidFill>
                  <a:srgbClr val="93C5FD"/>
                </a:solidFill>
              </a:defRPr>
            </a:pPr>
            <a:r>
              <a:t>Questions &amp; Discussion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Presented by:</a:t>
            </a:r>
            <a:br/>
            <a:r>
              <a:t>Zahid Jan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BS Computer Science</a:t>
            </a:r>
            <a:br/>
            <a:r>
              <a:t>University of Engineering and Technology, Mardan</a:t>
            </a:r>
          </a:p>
          <a:p>
            <a:pPr>
              <a:defRPr sz="950">
                <a:solidFill>
                  <a:srgbClr val="93C5FD"/>
                </a:solidFill>
              </a:defRPr>
            </a:pPr>
            <a:r>
              <a:t>GitHub Repository:</a:t>
            </a:r>
            <a:br/>
            <a:r>
              <a:t>zahidjan01a/AI-Powered-Public-Infrastructure-Issue-Detection-and-Reporting-System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