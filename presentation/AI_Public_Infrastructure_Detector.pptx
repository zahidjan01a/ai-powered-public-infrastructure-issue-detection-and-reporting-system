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389120" cy="411480"/>
          </a:xfrm>
          <a:prstGeom prst="roundRect">
            <a:avLst/>
          </a:prstGeom>
          <a:solidFill>
            <a:srgbClr val="1E40AF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🏛️ SMART CITY CIVIC INFRASTRUCTURE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CivicAlert AI</a:t>
            </a:r>
          </a:p>
          <a:p>
            <a:pPr>
              <a:defRPr sz="2200">
                <a:solidFill>
                  <a:srgbClr val="93C5FD"/>
                </a:solidFill>
              </a:defRPr>
            </a:pPr>
            <a:r>
              <a:t>Automated Public Infrastructure Issue Detection, Routing &amp; Municipal Triage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Empowering citizens to report road hazards in seconds — enabling city authorities to dispatch field repair crews with zero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🤖 MobileNetV2 Vision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98.33% Test Accuracy · ~35ms Inference · 100% Pothole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749039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🏛️ Automated Routing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Zero-Confusion Dispatch to Sanitation, Public Works &amp; Highways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79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📝 Live Gemini LLM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Dynamic Real-Time Citizen Grievance &amp; Technical Petitions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983479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📊 Municipal Console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Role-Based Dispatch Center · SQLite Persistence · 5-Stage SLA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Lead Developer: Zahid Jan  |  BS Computer Science, UET Mardan  |  GitHub: zahidjan01a/AI-Powered-Public-Infrastructure-Issue-Detection-and-Reporting-System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The Big Picture: Transforming Citizen Grievances into Rapid Municipal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🔴 The Urban Challenge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Traditional public infrastructure reporting is broken, slow, and frustrating: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Citizens encounter dangerous potholes, garbage piles, and cracked roads daily.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Reports are ignored, lost in bureaucratic phone lines, or bounced across the wrong agencies.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City engineers receive vague descriptions without photographic proof, GPS location, or urgency ratings.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The result: Escalating road damage, traffic accidents, and citizen distrust in local government.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🟢 The AI Solution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CivicAlert AI delivers an intelligent, end-to-end civic reporting pipeline: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Deep Learning Computer Vision: MobileNetV2 verifies road defects in ~35ms with 98.33% accuracy.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Multi-Department Routing: Automatically identifies the responsible agency (Sanitation vs. Public Works vs. Highways).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Real-Time Google Gemini LLM: Converts photos and addresses into formal, respectful municipal grievance petitions.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Instant Proof: Citizens receive an official Reference Ticket (#REF-2026-XXX) with estimated resolution SLA.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</a:defRPr>
            </a:pPr>
            <a:r>
              <a:t>🔵 Municipal Operations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Delivering tangible operational impact to cities and citizens alike: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Dedicated Operations Console: Standalone back-office dashboard for city engineers and supervisors.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Operational Triage: Supervisors assign repair crews, record field inspection notes, and track SLAs.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100% Pothole Recall: Critical road safety hazards are never overlooked by the vision classifier.</a:t>
            </a:r>
          </a:p>
          <a:p>
            <a:pPr>
              <a:spcAft>
                <a:spcPts val="400"/>
              </a:spcAft>
              <a:defRPr sz="919">
                <a:solidFill>
                  <a:srgbClr val="0F172A"/>
                </a:solidFill>
              </a:defRPr>
            </a:pPr>
            <a:r>
              <a:t>• 5-Stage Live Progress Bar: Full transparency from submission to resolution keeps citizens informed.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Why Traditional Municipal Maintenance Fails Cities and Citizens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488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1. Slow, Manual Reporting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Citizens must call municipal helplines, wait on hold, or visit city offices in person during business hours. Over 70% of road defects are never reported due to procedural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4884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2. Lack of Visual Triage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Helpline operators cannot determine issue severity from verbal complaints. A critical 2-foot pothole is prioritized the same as minor surface fading, risking tire blowouts and accidents.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48840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7C3AED"/>
                </a:solidFill>
              </a:defRPr>
            </a:pPr>
            <a:r>
              <a:t>3. Wrong Department Bouncing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Municipal jurisdictions are confusing. Potholes belong to Public Works, garbage to Sanitation, highway cracks to the Highway Authority. Complaints routinely bounce between departments for weeks.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48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</a:defRPr>
            </a:pPr>
            <a:r>
              <a:t>4. Zero Citizen Feedback &amp; Proof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Citizens receive no ticket number, no proof of submission, and no status updates. They never know if anyone inspected the issue, destroying accountability and civic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Goals &amp; System Flow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Four Integrated Architectural Pillars for Smart Urban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1E40AF"/>
                </a:solidFill>
              </a:defRPr>
            </a:pPr>
            <a:r>
              <a:t>Goal 1: AI Visual Diagnosis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Deploy a lightweight, high-accuracy deep learning classifier (MobileNetV2) that identifies road issues (Garbage, Pothole, Road Crack, Normal) in ~35ms with near-zero false negatives on critical road hazards.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059669"/>
                </a:solidFill>
              </a:defRPr>
            </a:pPr>
            <a:r>
              <a:t>Goal 2: Frictionless Citizen Intake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Eliminate confusing raw coordinate numbers. Provide an intuitive interface where citizens upload a photo, type a recognizable street landmark, and immediately see AI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D97706"/>
                </a:solidFill>
              </a:defRPr>
            </a:pPr>
            <a:r>
              <a:t>Goal 3: Automated Department Routing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Build an intelligent municipal routing engine that identifies the correct authority (e.g. Sanitation, Public Works), sets priority tiers, and calculates turnaround SLAs (24-72h).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150" b="1">
                <a:solidFill>
                  <a:srgbClr val="7C3AED"/>
                </a:solidFill>
              </a:defRPr>
            </a:pPr>
            <a:r>
              <a:t>Goal 4: Live Generative AI &amp; Persistence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Leverage Google Gemini LLM to draft formal municipal grievance petitions in real time, backed by an SQLite persistence engine and standalone Municipal Admin Console for full lifecycle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527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60A5FA"/>
                </a:solidFill>
              </a:defRPr>
            </a:pPr>
            <a:r>
              <a:t>🔄 COMPLETE END-TO-END CLOSED-LOOP PIPELINE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Citizen Uploads Photo  ➔  MobileNetV2 Vision (~35ms)  ➔  Department &amp; SLA Routing  ➔  Live Gemini Grievance Petition  ➔  SQLite Persistence (#REF Ticket)  ➔  Municipal Admin Triage &amp; Field Crew Dispatch  ➔  Citizen 5-Stage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Dataset &amp; Preparation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56,916 Benchmark Images Aggregated &amp; Curated Across 4 Key Infrastructure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E40AF"/>
                </a:solidFill>
              </a:defRPr>
            </a:pPr>
            <a:r>
              <a:t>📊 Full Aggregated Dataset (56,916 Images)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Garbage / Waste Accumulation: 12,960 images</a:t>
            </a:r>
            <a:br/>
            <a:r>
              <a:t>  Context: Streets, lots, and public disposal areas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Normal Asphalt Road: 24,534 images</a:t>
            </a:r>
            <a:br/>
            <a:r>
              <a:t>  Context: Undamaged highways and local streets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Asphalt Potholes: 9,422 images</a:t>
            </a:r>
            <a:br/>
            <a:r>
              <a:t>  Context: Dangerous pavement cavities and deep holes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Road Cracks: 10,000 images</a:t>
            </a:r>
            <a:br/>
            <a:r>
              <a:t>  Context: Longitudinal, transverse, and alligator cracks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E40AF"/>
                </a:solidFill>
              </a:defRPr>
            </a:pPr>
            <a:r>
              <a:t>⚙️ Balanced Training Subset (3,991 Images)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Class Balancing:</a:t>
            </a:r>
            <a:br/>
            <a:r>
              <a:t>  Sampled exactly ~1,000 images per class to prevent model bias towards majority class (Normal).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Train / Val / Test Split:</a:t>
            </a:r>
            <a:br/>
            <a:r>
              <a:t>  70% Training (2,793 images) | 15% Validation (599 images) | 15% Unseen Test (599 images).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Pre-processing Pipeline:</a:t>
            </a:r>
            <a:br/>
            <a:r>
              <a:t>  Bilinear resize to 224×224×3, MobileNetV2 pixel normalization ([-1, 1] range).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Robust Augmentation:</a:t>
            </a:r>
            <a:br/>
            <a:r>
              <a:t>  Random horizontal flips, rotation (±15°), zoom (±10%), and contrast jittering to mirror varied lighting.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Vision Engine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MobileNetV2 Transfer Learning Architecture for Ultra-Fast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E40AF"/>
                </a:solidFill>
              </a:defRPr>
            </a:pPr>
            <a:r>
              <a:t>🏗️ Model Architecture Overview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Pretrained Base:</a:t>
            </a:r>
            <a:br/>
            <a:r>
              <a:t>  MobileNetV2 trained on ImageNet (1.4M images, 1,000 classes)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Base Parameter Count:</a:t>
            </a:r>
            <a:br/>
            <a:r>
              <a:t>  2.26 Million parameters (frozen during Phase 1 feature extraction)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Feature Vector:</a:t>
            </a:r>
            <a:br/>
            <a:r>
              <a:t>  GlobalAveragePooling2D reduces spatial tensor to 1,280 feature nodes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Regularization Head:</a:t>
            </a:r>
            <a:br/>
            <a:r>
              <a:t>  Dense layer (128 units, ReLU) + Dropout (0.3) + Batch Normalization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Classification Head:</a:t>
            </a:r>
            <a:br/>
            <a:r>
              <a:t>  Dense softmax layer with 4 outputs (garbage, normal, pothole, road_crack)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Total Trainable Params:</a:t>
            </a:r>
            <a:br/>
            <a:r>
              <a:t>  164,484 parameters in custom classification head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</a:defRPr>
            </a:pPr>
            <a:r>
              <a:t>• Inference Latency:</a:t>
            </a:r>
            <a:br/>
            <a:r>
              <a:t>  ~35 milliseconds on standard quad-core CPU (no GPU required)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💡 Why MobileNetV2 Over Heavy CNNs?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1. Depthwise Separable Convolutions:</a:t>
            </a:r>
            <a:br/>
            <a:r>
              <a:t>  Splits spatial filtering from feature combination, reducing computation by 8-9× compared to standard 2D convolutions.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2. Inverted Residuals &amp; Linear Bottlenecks:</a:t>
            </a:r>
            <a:br/>
            <a:r>
              <a:t>  Preserves information manifold in low-dimensional embeddings, preventing non-linearities from destroying critical visual signals.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3. Edge &amp; Mobile Deployability:</a:t>
            </a:r>
            <a:br/>
            <a:r>
              <a:t>  Tiny memory footprint (~14 MB .keras file). Can run natively on edge devices, dashcams, and mobile phones with zero lag.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4. Exceptional Feature Representation:</a:t>
            </a:r>
            <a:br/>
            <a:r>
              <a:t>  Pretrained lower layers provide rich edge, texture, and asphalt aggregate filters out-of-the-box.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Training &amp; Results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Outstanding Accuracy &amp; Zero Pothole Misses on Unseen Test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98.33%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Test Accuracy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On 599 unseen test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E11D48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Pothole Recall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149 of 149 potholes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0.99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Overall Macro F1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Harmonic mean across all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~35ms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Inference Latency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Per image on standard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65276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E40AF"/>
                </a:solidFill>
              </a:defRPr>
            </a:pPr>
            <a:r>
              <a:t>📈 Training Dynamics &amp; Optimization Strategy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Optimizer &amp; Loss Function: Adam optimizer with initial learning rate 0.001, categorical cross-entropy loss.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Learning Rate Scheduling: ReduceLROnPlateau (factor=0.2, patience=2, min_lr=1e-6) dropped LR automatically when validation loss flattened.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Early Stopping &amp; Checkpointing: ModelCheckpoint saved best weights (`models/best_model.keras`) based on lowest validation loss (0.051).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• Why 1 Epoch Was Sufficient: The ImageNet feature backbone transferred exceptionally well to asphalt textures and urban refuse. Within 1 epoch, validation accuracy reached 98.33%, demonstrating instant feature alignment without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Evaluation Proof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Confusion Matrix Analysis Across 599 Unseen Real-World Test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Actual \ Predicted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Garbage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Pothole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Garbage (150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Normal Road (150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Asphalt Pothole (149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Road Crack (150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E40AF"/>
                </a:solidFill>
              </a:defRPr>
            </a:pPr>
            <a:r>
              <a:t>🎯 Class-by-Class Classification Report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Garbage:</a:t>
            </a:r>
            <a:br/>
            <a:r>
              <a:t>  Precision: 1.00  ·  Recall: 0.99  ·  F1-Score: 1.00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Normal Road:</a:t>
            </a:r>
            <a:br/>
            <a:r>
              <a:t>  Precision: 0.99  ·  Recall: 0.98  ·  F1-Score: 0.99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Asphalt Pothole:</a:t>
            </a:r>
            <a:br/>
            <a:r>
              <a:t>  Precision: 0.99  ·  Recall: 1.00  ·  F1-Score: 0.99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Road Crack:</a:t>
            </a:r>
            <a:br/>
            <a:r>
              <a:t>  Precision: 0.99  ·  Recall: 1.00  ·  F1-Score: 1.00</a:t>
            </a:r>
          </a:p>
          <a:p>
            <a:pPr>
              <a:spcBef>
                <a:spcPts val="600"/>
              </a:spcBef>
              <a:defRPr sz="1050" b="1">
                <a:solidFill>
                  <a:srgbClr val="1E40AF"/>
                </a:solidFill>
              </a:defRPr>
            </a:pPr>
            <a:r>
              <a:t>Overall Model Macro Average: 0.99 Precision / 0.99 Recall / 0.99 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1: What We Had Before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The Initial Prototype &amp; Its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❌ 1. Raw Prediction Labels Only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initial model only predicted bare single-word class labels (e.g. 'pothole' or 'garbage'). It did not explain the severity, structural risks, or technical cause of the defect to the citizen.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031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❌ 2. Generic Static Warning Text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Only provided simple pre-written messages (e.g. 'A pothole was detected; road may need repair'). Every report looked identical, with zero contextual intelligence or localized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❌ 3. Zero Municipal Department Routing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Citizens were left completely in the dark. The app gave no guidance on which municipal agency owned the road, what emergency hotline to call, or what repair timeline to expect.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❌ 4. Confusing Coordinates &amp; No Submission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Displayed raw numerical fields (Latitude: 40.712800, Longitude: -74.006000) that citizens cannot easily verify. Crucially, there was no 'Submit' button or official reference ticket.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2: What We Built Now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CivicAlert AI — Complete Decoupled Smart City Infrastructure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✅ 1. Public Citizen Web Portal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Clean, responsive portal where citizens snap a photo, enter a recognizable street landmark, and receive instant AI diagnosis without technical coordinate jargon.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✅ 2. Automated Multi-Department Routing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Instantly maps issues to the exact responsible municipal department (Solid Waste, Public Works, Highways) with turnaround SLAs (24-72h) and emergency hotlines.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✅ 3. Real-Time Google Gemini LLM Reports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Queries Google Gemini live using the photo &amp; address to draft formal municipal grievance petitions with safety impact analysis, remediation orders, and citizen advisories.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✅ 4. Municipal Operations Console &amp; Persistence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Dedicated back-office command center for city officials with role-based passkey access (`admin2026`), SQLite persistence (`data/tickets.db`), and 5-stage live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Citizen Workflow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How It Works: 5-Step Citizen Reporting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96596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1E40AF"/>
                </a:solidFill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📸 Snap &amp; Tag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 takes a road photograph and enters a friendly street address (e.g. 'Main Market Road').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196596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🔍 AI Diagnosis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MobileNetV2 neural vision model verifies the condition in milliseconds with 98.33%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463040"/>
            <a:ext cx="196596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🏛️ Dept Routing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System automatically maps the defect to the correct authority (e.g. Solid Waste Management).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63040"/>
            <a:ext cx="1965960" cy="4389120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📝 Live AI Report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Google Gemini AI drafts a formal citizen grievance petition addressed directly to city officials.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3832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463040"/>
            <a:ext cx="1965960" cy="438912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STEP 5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🚀 Submit &amp; Ticket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Citizen clicks 'Submit' in 1 click! Receives an official Municipal Reference Ticket (#REF-2026-XXX).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System Demonstration (Part 1)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Real-World Portal Walkthrough: Citizen Intake &amp; AI Diagnosis (Steps 1 &amp;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50" b="1">
                <a:solidFill>
                  <a:srgbClr val="1E40AF"/>
                </a:solidFill>
              </a:defRPr>
            </a:pPr>
            <a:r>
              <a:t>📸 STEP 1: CITIZEN INTAKE &amp; LOCATION ENTRY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Citizen-First Interface with Human-Readable Street Address &amp; Landmark Selection</a:t>
            </a:r>
          </a:p>
        </p:txBody>
      </p:sp>
      <p:pic>
        <p:nvPicPr>
          <p:cNvPr id="8" name="Picture 7" descr="01_portal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846320" cy="186213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0" y="4983480"/>
            <a:ext cx="48463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Single Drag-and-Drop Image Uploader: Accepts JPG, PNG, JPEG formats with immediate preview.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Intuitive Address Selection: Pre-populated city landmarks (e.g. 'Main Market Road') + free-form typing.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Responsive Modern Layout: Designed for instant citizen usability across mobile and desktop browsers.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50" b="1">
                <a:solidFill>
                  <a:srgbClr val="059669"/>
                </a:solidFill>
              </a:defRPr>
            </a:pPr>
            <a:r>
              <a:t>🔍 STEP 2: AI VERIFICATION &amp; DIAGNOSIS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</a:defRPr>
            </a:pPr>
            <a:r>
              <a:t>Instant MobileNetV2 Vision Diagnostic with Exact Statistical Confidence</a:t>
            </a:r>
          </a:p>
        </p:txBody>
      </p:sp>
      <p:pic>
        <p:nvPicPr>
          <p:cNvPr id="11" name="Picture 10" descr="02_ai_diagn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4846320" cy="197267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0" y="4983480"/>
            <a:ext cx="48463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99.99% Verification Confidence: Neural network verifies the defect type ('Garbage') with near-certain statistical confidence.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Class Probability Breakdown: Displays full distribution across Garbage (100%), Normal (0%), Pothole (0%), Road Crack (0%).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• Edge-Ready Performance: Evaluates in ~35ms on CPU, ensuring citizens receive instantaneous visual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System Demonstration (Part 2)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Real-World Portal Walkthrough: Routing, Gemini AI Report &amp; Ticket (Steps 3, 4 &amp;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1E40AF"/>
                </a:solidFill>
              </a:defRPr>
            </a:pPr>
            <a:r>
              <a:t>🏛️ STEP 3: MUNICIPAL DEPARTMENT ROUTING &amp; SLA</a:t>
            </a:r>
          </a:p>
        </p:txBody>
      </p:sp>
      <p:pic>
        <p:nvPicPr>
          <p:cNvPr id="8" name="Picture 7" descr="03_department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852160" cy="126110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31520" y="3611880"/>
            <a:ext cx="62179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🎫 STEP 5: OFFICIAL TICKET GENERATION &amp; DISPATCH RECEIPT</a:t>
            </a:r>
          </a:p>
        </p:txBody>
      </p:sp>
      <p:pic>
        <p:nvPicPr>
          <p:cNvPr id="10" name="Picture 9" descr="05_official_ticket_rece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77639"/>
            <a:ext cx="5852160" cy="214884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178040" y="1371600"/>
            <a:ext cx="42976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150" b="1">
                <a:solidFill>
                  <a:srgbClr val="7C3AED"/>
                </a:solidFill>
              </a:defRPr>
            </a:pPr>
            <a:r>
              <a:t>📝 STEP 4: LIVE GEMINI LLM REPORT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</a:defRPr>
            </a:pPr>
            <a:r>
              <a:t>Automated Official Citizen Grievance Petition</a:t>
            </a:r>
          </a:p>
        </p:txBody>
      </p:sp>
      <p:pic>
        <p:nvPicPr>
          <p:cNvPr id="12" name="Picture 11" descr="04_automated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057400"/>
            <a:ext cx="3931920" cy="306833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360920" y="5257800"/>
            <a:ext cx="3931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Formal Municipal Petitions: Google Gemini formats issues with safety impact, requested interventions, and standard 24-48h resolution SLA.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Municipal Operations Console &amp; Citizen Ticket Tracker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Decoupled Back-Office Operations, SQLite Persistence &amp; 5-Stage Live Resolution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5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Total Incidents</a:t>
            </a:r>
          </a:p>
          <a:p>
            <a:pPr algn="ctr">
              <a:defRPr sz="750">
                <a:solidFill>
                  <a:srgbClr val="475569"/>
                </a:solidFill>
              </a:defRPr>
            </a:pPr>
            <a:r>
              <a:t>Persisted in SQLite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3716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E11D48"/>
                </a:solidFill>
              </a:defRPr>
            </a:pPr>
            <a:r>
              <a:t>1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Pending Triage</a:t>
            </a:r>
          </a:p>
          <a:p>
            <a:pPr algn="ctr">
              <a:defRPr sz="750">
                <a:solidFill>
                  <a:srgbClr val="475569"/>
                </a:solidFill>
              </a:defRPr>
            </a:pPr>
            <a:r>
              <a:t>Awaiting Initial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3716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2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Active Crews</a:t>
            </a:r>
          </a:p>
          <a:p>
            <a:pPr algn="ctr">
              <a:defRPr sz="750">
                <a:solidFill>
                  <a:srgbClr val="475569"/>
                </a:solidFill>
              </a:defRPr>
            </a:pPr>
            <a:r>
              <a:t>Dispatched to Field 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3716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2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Resolved Issues</a:t>
            </a:r>
          </a:p>
          <a:p>
            <a:pPr algn="ctr">
              <a:defRPr sz="750">
                <a:solidFill>
                  <a:srgbClr val="475569"/>
                </a:solidFill>
              </a:defRPr>
            </a:pPr>
            <a:r>
              <a:t>Repaired &amp;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0032" y="137160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96.4%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SLA Compliance</a:t>
            </a:r>
          </a:p>
          <a:p>
            <a:pPr algn="ctr">
              <a:defRPr sz="750">
                <a:solidFill>
                  <a:srgbClr val="475569"/>
                </a:solidFill>
              </a:defRPr>
            </a:pPr>
            <a:r>
              <a:t>On-Time Response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1E40AF"/>
                </a:solidFill>
              </a:defRPr>
            </a:pPr>
            <a:r>
              <a:t>🏛️ Municipal Operations Console (`admin_dashboard.py`)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Role-Based Passkey Security: Restricted official access via municipal passkey (`admin2026`). Citizens cannot access or tamper with internal city records.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Multi-Agency Incident Queue: Filter complaints across Solid Waste (`WMD-SAN`), Public Works (`DPW-ROADS`), Highways (`HDA-EXPR`), and Civil Infrastructure (`DCI-INFR`).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Operational Triage &amp; Dispatch: Supervisors select any ticket, inspect the full Gemini petition, assign field crews, log supervisor notes, and advance operational status.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1-Click CSV Incident Export: Generates official spreadsheets with coordinates, AI diagnosis, and timestamps for municipal auditing and city GIS systems.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Decoupled Architecture: Runs independently on Port 8502 (`run_admin_dashboard.bat`), completely isolated from the citizen-facing portal.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2120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059669"/>
                </a:solidFill>
              </a:defRPr>
            </a:pPr>
            <a:r>
              <a:t>🔍 Citizen Ticket Tracker (`Track My Ticket`)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Reference ID Verification: Citizens input their ticket ID (e.g. `#REF-2026-WMD-SAN-22415`) for instant, real-time status retrieval.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5-Stage Live Resolution Pipeline: Visual progress tracker displays lifecycle flow:</a:t>
            </a:r>
            <a:br/>
            <a:r>
              <a:t>  [Submitted] ➔ [Under Review] ➔ [Crew Dispatched] ➔ [In Progress] ➔ [Resolved]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Field Engineer Notes Transparency: Displays field supervisor comments directly to the citizen (e.g. 'Crew #4 dispatched with compactor truck').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Resolution SLA Countdown: Shows expected turnaround window (24 to 48 Hours) and direct department emergency contact numbers.</a:t>
            </a:r>
          </a:p>
          <a:p>
            <a:pPr>
              <a:spcAft>
                <a:spcPts val="300"/>
              </a:spcAft>
              <a:defRPr sz="880">
                <a:solidFill>
                  <a:srgbClr val="0F172A"/>
                </a:solidFill>
              </a:defRPr>
            </a:pPr>
            <a:r>
              <a:t>• Complete Record Persistence: Full SQLite persistence (`data/tickets.db`) ensures tickets survive browser reloads and server restarts.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3: What Remains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Future Roadmap: Scaling to City-Wide Smart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250" b="1">
                <a:solidFill>
                  <a:srgbClr val="1E40AF"/>
                </a:solidFill>
              </a:defRPr>
            </a:pPr>
            <a:r>
              <a:t>📹 1. Automated CCTV on Buses</a:t>
            </a:r>
          </a:p>
          <a:p>
            <a:pPr>
              <a:spcAft>
                <a:spcPts val="800"/>
              </a:spcAft>
              <a:defRPr sz="950" b="1">
                <a:solidFill>
                  <a:srgbClr val="0F172A"/>
                </a:solidFill>
              </a:defRPr>
            </a:pPr>
            <a:r>
              <a:t>Active Mobile Surveillance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Mount AI vision edge cameras on municipal buses, street sweepers, and waste trucks.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Continuously scan asphalt roads while vehicles navigate their daily routes.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Automatically detect and flag potholes and cracks without waiting for citizens to report.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Eliminates manual inspection costs across thousands of road kilometers.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250" b="1">
                <a:solidFill>
                  <a:srgbClr val="059669"/>
                </a:solidFill>
              </a:defRPr>
            </a:pPr>
            <a:r>
              <a:t>📱 2. Native Mobile Citizen App</a:t>
            </a:r>
          </a:p>
          <a:p>
            <a:pPr>
              <a:spcAft>
                <a:spcPts val="800"/>
              </a:spcAft>
              <a:defRPr sz="950" b="1">
                <a:solidFill>
                  <a:srgbClr val="0F172A"/>
                </a:solidFill>
              </a:defRPr>
            </a:pPr>
            <a:r>
              <a:t>Cross-Platform iOS &amp; Android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Native smartphone application with 1-tap camera capture and automated GPS tagging.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Instant push notifications when city repair crews update ticket status (e.g. 'Crew Dispatched', 'Repaired').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Offline photo queueing: stores photos when offline and submits automatically upon reconnecting.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Voice-guided multi-lingual grievance submission for broader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400"/>
              </a:spcAft>
              <a:defRPr sz="1250" b="1">
                <a:solidFill>
                  <a:srgbClr val="7C3AED"/>
                </a:solidFill>
              </a:defRPr>
            </a:pPr>
            <a:r>
              <a:t>🗺️ 3. Municipal GIS Heatmap</a:t>
            </a:r>
          </a:p>
          <a:p>
            <a:pPr>
              <a:spcAft>
                <a:spcPts val="800"/>
              </a:spcAft>
              <a:defRPr sz="950" b="1">
                <a:solidFill>
                  <a:srgbClr val="0F172A"/>
                </a:solidFill>
              </a:defRPr>
            </a:pPr>
            <a:r>
              <a:t>City Engineer Command Center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Centralized administrative GIS map dashboard for municipal engineers and mayors.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Live defect clustering: heatmaps highlight deteriorating corridors needing full resurfacing.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Direct integration with municipal Open311 APIs for automated crew dispatch.</a:t>
            </a:r>
          </a:p>
          <a:p>
            <a:pPr>
              <a:spcAft>
                <a:spcPts val="500"/>
              </a:spcAft>
              <a:defRPr sz="919">
                <a:solidFill>
                  <a:srgbClr val="0F172A"/>
                </a:solidFill>
              </a:defRPr>
            </a:pPr>
            <a:r>
              <a:t>• Predictive analytics to forecast pavement failure before major potholes emerge.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0A5FA"/>
                </a:solidFill>
              </a:defRPr>
            </a:pPr>
            <a:r>
              <a:t>AI-POWERED PUBLIC INFRASTRUCTURE MONITORING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Impact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Key Takeaways: Empowering Citizens, Accelerating Municipal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CivicAlert AI · Built by Zahid Jan · UET Mardan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16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1E40AF"/>
                </a:solidFill>
              </a:defRPr>
            </a:pPr>
            <a:r>
              <a:t>🎯 High-Precision AI Vision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MobileNetV2 delivers 98.33% overall accuracy and a critical 100% recall on potholes, ensuring road hazards are verified instantaneously (~35ms) without human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17830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059669"/>
                </a:solidFill>
              </a:defRPr>
            </a:pPr>
            <a:r>
              <a:t>🏛️ Frictionless Urban Routing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Citizens no longer need to know municipal organograms. The system automatically matches visual defects to the exact department (Sanitation, Public Works, Highways) with SLA commitments.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5120640" cy="1783080"/>
          </a:xfrm>
          <a:prstGeom prst="roundRect">
            <a:avLst/>
          </a:prstGeom>
          <a:solidFill>
            <a:srgbClr val="FAF5F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7C3AED"/>
                </a:solidFill>
              </a:defRPr>
            </a:pPr>
            <a:r>
              <a:t>📝 Live Generative AI Petitions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Integration with Google Gemini transforms casual smartphone photos into polished, actionable municipal grievance petitions complete with risk analysis and field work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83280"/>
            <a:ext cx="5120640" cy="178308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E11D48"/>
                </a:solidFill>
              </a:defRPr>
            </a:pPr>
            <a:r>
              <a:t>📊 Decoupled Operations Console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Role-based security guarantees citizens only see reporting tools, while municipal officials access a full-featured operations console with triage, crew dispatch, and database exports.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65276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🌟 CivicAlert AI bridges the gap between citizens and smart municipal governance.</a:t>
            </a:r>
          </a:p>
          <a:p>
            <a:pPr algn="ctr">
              <a:defRPr sz="1000">
                <a:solidFill>
                  <a:srgbClr val="60A5FA"/>
                </a:solidFill>
              </a:defRPr>
            </a:pPr>
            <a:r>
              <a:t>Thank you! Open for Questions, Evaluation &amp; Technical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